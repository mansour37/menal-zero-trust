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tous, Mesdames et Messieurs les membres du jury. Je suis Habiboullah Mansour et je vous présente mon projet de fin d'études, réalisé chez MENAL-SARL à Nouakchott de mars à septembre 2026 : la conception et la réalisation d'une architecture cloud sécurisée, fondée sur le Zero Trust et le DevSecOps, que nous avons appelée le socle MENAL. L'idée en une phrase : offrir à une petite entreprise une plateforme d'hébergement dont la sécurité se démontre, avec une seule personne pour l'exploiter et quelques dizaines d'euros par mois. Ma présentation dure dix-sept minutes, suivie d'une démonstration vidéo de cinq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plan. Je commence par l'entreprise et son application pilote, puis les objectifs et la problématique. Je présente ensuite la solution en trois volets — Zero Trust, supervision, détection — avec un cas d'utilisation simplifié. Suivent les besoins, les outils, la méthodologie, puis la conception et la réalisation, organisée en sprints. La démonstration vidéo illustre trois scènes, et je termine par les perspectives.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MENAL-SARL est une jeune entreprise mauritanienne de Nouakchott, positionnée sur deux axes : des services d'ingénierie cloud et cybersécurité, et ses propres produits numériques. Le principal est ELSON, une plateforme où des participants traduisent et enregistrent des phrases dans quatre langues nationales ; des relecteurs valident, un classement et une compétition entretiennent la participation. Ces contributions forment un corpus linguistique, premier actif de l'entreprise, et les identités des participants sont des données personnelles. L'équipe technique est réduite : une seule personne est référente sur l'infrastructure. Ma mission couvrait toute la chaîne — auditer, concevoir, construire, mettre en service, mesurer — en tenant les rôles d'architecte, de développeur et d'exploitant.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L'audit de l'hébergement, mené en mars et avril, a produit quatre constats, et chaque constat est devenu un objectif avec un indicateur mesurable. Confiance implicite au réseau : l'objectif O1 est de contrôler chaque accès par l'identité — une identité par service, aucune clé de longue durée, une base sans adresse publique, un second facteur pour l'administrateur. Infrastructure non reproductible : O2, tout décrire en code et détecter les dérives. Livraison non contrôlée : O3, une chaîne à quatre portes bloquantes, sans clé. Supervision absente : O4, détecter et afficher un incident en moins de trois minutes. Le tout sous trois contraintes : une seule personne, cinquante euros par mois au plus, et le respect des données personnelles. Ces indicateurs sont vérifiés en fin de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L'existant, ici, n'est pas propre à MENAL : c'est le schéma qu'on retrouve dans la plupart des petites structures. Un serveur unique qui porte l'application et sa base, un pare-feu comme seul contrôle, un déploiement par script depuis un poste personnel avec une clé qui n'expire jamais, un administrateur en SSH, et des journaux qui restent sur le disque. Une fois la frontière franchie, plus rien n'est vérifié. La problématique est donc la suivante : comment une entreprise émergente, avec une personne et quelques dizaines d'euros par mois, peut-elle construire une plateforme Zero Trust et DevSecOps, réutilisable pour plusieurs applications, et dont la sécurité se démontre au lieu de s'affirmer ? Elle se décline en quatre questions : l'accès par l'identité, l'infrastructure en code, la livraison contrôlée, la supervision en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est un socle : une base d'hébergement et de supervision commune, que chaque application rejoint en déclarant ses paramètres. Il tient sur trois volets. Le Zero Trust : un seul point d'entrée filtré par un pare-feu applicatif, une identité par service, aucune clé stockée, une base sans adresse publique, et un administrateur authentifié à deux facteurs — le schéma à gauche montre le passage du périmètre au point de décision. La supervision : les journaux partent en flux vers un entrepôt où chaque table n'a qu'un auteur, un tableau de bord les restitue en temps réel, et les décisions de l'analyste sont conservées. La détection : sept règles versionnées, une corrélation par entité et une qualification assistée par un modèle ATT&amp;CK-BERT, pour un incident affiché en moins de trois minutes. Tout repose sur une fondation : l'infrastructure en code sur trois environnements et une chaîne DevSecOps à quatre portes. Quatre principes guident l'ensemble : l'identité décide, tout est en code, refus par défaut, et soutenable avant 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fixer les idées, voici le cas d'utilisation que la démonstration reprend. Un attaquant envoie treize charges vers l'API d'ELSON — injections SQL, inclusion de fichier, traversées de chemin. Le point d'entrée les refuse toutes, en 403, et journalise chaque verdict. Ces journaux partent en flux vers l'entrepôt ; le job de détection, qui tourne chaque minute, applique les sept règles : trois se déclenchent et produisent quarante-sept détections dédupliquées. L'API les corrèle en un seul incident pour cette adresse, score cent, deux tactiques MITRE — signe d'une chaîne d'attaque. L'administrateur, connecté avec mot de passe et code TOTP, confirme l'incident dans le tableau de bord. Pendant ce temps, les participants légitimes continuent d'utiliser ELSON : le blocage est fait au bord. Sur les relevés du 7 septembre : deux minutes cinq entre l'attaque et l'incident affiché, deux minutes vingt-trois jusqu'au verdict humain.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besoins ont été formalisés à partir des constats et de six cas d'utilisation. Huit besoins fonctionnels : un point d'entrée unique et filtré, une identité par service, l'infrastructure en code, une livraison à portes bloquantes, des journaux centralisés avec un incident affiché en moins de trois minutes, trois techniques ATT&amp;CK proposées par alerte, une corrélation par entité avec des verdicts conservés, et l'accueil d'une application par simple paramétrage. Sept besoins non fonctionnels chiffrés : disponibilité, latence, coût, exploitabilité, reconstruction en moins d'une heure, auditabilité, et résilience avec un RTO inférieur à une heure. L'analyse de risque, menée avec STRIDE en partant des valeurs métier à la manière d'EBIOS, a produit douze menaces, traduites en douze exigences, chacune reliée à un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outils sont choisis par couche, et chaque choix du rapport est justifié par un critère décisif et un prix payé. Google Cloud fournit les briques managées : Cloud Run pour l'exécution, Cloud SQL privée, BigQuery pour l'entrepôt et la recherche vectorielle, le répartiteur avec Cloud Armor, IAM avec la fédération OIDC, Secret Manager et KMS, la journalisation et la planification. L'infrastructure et la livraison reposent sur Terraform et GitHub Actions, avec les quatre portes : Gitleaks pour les secrets, Semgrep pour le code, pytest et jest pour les tests, Trivy pour les images. Les applications du socle : FastAPI pour l'API, Next.js pour le tableau de bord, PostgreSQL, ATT&amp;CK-BERT exécuté avec ONNX, et le TOTP pour le second facteur. Enfin les référentiels qui servent de grille : NIST 800-207 et 800-218, MITRE ATT&amp;CK, OWASP, CIS, EBIOS et STRIDE.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va de la valeur à la preuve, en six étapes qui sont aussi les six chapitres du mémoire : l'audit et ses constats, l'état de l'art et les choix justifiés, l'analyse des menaces qui produit les exigences, la conception avec des décisions datées, la réalisation, puis la validation. La flèche rouge est essentielle : un test qui échoue rouvre la conception — c'est arrivé, et je le montrerai. Trois règles de travail : des itérations de deux semaines closes par une démonstration, un journal de décisions daté, et surtout des tests écrits avant la conception — le test T-n vérifie l'exigence EX-n. Chaque preuve porte un rang, du test automatisé rejoué à chaque livraison jusqu'à la configuration contrôlée. L'analyse de risque combine EBIOS pour partir des valeurs métier et STRIDE pour examiner chaque flux.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déploiement réel de l'environnement de recette, relevé le 8 septembre. En haut, une seule adresse publique : le répartiteur HTTPS avec Cloud Armor. Les services Cloud Run — le site et l'API d'ELSON, l'API de supervision, le tableau de bord, l'encodeur — n'acceptent que le trafic du répartiteur ; trois jobs complètent l'ensemble : détection, enrichissement et contrôle d'isolation des bases. Les services rejoignent le réseau privé par un connecteur d'accès VPC, et la base Cloud SQL n'est joignable que par son adresse privée, en TLS, avec une base et un utilisateur par application. À droite, les services managés : journalisation en flux vers BigQuery, planificateur, identités fédérées, secrets et clés. Trois lectures : un seul chemin entrant, un seul chemin vers la base, et pour tout le reste l'autorisation dépend de l'identité, pas du réseau.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Puisque l'identité décide, la matrice des identités est le principal instrument de cloisonnement. Neuf identités : l'administrateur, seul humain, propriétaire du projet, protégé par un second facteur et tracé à chaque action ; et huit comptes de service, un par composant. Ce qui compte, ce sont les interdictions : l'application ELSON ne peut pas toucher l'entrepôt, l'API ne peut pas écrire dans les tables de preuves, l'encodeur n'a aucune sortie, et la chaîne de livraison n'a aucune clé — elle s'authentifie par fédération, restreinte au dépôt et à la branche principale. À droite, la session administrateur : le mot de passe donne un jeton intermédiaire de cinq minutes qui ne porte aucun rôle ; seul le code TOTP le convertit en jeton d'accès de soixante minutes. Le contrôle, c'est cette séparation entre authentifié et autorisé. Les compteurs anti-force brute sont indexés sur l'identifiant et le jeton, pas sur l'adresse IP, et la graine TOTP vit dans Secret Manager.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chaîne de détection tourne en flux. Cloud Armor bloque et journalise en temps réel ; le routeur de journaux écrit en continu dans BigQuery ; chaque minute, un job normalise les nouvelles entrées et exécute les sept règles sur une fenêtre de cinq minutes ; le job d'enrichissement propose trois techniques ATT&amp;CK par détection ; l'API corrèle et le tableau de bord se rafraîchit toutes les dix secondes. La somme des bornes donne moins de trois minutes — la première conception, par requêtes planifiées, mettait quinze minutes : le délai était dans la cadence, pas dans le calcul. Les sept règles couvrent cinq tactiques MITRE, de la force brute à l'injection ; leur déduplication est déterministe grâce à un identifiant SHA-256, ce qui fait qu'une rafale produit une détection et non dix. La corrélation regroupe les détections par entité en un incident avec un score pondéré, majoré si plusieurs tactiques sont impliquées. Trois alertes de plateforme surveillent la plateforme elle-même, dont l'absence de journaux.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stage s'est déroulé en itérations de deux semaines, que je regroupe ici en sept sprints. Le cadrage et l'audit en mars ; l'état de l'art et l'analyse des menaces en avril et mai ; la conception jusqu'à la mi-juin ; puis l'infrastructure en code et les deux chaînes automatisées jusqu'en juillet, avec un jalon important : la recette reconstruite intégralement depuis le dépôt en quarante-et-une minutes. La supervision — règles, enrichissement, API, tableau de bord — de juillet à mi-août ; l'accueil d'ELSON et la campagne de tests en août, avec ses corrections ; et le dernier sprint, début septembre, consacré au passage en flux de la détection, aux cinq refus provoqués et au scénario final. Les phases se chevauchent volontairement : les tests étaient prêts avant les composants.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chaîne de livraison compte huit étapes, calquées sur la conception, dont quatre portes bloquantes : recherche de secrets, analyse du code, tests, analyse de l'image. L'ordre n'est pas arbitraire : un secret poussé est compromis à la seconde, on le cherche donc en premier. Entre la construction et l'analyse, l'image n'existe qu'en artefact interne : publier une image non scannée est techniquement impossible ; la publication et le déploiement se font par empreinte SHA-256, et une sonde vérifie le service à travers le WAF. Sur le run de référence, la chaîne complète prend cinq minutes trente-sept. Surtout, chaque porte a été éprouvée par un refus provoqué le 7 septembre : une clé injectée, un appel eval, un test en échec, une dépendance PyYAML vulnérable — et à chaque fois la chaîne s'éteint pile au maillon attaqué, rien n'est publié. Une porte a aussi refusé une livraison réelle en août, sur une CVE embarquée par le gestionnaire de paquets de l'image de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tableau de bord MENAL Sentinel, en recette, le soir du scénario. La vue d'ensemble distingue le trafic applicatif de la détection : requêtes, taux d'erreur, blocages du WAF, part d'alertes non mappées par le modèle — un indicateur d'honnêteté que l'on ne cache pas. L'écran des incidents est le vrai apport : quarante-sept détections d'une même adresse deviennent un incident unique, score cent, deux tactiques, confirmé par l'administrateur. Quelques chiffres relevés le 8 septembre : deux cent trente-deux mille journaux bruts collectés, deux cent quatre-vingt-quatre détections, vingt-trois verdicts. La qualification assistée place la bonne technique parmi les trois candidats dans quatre-vingt-huit pour cent des cas sur quarante alertes étiquetées. Les verdicts sont écrits en ajout seul : la preuve n'est jamais modifiée. Le socle propose, l'analyste décide.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campagne finale compte douze tests, un par exigence : dix conformes, deux partiellement conformes, aucun non conforme. J'insiste sur deux points de méthode. D'abord T1, le filtrage : il était non conforme le 23 août — une traversée de chemin brute était redirigée au lieu d'être refusée ; le correctif a été appliqué et le re-test du 7 septembre refuse les treize charges. Cette non-conformité est conservée dans le mémoire : elle prouve que les tests ont été écrits avant la conception. Ensuite les deux tests partiels, T6 et T11, sont nommés avec leur part manquante et leur correctif, plutôt que déclarés conformes sans relevé. Les mesures : deux minutes cinq entre l'attaque et l'incident, contre quinze minutes avant le passage en flux ; quatre-vingt-dix-neuf virgule six pour cent de disponibilité ; une reconstruction complète en quarante-et-une minutes ; une restauration en trente-deux minutes sans perte ; un retour arrière en onze secondes ; et quarante-et-un euros par mois, dont quatre-vingt-huit pour cent de coûts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lance maintenant la démonstration vidéo de cinq minutes, enregistrée sur l'environnement de recette. Trois scènes. La première est la chaîne d'attaque que je vous ai décrite : les treize charges envoyées depuis Kali, les refus 403, puis, dans le tableau de bord, les détections, l'incident à cent points et le verdict — observez les horodatages. La deuxième illustre le Zero Trust : un jeton intermédiaire refusé sur une route métier, une tentative de connexion directe à la base qui échoue, un accès croisé refusé à une identité — le refus vient de l'identité, pas du réseau. La troisième montre la chaîne DevSecOps : une demande de fusion bloquée par la porte Trivy sur une CVE critique, la correction, la chaîne qui redevient verte et le déploiement par empreinte. Rien n'est publié tant qu'une porte est rouge.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Ce que le socle démontre aujourd'hui : une plateforme Zero Trust et DevSecOps exploitée par une seule personne pour quarante-et-un euros par mois ; douze exigences vérifiées par douze tests, chacun avec une preuve datée et hiérarchisée ; ELSON servie avec sa base, son identité et ses secrets propres, la prochaine application s'ajoutant par paramétrage ; et un incident affiché en deux minutes cinq. La revue finale a produit un plan d'amélioration honnête : retirer des droits hérités qui ne servent à aucune charge, chronométrer l'alerte d'absence de journaux pour clore T11, étendre l'alerte de dérive pour clore T6, lire les journaux de flux et signer les images. Trois seuils séparent le socle d'un service commercialisable : alerter réellement une personne d'astreinte, s'engager par écrit, et cloisonner jusqu'au stockage d'objets. La prochaine preuve à dater est la promotion d'ELSON vers la production, par une procédure déjà répétée. Je vous remercie de votre attention et je suis à votre disposition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de votre attention. Je suis à votre disposition pour vos questions ; l'environnement de recette est accessible si une vérification en direct est souhaitée.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95F"/>
        </a:solidFill>
      </p:bgPr>
    </p:bg>
    <p:spTree>
      <p:nvGrpSpPr>
        <p:cNvPr id="1" name=""/>
        <p:cNvGrpSpPr/>
        <p:nvPr/>
      </p:nvGrpSpPr>
      <p:grpSpPr>
        <a:xfrm>
          <a:off x="0" y="0"/>
          <a:ext cx="0" cy="0"/>
          <a:chOff x="0" y="0"/>
          <a:chExt cx="0" cy="0"/>
        </a:xfrm>
      </p:grpSpPr>
      <p:sp>
        <p:nvSpPr>
          <p:cNvPr id="2" name="Text 0"/>
          <p:cNvSpPr txBox="1"/>
          <p:nvPr/>
        </p:nvSpPr>
        <p:spPr>
          <a:xfrm>
            <a:off x="457200" y="548640"/>
            <a:ext cx="8229600" cy="274320"/>
          </a:xfrm>
          <a:prstGeom prst="rect">
            <a:avLst/>
          </a:prstGeom>
          <a:noFill/>
          <a:ln/>
        </p:spPr>
        <p:txBody>
          <a:bodyPr wrap="square" lIns="0" tIns="0" rIns="0" bIns="0" rtlCol="0" anchor="ctr"/>
          <a:lstStyle/>
          <a:p>
            <a:pPr indent="0" marL="0">
              <a:buNone/>
            </a:pPr>
            <a:r>
              <a:rPr lang="en-US" sz="1200" dirty="0">
                <a:solidFill>
                  <a:srgbClr val="AFC1E8"/>
                </a:solidFill>
                <a:latin typeface="Calibri" pitchFamily="34" charset="0"/>
                <a:ea typeface="Calibri" pitchFamily="34" charset="-122"/>
                <a:cs typeface="Calibri" pitchFamily="34" charset="-120"/>
              </a:rPr>
              <a:t>Projet de fin d'études — Diplôme national d'ingénieur — Informatique</a:t>
            </a:r>
            <a:endParaRPr lang="en-US" sz="1200" dirty="0"/>
          </a:p>
        </p:txBody>
      </p:sp>
      <p:sp>
        <p:nvSpPr>
          <p:cNvPr id="3" name="Text 1"/>
          <p:cNvSpPr txBox="1"/>
          <p:nvPr/>
        </p:nvSpPr>
        <p:spPr>
          <a:xfrm>
            <a:off x="457200" y="1051560"/>
            <a:ext cx="8229600" cy="1188720"/>
          </a:xfrm>
          <a:prstGeom prst="rect">
            <a:avLst/>
          </a:prstGeom>
          <a:noFill/>
          <a:ln/>
        </p:spPr>
        <p:txBody>
          <a:bodyPr wrap="square" lIns="0" tIns="0" rIns="0" bIns="0" rtlCol="0" anchor="t"/>
          <a:lstStyle/>
          <a:p>
            <a:pPr indent="0" marL="0">
              <a:buNone/>
            </a:pPr>
            <a:r>
              <a:rPr lang="en-US" sz="3200" b="1" dirty="0">
                <a:solidFill>
                  <a:srgbClr val="FFFFFF"/>
                </a:solidFill>
                <a:latin typeface="Calibri" pitchFamily="34" charset="0"/>
                <a:ea typeface="Calibri" pitchFamily="34" charset="-122"/>
                <a:cs typeface="Calibri" pitchFamily="34" charset="-120"/>
              </a:rPr>
              <a:t>Conception et réalisation d'une architecture cloud sécurisée Zero Trust et DevSecOps</a:t>
            </a:r>
            <a:endParaRPr lang="en-US" sz="3200" dirty="0"/>
          </a:p>
        </p:txBody>
      </p:sp>
      <p:sp>
        <p:nvSpPr>
          <p:cNvPr id="4" name="Text 2"/>
          <p:cNvSpPr txBox="1"/>
          <p:nvPr/>
        </p:nvSpPr>
        <p:spPr>
          <a:xfrm>
            <a:off x="457200" y="2331720"/>
            <a:ext cx="7863840" cy="640080"/>
          </a:xfrm>
          <a:prstGeom prst="rect">
            <a:avLst/>
          </a:prstGeom>
          <a:noFill/>
          <a:ln/>
        </p:spPr>
        <p:txBody>
          <a:bodyPr wrap="square" lIns="0" tIns="0" rIns="0" bIns="0" rtlCol="0" anchor="ctr"/>
          <a:lstStyle/>
          <a:p>
            <a:pPr indent="0" marL="0">
              <a:buNone/>
            </a:pPr>
            <a:r>
              <a:rPr lang="en-US" sz="1500" i="1" dirty="0">
                <a:solidFill>
                  <a:srgbClr val="DCE6F7"/>
                </a:solidFill>
                <a:latin typeface="Calibri" pitchFamily="34" charset="0"/>
                <a:ea typeface="Calibri" pitchFamily="34" charset="-122"/>
                <a:cs typeface="Calibri" pitchFamily="34" charset="-120"/>
              </a:rPr>
              <a:t>Le socle MENAL : héberger, sécuriser et superviser des applications avec une personne et quelques dizaines d'euros par mois</a:t>
            </a:r>
            <a:endParaRPr lang="en-US" sz="1500" dirty="0"/>
          </a:p>
        </p:txBody>
      </p:sp>
      <p:sp>
        <p:nvSpPr>
          <p:cNvPr id="5" name="Shape 3"/>
          <p:cNvSpPr/>
          <p:nvPr/>
        </p:nvSpPr>
        <p:spPr>
          <a:xfrm>
            <a:off x="457200" y="3200400"/>
            <a:ext cx="2011680" cy="0"/>
          </a:xfrm>
          <a:prstGeom prst="line">
            <a:avLst/>
          </a:prstGeom>
          <a:noFill/>
          <a:ln w="12700">
            <a:solidFill>
              <a:srgbClr val="3D5BB5"/>
            </a:solidFill>
            <a:prstDash val="solid"/>
          </a:ln>
        </p:spPr>
      </p:sp>
      <p:sp>
        <p:nvSpPr>
          <p:cNvPr id="6" name="Text 4"/>
          <p:cNvSpPr txBox="1"/>
          <p:nvPr/>
        </p:nvSpPr>
        <p:spPr>
          <a:xfrm>
            <a:off x="457200" y="3337560"/>
            <a:ext cx="8229600" cy="1097280"/>
          </a:xfrm>
          <a:prstGeom prst="rect">
            <a:avLst/>
          </a:prstGeom>
          <a:noFill/>
          <a:ln/>
        </p:spPr>
        <p:txBody>
          <a:bodyPr wrap="square" lIns="0" tIns="0" rIns="0" bIns="0" rtlCol="0" anchor="t"/>
          <a:lstStyle/>
          <a:p>
            <a:pPr indent="0" marL="0">
              <a:spcAft>
                <a:spcPts val="300"/>
              </a:spcAft>
              <a:buNone/>
            </a:pPr>
            <a:r>
              <a:rPr lang="en-US" sz="1200" b="1" dirty="0">
                <a:solidFill>
                  <a:srgbClr val="FFFFFF"/>
                </a:solidFill>
                <a:latin typeface="Calibri" pitchFamily="34" charset="0"/>
                <a:ea typeface="Calibri" pitchFamily="34" charset="-122"/>
                <a:cs typeface="Calibri" pitchFamily="34" charset="-120"/>
              </a:rPr>
              <a:t>Habiboullah Mansour</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Encadrant entreprise : Houssein Ezzedine — MENAL-SARL, Nouakchott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Encadrante académique : Rihem Matoussi — ESPRIT</a:t>
            </a:r>
            <a:endParaRPr lang="en-US" sz="1200" dirty="0"/>
          </a:p>
          <a:p>
            <a:pPr indent="0" marL="0">
              <a:spcAft>
                <a:spcPts val="300"/>
              </a:spcAft>
              <a:buNone/>
            </a:pPr>
            <a:r>
              <a:rPr lang="en-US" sz="1200" dirty="0">
                <a:solidFill>
                  <a:srgbClr val="FFFFFF"/>
                </a:solidFill>
                <a:latin typeface="Calibri" pitchFamily="34" charset="0"/>
                <a:ea typeface="Calibri" pitchFamily="34" charset="-122"/>
                <a:cs typeface="Calibri" pitchFamily="34" charset="-120"/>
              </a:rPr>
              <a:t>Stage du 3 mars au 7 septembre 2026 · Soutenance septembre 2026</a:t>
            </a:r>
            <a:endParaRPr lang="en-US" sz="1200" dirty="0"/>
          </a:p>
        </p:txBody>
      </p:sp>
      <p:sp>
        <p:nvSpPr>
          <p:cNvPr id="7" name="Text 5"/>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AFC1E8"/>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8" name="Text 6"/>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AFC1E8"/>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PLAN DE LA PRÉSENTATION</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Onze étapes, de l'entreprise aux perspectives</a:t>
            </a:r>
            <a:endParaRPr lang="en-US" sz="2400" dirty="0"/>
          </a:p>
        </p:txBody>
      </p:sp>
      <p:sp>
        <p:nvSpPr>
          <p:cNvPr id="6" name="Shape 4"/>
          <p:cNvSpPr/>
          <p:nvPr/>
        </p:nvSpPr>
        <p:spPr>
          <a:xfrm>
            <a:off x="457200" y="1188720"/>
            <a:ext cx="365760" cy="365760"/>
          </a:xfrm>
          <a:prstGeom prst="ellipse">
            <a:avLst/>
          </a:prstGeom>
          <a:solidFill>
            <a:srgbClr val="1F3A8A"/>
          </a:solidFill>
          <a:ln w="12700">
            <a:solidFill>
              <a:srgbClr val="1F3A8A"/>
            </a:solidFill>
            <a:prstDash val="solid"/>
          </a:ln>
        </p:spPr>
      </p:sp>
      <p:sp>
        <p:nvSpPr>
          <p:cNvPr id="7" name="Text 5"/>
          <p:cNvSpPr txBox="1"/>
          <p:nvPr/>
        </p:nvSpPr>
        <p:spPr>
          <a:xfrm>
            <a:off x="457200" y="11887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960120" y="1143000"/>
            <a:ext cx="356616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Entreprise d'accueil</a:t>
            </a:r>
            <a:endParaRPr lang="en-US" sz="1400" dirty="0"/>
          </a:p>
        </p:txBody>
      </p:sp>
      <p:sp>
        <p:nvSpPr>
          <p:cNvPr id="9" name="Shape 7"/>
          <p:cNvSpPr/>
          <p:nvPr/>
        </p:nvSpPr>
        <p:spPr>
          <a:xfrm>
            <a:off x="457200" y="1737360"/>
            <a:ext cx="365760" cy="365760"/>
          </a:xfrm>
          <a:prstGeom prst="ellipse">
            <a:avLst/>
          </a:prstGeom>
          <a:solidFill>
            <a:srgbClr val="1F3A8A"/>
          </a:solidFill>
          <a:ln w="12700">
            <a:solidFill>
              <a:srgbClr val="1F3A8A"/>
            </a:solidFill>
            <a:prstDash val="solid"/>
          </a:ln>
        </p:spPr>
      </p:sp>
      <p:sp>
        <p:nvSpPr>
          <p:cNvPr id="10" name="Text 8"/>
          <p:cNvSpPr txBox="1"/>
          <p:nvPr/>
        </p:nvSpPr>
        <p:spPr>
          <a:xfrm>
            <a:off x="457200" y="1737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960120" y="1691640"/>
            <a:ext cx="356616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Objectifs</a:t>
            </a:r>
            <a:endParaRPr lang="en-US" sz="1400" dirty="0"/>
          </a:p>
        </p:txBody>
      </p:sp>
      <p:sp>
        <p:nvSpPr>
          <p:cNvPr id="12" name="Shape 10"/>
          <p:cNvSpPr/>
          <p:nvPr/>
        </p:nvSpPr>
        <p:spPr>
          <a:xfrm>
            <a:off x="457200" y="2286000"/>
            <a:ext cx="365760" cy="365760"/>
          </a:xfrm>
          <a:prstGeom prst="ellipse">
            <a:avLst/>
          </a:prstGeom>
          <a:solidFill>
            <a:srgbClr val="1F3A8A"/>
          </a:solidFill>
          <a:ln w="12700">
            <a:solidFill>
              <a:srgbClr val="1F3A8A"/>
            </a:solidFill>
            <a:prstDash val="solid"/>
          </a:ln>
        </p:spPr>
      </p:sp>
      <p:sp>
        <p:nvSpPr>
          <p:cNvPr id="13" name="Text 11"/>
          <p:cNvSpPr txBox="1"/>
          <p:nvPr/>
        </p:nvSpPr>
        <p:spPr>
          <a:xfrm>
            <a:off x="457200" y="2286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960120" y="2240280"/>
            <a:ext cx="356616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Problématique</a:t>
            </a:r>
            <a:endParaRPr lang="en-US" sz="1400" dirty="0"/>
          </a:p>
        </p:txBody>
      </p:sp>
      <p:sp>
        <p:nvSpPr>
          <p:cNvPr id="15" name="Shape 13"/>
          <p:cNvSpPr/>
          <p:nvPr/>
        </p:nvSpPr>
        <p:spPr>
          <a:xfrm>
            <a:off x="457200" y="2834640"/>
            <a:ext cx="365760" cy="365760"/>
          </a:xfrm>
          <a:prstGeom prst="ellipse">
            <a:avLst/>
          </a:prstGeom>
          <a:solidFill>
            <a:srgbClr val="1F3A8A"/>
          </a:solidFill>
          <a:ln w="12700">
            <a:solidFill>
              <a:srgbClr val="1F3A8A"/>
            </a:solidFill>
            <a:prstDash val="solid"/>
          </a:ln>
        </p:spPr>
      </p:sp>
      <p:sp>
        <p:nvSpPr>
          <p:cNvPr id="16" name="Text 14"/>
          <p:cNvSpPr txBox="1"/>
          <p:nvPr/>
        </p:nvSpPr>
        <p:spPr>
          <a:xfrm>
            <a:off x="457200" y="28346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5"/>
          <p:cNvSpPr txBox="1"/>
          <p:nvPr/>
        </p:nvSpPr>
        <p:spPr>
          <a:xfrm>
            <a:off x="960120" y="2788920"/>
            <a:ext cx="356616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Solution : Zero Trust, supervision, détection</a:t>
            </a:r>
            <a:endParaRPr lang="en-US" sz="1400" dirty="0"/>
          </a:p>
        </p:txBody>
      </p:sp>
      <p:sp>
        <p:nvSpPr>
          <p:cNvPr id="18" name="Shape 16"/>
          <p:cNvSpPr/>
          <p:nvPr/>
        </p:nvSpPr>
        <p:spPr>
          <a:xfrm>
            <a:off x="457200" y="3383280"/>
            <a:ext cx="365760" cy="365760"/>
          </a:xfrm>
          <a:prstGeom prst="ellipse">
            <a:avLst/>
          </a:prstGeom>
          <a:solidFill>
            <a:srgbClr val="1F3A8A"/>
          </a:solidFill>
          <a:ln w="12700">
            <a:solidFill>
              <a:srgbClr val="1F3A8A"/>
            </a:solidFill>
            <a:prstDash val="solid"/>
          </a:ln>
        </p:spPr>
      </p:sp>
      <p:sp>
        <p:nvSpPr>
          <p:cNvPr id="19" name="Text 17"/>
          <p:cNvSpPr txBox="1"/>
          <p:nvPr/>
        </p:nvSpPr>
        <p:spPr>
          <a:xfrm>
            <a:off x="457200" y="33832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8"/>
          <p:cNvSpPr txBox="1"/>
          <p:nvPr/>
        </p:nvSpPr>
        <p:spPr>
          <a:xfrm>
            <a:off x="960120" y="3337560"/>
            <a:ext cx="356616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Besoins fonctionnels et non fonctionnels</a:t>
            </a:r>
            <a:endParaRPr lang="en-US" sz="1400" dirty="0"/>
          </a:p>
        </p:txBody>
      </p:sp>
      <p:sp>
        <p:nvSpPr>
          <p:cNvPr id="21" name="Shape 19"/>
          <p:cNvSpPr/>
          <p:nvPr/>
        </p:nvSpPr>
        <p:spPr>
          <a:xfrm>
            <a:off x="457200" y="3931920"/>
            <a:ext cx="365760" cy="365760"/>
          </a:xfrm>
          <a:prstGeom prst="ellipse">
            <a:avLst/>
          </a:prstGeom>
          <a:solidFill>
            <a:srgbClr val="1F3A8A"/>
          </a:solidFill>
          <a:ln w="12700">
            <a:solidFill>
              <a:srgbClr val="1F3A8A"/>
            </a:solidFill>
            <a:prstDash val="solid"/>
          </a:ln>
        </p:spPr>
      </p:sp>
      <p:sp>
        <p:nvSpPr>
          <p:cNvPr id="22" name="Text 20"/>
          <p:cNvSpPr txBox="1"/>
          <p:nvPr/>
        </p:nvSpPr>
        <p:spPr>
          <a:xfrm>
            <a:off x="457200" y="39319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3" name="Text 21"/>
          <p:cNvSpPr txBox="1"/>
          <p:nvPr/>
        </p:nvSpPr>
        <p:spPr>
          <a:xfrm>
            <a:off x="960120" y="3886200"/>
            <a:ext cx="356616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Outils utilisés</a:t>
            </a:r>
            <a:endParaRPr lang="en-US" sz="1400" dirty="0"/>
          </a:p>
        </p:txBody>
      </p:sp>
      <p:sp>
        <p:nvSpPr>
          <p:cNvPr id="24" name="Shape 22"/>
          <p:cNvSpPr/>
          <p:nvPr/>
        </p:nvSpPr>
        <p:spPr>
          <a:xfrm>
            <a:off x="4663440" y="1188720"/>
            <a:ext cx="365760" cy="365760"/>
          </a:xfrm>
          <a:prstGeom prst="ellipse">
            <a:avLst/>
          </a:prstGeom>
          <a:solidFill>
            <a:srgbClr val="1F3A8A"/>
          </a:solidFill>
          <a:ln w="12700">
            <a:solidFill>
              <a:srgbClr val="1F3A8A"/>
            </a:solidFill>
            <a:prstDash val="solid"/>
          </a:ln>
        </p:spPr>
      </p:sp>
      <p:sp>
        <p:nvSpPr>
          <p:cNvPr id="25" name="Text 23"/>
          <p:cNvSpPr txBox="1"/>
          <p:nvPr/>
        </p:nvSpPr>
        <p:spPr>
          <a:xfrm>
            <a:off x="4663440" y="11887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6" name="Text 24"/>
          <p:cNvSpPr txBox="1"/>
          <p:nvPr/>
        </p:nvSpPr>
        <p:spPr>
          <a:xfrm>
            <a:off x="5166360" y="1143000"/>
            <a:ext cx="356616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Méthodologie</a:t>
            </a:r>
            <a:endParaRPr lang="en-US" sz="1400" dirty="0"/>
          </a:p>
        </p:txBody>
      </p:sp>
      <p:sp>
        <p:nvSpPr>
          <p:cNvPr id="27" name="Shape 25"/>
          <p:cNvSpPr/>
          <p:nvPr/>
        </p:nvSpPr>
        <p:spPr>
          <a:xfrm>
            <a:off x="4663440" y="1737360"/>
            <a:ext cx="365760" cy="365760"/>
          </a:xfrm>
          <a:prstGeom prst="ellipse">
            <a:avLst/>
          </a:prstGeom>
          <a:solidFill>
            <a:srgbClr val="1F3A8A"/>
          </a:solidFill>
          <a:ln w="12700">
            <a:solidFill>
              <a:srgbClr val="1F3A8A"/>
            </a:solidFill>
            <a:prstDash val="solid"/>
          </a:ln>
        </p:spPr>
      </p:sp>
      <p:sp>
        <p:nvSpPr>
          <p:cNvPr id="28" name="Text 26"/>
          <p:cNvSpPr txBox="1"/>
          <p:nvPr/>
        </p:nvSpPr>
        <p:spPr>
          <a:xfrm>
            <a:off x="4663440" y="173736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29" name="Text 27"/>
          <p:cNvSpPr txBox="1"/>
          <p:nvPr/>
        </p:nvSpPr>
        <p:spPr>
          <a:xfrm>
            <a:off x="5166360" y="1691640"/>
            <a:ext cx="356616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Conception et technologies</a:t>
            </a:r>
            <a:endParaRPr lang="en-US" sz="1400" dirty="0"/>
          </a:p>
        </p:txBody>
      </p:sp>
      <p:sp>
        <p:nvSpPr>
          <p:cNvPr id="30" name="Shape 28"/>
          <p:cNvSpPr/>
          <p:nvPr/>
        </p:nvSpPr>
        <p:spPr>
          <a:xfrm>
            <a:off x="4663440" y="2286000"/>
            <a:ext cx="365760" cy="365760"/>
          </a:xfrm>
          <a:prstGeom prst="ellipse">
            <a:avLst/>
          </a:prstGeom>
          <a:solidFill>
            <a:srgbClr val="1F3A8A"/>
          </a:solidFill>
          <a:ln w="12700">
            <a:solidFill>
              <a:srgbClr val="1F3A8A"/>
            </a:solidFill>
            <a:prstDash val="solid"/>
          </a:ln>
        </p:spPr>
      </p:sp>
      <p:sp>
        <p:nvSpPr>
          <p:cNvPr id="31" name="Text 29"/>
          <p:cNvSpPr txBox="1"/>
          <p:nvPr/>
        </p:nvSpPr>
        <p:spPr>
          <a:xfrm>
            <a:off x="4663440" y="2286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2" name="Text 30"/>
          <p:cNvSpPr txBox="1"/>
          <p:nvPr/>
        </p:nvSpPr>
        <p:spPr>
          <a:xfrm>
            <a:off x="5166360" y="2240280"/>
            <a:ext cx="356616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Réalisation par sprints</a:t>
            </a:r>
            <a:endParaRPr lang="en-US" sz="1400" dirty="0"/>
          </a:p>
        </p:txBody>
      </p:sp>
      <p:sp>
        <p:nvSpPr>
          <p:cNvPr id="33" name="Shape 31"/>
          <p:cNvSpPr/>
          <p:nvPr/>
        </p:nvSpPr>
        <p:spPr>
          <a:xfrm>
            <a:off x="4663440" y="2834640"/>
            <a:ext cx="365760" cy="365760"/>
          </a:xfrm>
          <a:prstGeom prst="ellipse">
            <a:avLst/>
          </a:prstGeom>
          <a:solidFill>
            <a:srgbClr val="D98E1F"/>
          </a:solidFill>
          <a:ln w="12700">
            <a:solidFill>
              <a:srgbClr val="D98E1F"/>
            </a:solidFill>
            <a:prstDash val="solid"/>
          </a:ln>
        </p:spPr>
      </p:sp>
      <p:sp>
        <p:nvSpPr>
          <p:cNvPr id="34" name="Text 32"/>
          <p:cNvSpPr txBox="1"/>
          <p:nvPr/>
        </p:nvSpPr>
        <p:spPr>
          <a:xfrm>
            <a:off x="4663440" y="28346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35" name="Text 33"/>
          <p:cNvSpPr txBox="1"/>
          <p:nvPr/>
        </p:nvSpPr>
        <p:spPr>
          <a:xfrm>
            <a:off x="5166360" y="2788920"/>
            <a:ext cx="356616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Démonstration vidéo</a:t>
            </a:r>
            <a:endParaRPr lang="en-US" sz="1400" dirty="0"/>
          </a:p>
        </p:txBody>
      </p:sp>
      <p:sp>
        <p:nvSpPr>
          <p:cNvPr id="36" name="Shape 34"/>
          <p:cNvSpPr/>
          <p:nvPr/>
        </p:nvSpPr>
        <p:spPr>
          <a:xfrm>
            <a:off x="4663440" y="3383280"/>
            <a:ext cx="365760" cy="365760"/>
          </a:xfrm>
          <a:prstGeom prst="ellipse">
            <a:avLst/>
          </a:prstGeom>
          <a:solidFill>
            <a:srgbClr val="1F3A8A"/>
          </a:solidFill>
          <a:ln w="12700">
            <a:solidFill>
              <a:srgbClr val="1F3A8A"/>
            </a:solidFill>
            <a:prstDash val="solid"/>
          </a:ln>
        </p:spPr>
      </p:sp>
      <p:sp>
        <p:nvSpPr>
          <p:cNvPr id="37" name="Text 35"/>
          <p:cNvSpPr txBox="1"/>
          <p:nvPr/>
        </p:nvSpPr>
        <p:spPr>
          <a:xfrm>
            <a:off x="4663440" y="33832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38" name="Text 36"/>
          <p:cNvSpPr txBox="1"/>
          <p:nvPr/>
        </p:nvSpPr>
        <p:spPr>
          <a:xfrm>
            <a:off x="5166360" y="3337560"/>
            <a:ext cx="3566160" cy="4572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Perspectives</a:t>
            </a:r>
            <a:endParaRPr lang="en-US" sz="1400" dirty="0"/>
          </a:p>
        </p:txBody>
      </p:sp>
      <p:sp>
        <p:nvSpPr>
          <p:cNvPr id="39" name="Shape 37"/>
          <p:cNvSpPr/>
          <p:nvPr/>
        </p:nvSpPr>
        <p:spPr>
          <a:xfrm>
            <a:off x="4663440" y="3703320"/>
            <a:ext cx="4023360" cy="777240"/>
          </a:xfrm>
          <a:prstGeom prst="roundRect">
            <a:avLst>
              <a:gd name="adj" fmla="val 7059"/>
            </a:avLst>
          </a:prstGeom>
          <a:solidFill>
            <a:srgbClr val="F3F6FC"/>
          </a:solidFill>
          <a:ln w="9525">
            <a:solidFill>
              <a:srgbClr val="D5DBE8"/>
            </a:solidFill>
            <a:prstDash val="solid"/>
          </a:ln>
        </p:spPr>
      </p:sp>
      <p:sp>
        <p:nvSpPr>
          <p:cNvPr id="40" name="Text 38"/>
          <p:cNvSpPr txBox="1"/>
          <p:nvPr/>
        </p:nvSpPr>
        <p:spPr>
          <a:xfrm>
            <a:off x="4800600" y="3749040"/>
            <a:ext cx="3749040" cy="685800"/>
          </a:xfrm>
          <a:prstGeom prst="rect">
            <a:avLst/>
          </a:prstGeom>
          <a:noFill/>
          <a:ln/>
        </p:spPr>
        <p:txBody>
          <a:bodyPr wrap="square" lIns="0" tIns="0" rIns="0" bIns="0" rtlCol="0" anchor="ctr"/>
          <a:lstStyle/>
          <a:p>
            <a:pPr indent="0" marL="0">
              <a:buNone/>
            </a:pPr>
            <a:r>
              <a:rPr lang="en-US" sz="1100" b="1" dirty="0">
                <a:solidFill>
                  <a:srgbClr val="1F3A8A"/>
                </a:solidFill>
                <a:latin typeface="Calibri" pitchFamily="34" charset="0"/>
                <a:ea typeface="Calibri" pitchFamily="34" charset="-122"/>
                <a:cs typeface="Calibri" pitchFamily="34" charset="-120"/>
              </a:rPr>
              <a:t>17 minutes</a:t>
            </a:r>
            <a:pPr indent="0" marL="0">
              <a:buNone/>
            </a:pPr>
            <a:r>
              <a:rPr lang="en-US" sz="1100" dirty="0">
                <a:solidFill>
                  <a:srgbClr val="1F2937"/>
                </a:solidFill>
                <a:latin typeface="Calibri" pitchFamily="34" charset="0"/>
                <a:ea typeface="Calibri" pitchFamily="34" charset="-122"/>
                <a:cs typeface="Calibri" pitchFamily="34" charset="-120"/>
              </a:rPr>
              <a:t> de présentation, puis </a:t>
            </a:r>
            <a:pPr indent="0" marL="0">
              <a:buNone/>
            </a:pPr>
            <a:r>
              <a:rPr lang="en-US" sz="1100" b="1" dirty="0">
                <a:solidFill>
                  <a:srgbClr val="D98E1F"/>
                </a:solidFill>
                <a:latin typeface="Calibri" pitchFamily="34" charset="0"/>
                <a:ea typeface="Calibri" pitchFamily="34" charset="-122"/>
                <a:cs typeface="Calibri" pitchFamily="34" charset="-120"/>
              </a:rPr>
              <a:t>5 minutes</a:t>
            </a:r>
            <a:pPr indent="0" marL="0">
              <a:buNone/>
            </a:pPr>
            <a:r>
              <a:rPr lang="en-US" sz="1100" dirty="0">
                <a:solidFill>
                  <a:srgbClr val="1F2937"/>
                </a:solidFill>
                <a:latin typeface="Calibri" pitchFamily="34" charset="0"/>
                <a:ea typeface="Calibri" pitchFamily="34" charset="-122"/>
                <a:cs typeface="Calibri" pitchFamily="34" charset="-120"/>
              </a:rPr>
              <a:t> de démonstration vidéo : scénario de chaîne d'attaque, protection Zero Trust, chaîne DevSecOps bloquée puis validée.</a:t>
            </a:r>
            <a:endParaRPr lang="en-US" sz="1100" dirty="0"/>
          </a:p>
        </p:txBody>
      </p:sp>
      <p:sp>
        <p:nvSpPr>
          <p:cNvPr id="41" name="Text 39"/>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42" name="Text 40"/>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ENTREPRISE D'ACCUEIL</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MENAL-SARL et son application pilote ELSON</a:t>
            </a:r>
            <a:endParaRPr lang="en-US" sz="2400" dirty="0"/>
          </a:p>
        </p:txBody>
      </p:sp>
      <p:sp>
        <p:nvSpPr>
          <p:cNvPr id="6" name="Shape 4"/>
          <p:cNvSpPr/>
          <p:nvPr/>
        </p:nvSpPr>
        <p:spPr>
          <a:xfrm>
            <a:off x="457200" y="1097280"/>
            <a:ext cx="3977640" cy="1600200"/>
          </a:xfrm>
          <a:prstGeom prst="roundRect">
            <a:avLst>
              <a:gd name="adj" fmla="val 3429"/>
            </a:avLst>
          </a:prstGeom>
          <a:solidFill>
            <a:srgbClr val="F3F6FC"/>
          </a:solidFill>
          <a:ln w="9525">
            <a:solidFill>
              <a:srgbClr val="D5DBE8"/>
            </a:solidFill>
            <a:prstDash val="solid"/>
          </a:ln>
        </p:spPr>
      </p:sp>
      <p:sp>
        <p:nvSpPr>
          <p:cNvPr id="7" name="Text 5"/>
          <p:cNvSpPr txBox="1"/>
          <p:nvPr/>
        </p:nvSpPr>
        <p:spPr>
          <a:xfrm>
            <a:off x="594360" y="1188720"/>
            <a:ext cx="370332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MENAL-SARL — Nouakchott, Mauritanie</a:t>
            </a:r>
            <a:endParaRPr lang="en-US" sz="1300" dirty="0"/>
          </a:p>
        </p:txBody>
      </p:sp>
      <p:sp>
        <p:nvSpPr>
          <p:cNvPr id="8" name="Text 6"/>
          <p:cNvSpPr txBox="1"/>
          <p:nvPr/>
        </p:nvSpPr>
        <p:spPr>
          <a:xfrm>
            <a:off x="594360" y="1508760"/>
            <a:ext cx="3703320" cy="109728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Jeune entreprise : ingénierie cloud et cybersécurité pour des organisations locales</a:t>
            </a:r>
            <a:endParaRPr lang="en-US" sz="1100" dirty="0"/>
          </a:p>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Produits numériques propres, dont ELSON (données linguistiques)</a:t>
            </a:r>
            <a:endParaRPr lang="en-US" sz="1100" dirty="0"/>
          </a:p>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Effectif réduit : une seule personne référente sur l'infrastructure et la sécurité</a:t>
            </a:r>
            <a:endParaRPr lang="en-US" sz="1100" dirty="0"/>
          </a:p>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Stage au sein de l'équipe technique (pôles Cloud/DevOps et Cyber/SOC)</a:t>
            </a:r>
            <a:endParaRPr lang="en-US" sz="1100" dirty="0"/>
          </a:p>
        </p:txBody>
      </p:sp>
      <p:sp>
        <p:nvSpPr>
          <p:cNvPr id="9" name="Shape 7"/>
          <p:cNvSpPr/>
          <p:nvPr/>
        </p:nvSpPr>
        <p:spPr>
          <a:xfrm>
            <a:off x="457200" y="2834640"/>
            <a:ext cx="3977640" cy="1691640"/>
          </a:xfrm>
          <a:prstGeom prst="roundRect">
            <a:avLst>
              <a:gd name="adj" fmla="val 3243"/>
            </a:avLst>
          </a:prstGeom>
          <a:solidFill>
            <a:srgbClr val="F3F6FC"/>
          </a:solidFill>
          <a:ln w="9525">
            <a:solidFill>
              <a:srgbClr val="D5DBE8"/>
            </a:solidFill>
            <a:prstDash val="solid"/>
          </a:ln>
        </p:spPr>
      </p:sp>
      <p:sp>
        <p:nvSpPr>
          <p:cNvPr id="10" name="Text 8"/>
          <p:cNvSpPr txBox="1"/>
          <p:nvPr/>
        </p:nvSpPr>
        <p:spPr>
          <a:xfrm>
            <a:off x="594360" y="2926080"/>
            <a:ext cx="370332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ELSON — la valeur à protéger</a:t>
            </a:r>
            <a:endParaRPr lang="en-US" sz="1300" dirty="0"/>
          </a:p>
        </p:txBody>
      </p:sp>
      <p:sp>
        <p:nvSpPr>
          <p:cNvPr id="11" name="Text 9"/>
          <p:cNvSpPr txBox="1"/>
          <p:nvPr/>
        </p:nvSpPr>
        <p:spPr>
          <a:xfrm>
            <a:off x="594360" y="3246120"/>
            <a:ext cx="3703320" cy="118872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Plateforme de constitution d'un corpus vocal et textuel : hassaniya, pulaar, soninké, wolof</a:t>
            </a:r>
            <a:endParaRPr lang="en-US" sz="1100" dirty="0"/>
          </a:p>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Contributions, validation par relecteurs, classement et compétition dotée</a:t>
            </a:r>
            <a:endParaRPr lang="en-US" sz="1100" dirty="0"/>
          </a:p>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Deux catégories de données sensibles : le corpus (actif exclusif) et les identités des participants (loi n° 2017-020, RGPD)</a:t>
            </a:r>
            <a:endParaRPr lang="en-US" sz="1100" dirty="0"/>
          </a:p>
        </p:txBody>
      </p:sp>
      <p:pic>
        <p:nvPicPr>
          <p:cNvPr id="12" name="Image 0" descr="/home/claude/work/pres/assets/cap_elson_landing.png">    </p:cNvPr>
          <p:cNvPicPr>
            <a:picLocks noChangeAspect="1"/>
          </p:cNvPicPr>
          <p:nvPr/>
        </p:nvPicPr>
        <p:blipFill>
          <a:blip r:embed="rId1"/>
          <a:srcRect l="0" r="0" t="0" b="0"/>
          <a:stretch/>
        </p:blipFill>
        <p:spPr>
          <a:xfrm>
            <a:off x="4663440" y="1097280"/>
            <a:ext cx="4023360" cy="1920240"/>
          </a:xfrm>
          <a:prstGeom prst="rect">
            <a:avLst/>
          </a:prstGeom>
        </p:spPr>
      </p:pic>
      <p:sp>
        <p:nvSpPr>
          <p:cNvPr id="13" name="Text 10"/>
          <p:cNvSpPr txBox="1"/>
          <p:nvPr/>
        </p:nvSpPr>
        <p:spPr>
          <a:xfrm>
            <a:off x="4663440" y="3035808"/>
            <a:ext cx="4023360" cy="256032"/>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elson.menal-sarl.com — page d'accueil servie par le socle (HTTPS, WAF)</a:t>
            </a:r>
            <a:endParaRPr lang="en-US" sz="900" dirty="0"/>
          </a:p>
        </p:txBody>
      </p:sp>
      <p:sp>
        <p:nvSpPr>
          <p:cNvPr id="14" name="Shape 11"/>
          <p:cNvSpPr/>
          <p:nvPr/>
        </p:nvSpPr>
        <p:spPr>
          <a:xfrm>
            <a:off x="4663440" y="3383280"/>
            <a:ext cx="4023360" cy="1143000"/>
          </a:xfrm>
          <a:prstGeom prst="roundRect">
            <a:avLst>
              <a:gd name="adj" fmla="val 4800"/>
            </a:avLst>
          </a:prstGeom>
          <a:solidFill>
            <a:srgbClr val="FFFFFF"/>
          </a:solidFill>
          <a:ln w="9525">
            <a:solidFill>
              <a:srgbClr val="D5DBE8"/>
            </a:solidFill>
            <a:prstDash val="solid"/>
          </a:ln>
        </p:spPr>
      </p:sp>
      <p:sp>
        <p:nvSpPr>
          <p:cNvPr id="15" name="Text 12"/>
          <p:cNvSpPr txBox="1"/>
          <p:nvPr/>
        </p:nvSpPr>
        <p:spPr>
          <a:xfrm>
            <a:off x="4800600" y="3474720"/>
            <a:ext cx="374904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Ma mission</a:t>
            </a:r>
            <a:endParaRPr lang="en-US" sz="1300" dirty="0"/>
          </a:p>
        </p:txBody>
      </p:sp>
      <p:sp>
        <p:nvSpPr>
          <p:cNvPr id="16" name="Text 13"/>
          <p:cNvSpPr txBox="1"/>
          <p:nvPr/>
        </p:nvSpPr>
        <p:spPr>
          <a:xfrm>
            <a:off x="4800600" y="3794760"/>
            <a:ext cx="3749040" cy="640080"/>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Auditer l'hébergement existant, concevoir l'architecture cible, la construire, y mettre ELSON en service, puis mesurer le résultat</a:t>
            </a:r>
            <a:endParaRPr lang="en-US" sz="1100" dirty="0"/>
          </a:p>
          <a:p>
            <a:pPr marL="127000" indent="-127000">
              <a:spcAft>
                <a:spcPts val="300"/>
              </a:spcAft>
              <a:buSzPct val="100000"/>
              <a:buChar char="•"/>
            </a:pPr>
            <a:r>
              <a:rPr lang="en-US" sz="1100" dirty="0">
                <a:solidFill>
                  <a:srgbClr val="1F2937"/>
                </a:solidFill>
                <a:latin typeface="Calibri" pitchFamily="34" charset="0"/>
                <a:ea typeface="Calibri" pitchFamily="34" charset="-122"/>
                <a:cs typeface="Calibri" pitchFamily="34" charset="-120"/>
              </a:rPr>
              <a:t>Trois rôles tenus : architecte, développeur, exploitant</a:t>
            </a:r>
            <a:endParaRPr lang="en-US" sz="1100" dirty="0"/>
          </a:p>
        </p:txBody>
      </p:sp>
      <p:sp>
        <p:nvSpPr>
          <p:cNvPr id="17" name="Text 14"/>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18" name="Text 15"/>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OBJECTIFS</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Quatre constats d'audit, quatre objectifs mesurables</a:t>
            </a:r>
            <a:endParaRPr lang="en-US" sz="2400" dirty="0"/>
          </a:p>
        </p:txBody>
      </p:sp>
      <p:sp>
        <p:nvSpPr>
          <p:cNvPr id="6" name="Shape 4"/>
          <p:cNvSpPr/>
          <p:nvPr/>
        </p:nvSpPr>
        <p:spPr>
          <a:xfrm>
            <a:off x="457200" y="1097280"/>
            <a:ext cx="502920" cy="566928"/>
          </a:xfrm>
          <a:prstGeom prst="roundRect">
            <a:avLst>
              <a:gd name="adj" fmla="val 9091"/>
            </a:avLst>
          </a:prstGeom>
          <a:solidFill>
            <a:srgbClr val="FBE9E7"/>
          </a:solidFill>
          <a:ln w="9525">
            <a:solidFill>
              <a:srgbClr val="F1C4BF"/>
            </a:solidFill>
            <a:prstDash val="solid"/>
          </a:ln>
        </p:spPr>
      </p:sp>
      <p:sp>
        <p:nvSpPr>
          <p:cNvPr id="7" name="Text 5"/>
          <p:cNvSpPr txBox="1"/>
          <p:nvPr/>
        </p:nvSpPr>
        <p:spPr>
          <a:xfrm>
            <a:off x="457200" y="1097280"/>
            <a:ext cx="502920" cy="566928"/>
          </a:xfrm>
          <a:prstGeom prst="rect">
            <a:avLst/>
          </a:prstGeom>
          <a:noFill/>
          <a:ln/>
        </p:spPr>
        <p:txBody>
          <a:bodyPr wrap="square" lIns="0" tIns="0" rIns="0" bIns="0" rtlCol="0" anchor="ctr"/>
          <a:lstStyle/>
          <a:p>
            <a:pPr algn="ctr" indent="0" marL="0">
              <a:buNone/>
            </a:pPr>
            <a:r>
              <a:rPr lang="en-US" sz="1200" b="1" dirty="0">
                <a:solidFill>
                  <a:srgbClr val="C0392B"/>
                </a:solidFill>
                <a:latin typeface="Calibri" pitchFamily="34" charset="0"/>
                <a:ea typeface="Calibri" pitchFamily="34" charset="-122"/>
                <a:cs typeface="Calibri" pitchFamily="34" charset="-120"/>
              </a:rPr>
              <a:t>C1</a:t>
            </a:r>
            <a:endParaRPr lang="en-US" sz="1200" dirty="0"/>
          </a:p>
        </p:txBody>
      </p:sp>
      <p:sp>
        <p:nvSpPr>
          <p:cNvPr id="8" name="Text 6"/>
          <p:cNvSpPr txBox="1"/>
          <p:nvPr/>
        </p:nvSpPr>
        <p:spPr>
          <a:xfrm>
            <a:off x="1051560" y="1097280"/>
            <a:ext cx="1965960" cy="566928"/>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Confiance implicite au réseau</a:t>
            </a:r>
            <a:endParaRPr lang="en-US" sz="1100" dirty="0"/>
          </a:p>
        </p:txBody>
      </p:sp>
      <p:sp>
        <p:nvSpPr>
          <p:cNvPr id="9" name="Shape 7"/>
          <p:cNvSpPr/>
          <p:nvPr/>
        </p:nvSpPr>
        <p:spPr>
          <a:xfrm>
            <a:off x="3063240" y="1380744"/>
            <a:ext cx="365760" cy="0"/>
          </a:xfrm>
          <a:prstGeom prst="line">
            <a:avLst/>
          </a:prstGeom>
          <a:noFill/>
          <a:ln w="19050">
            <a:solidFill>
              <a:srgbClr val="6B7280"/>
            </a:solidFill>
            <a:prstDash val="solid"/>
            <a:tailEnd type="triangle"/>
          </a:ln>
        </p:spPr>
      </p:sp>
      <p:sp>
        <p:nvSpPr>
          <p:cNvPr id="10" name="Shape 8"/>
          <p:cNvSpPr/>
          <p:nvPr/>
        </p:nvSpPr>
        <p:spPr>
          <a:xfrm>
            <a:off x="3520440" y="1097280"/>
            <a:ext cx="502920" cy="566928"/>
          </a:xfrm>
          <a:prstGeom prst="roundRect">
            <a:avLst>
              <a:gd name="adj" fmla="val 9091"/>
            </a:avLst>
          </a:prstGeom>
          <a:solidFill>
            <a:srgbClr val="1F3A8A"/>
          </a:solidFill>
          <a:ln w="12700">
            <a:solidFill>
              <a:srgbClr val="1F3A8A"/>
            </a:solidFill>
            <a:prstDash val="solid"/>
          </a:ln>
        </p:spPr>
      </p:sp>
      <p:sp>
        <p:nvSpPr>
          <p:cNvPr id="11" name="Text 9"/>
          <p:cNvSpPr txBox="1"/>
          <p:nvPr/>
        </p:nvSpPr>
        <p:spPr>
          <a:xfrm>
            <a:off x="3520440" y="1097280"/>
            <a:ext cx="5029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O1</a:t>
            </a:r>
            <a:endParaRPr lang="en-US" sz="1200" dirty="0"/>
          </a:p>
        </p:txBody>
      </p:sp>
      <p:sp>
        <p:nvSpPr>
          <p:cNvPr id="12" name="Text 10"/>
          <p:cNvSpPr txBox="1"/>
          <p:nvPr/>
        </p:nvSpPr>
        <p:spPr>
          <a:xfrm>
            <a:off x="4114800" y="1097280"/>
            <a:ext cx="2103120" cy="566928"/>
          </a:xfrm>
          <a:prstGeom prst="rect">
            <a:avLst/>
          </a:prstGeom>
          <a:noFill/>
          <a:ln/>
        </p:spPr>
        <p:txBody>
          <a:bodyPr wrap="square" lIns="0" tIns="0" rIns="0" bIns="0" rtlCol="0" anchor="ctr"/>
          <a:lstStyle/>
          <a:p>
            <a:pPr indent="0" marL="0">
              <a:buNone/>
            </a:pPr>
            <a:r>
              <a:rPr lang="en-US" sz="1150" b="1" dirty="0">
                <a:solidFill>
                  <a:srgbClr val="1F3A8A"/>
                </a:solidFill>
                <a:latin typeface="Calibri" pitchFamily="34" charset="0"/>
                <a:ea typeface="Calibri" pitchFamily="34" charset="-122"/>
                <a:cs typeface="Calibri" pitchFamily="34" charset="-120"/>
              </a:rPr>
              <a:t>Contrôler chaque accès par l'identité</a:t>
            </a:r>
            <a:endParaRPr lang="en-US" sz="1150" dirty="0"/>
          </a:p>
        </p:txBody>
      </p:sp>
      <p:sp>
        <p:nvSpPr>
          <p:cNvPr id="13" name="Text 11"/>
          <p:cNvSpPr txBox="1"/>
          <p:nvPr/>
        </p:nvSpPr>
        <p:spPr>
          <a:xfrm>
            <a:off x="6263640" y="1097280"/>
            <a:ext cx="2423160" cy="56692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Une identité par service, zéro clé, base privée, second facteur</a:t>
            </a:r>
            <a:endParaRPr lang="en-US" sz="1000" dirty="0"/>
          </a:p>
        </p:txBody>
      </p:sp>
      <p:sp>
        <p:nvSpPr>
          <p:cNvPr id="14" name="Shape 12"/>
          <p:cNvSpPr/>
          <p:nvPr/>
        </p:nvSpPr>
        <p:spPr>
          <a:xfrm>
            <a:off x="457200" y="1810512"/>
            <a:ext cx="502920" cy="566928"/>
          </a:xfrm>
          <a:prstGeom prst="roundRect">
            <a:avLst>
              <a:gd name="adj" fmla="val 9091"/>
            </a:avLst>
          </a:prstGeom>
          <a:solidFill>
            <a:srgbClr val="FBE9E7"/>
          </a:solidFill>
          <a:ln w="9525">
            <a:solidFill>
              <a:srgbClr val="F1C4BF"/>
            </a:solidFill>
            <a:prstDash val="solid"/>
          </a:ln>
        </p:spPr>
      </p:sp>
      <p:sp>
        <p:nvSpPr>
          <p:cNvPr id="15" name="Text 13"/>
          <p:cNvSpPr txBox="1"/>
          <p:nvPr/>
        </p:nvSpPr>
        <p:spPr>
          <a:xfrm>
            <a:off x="457200" y="1810512"/>
            <a:ext cx="502920" cy="566928"/>
          </a:xfrm>
          <a:prstGeom prst="rect">
            <a:avLst/>
          </a:prstGeom>
          <a:noFill/>
          <a:ln/>
        </p:spPr>
        <p:txBody>
          <a:bodyPr wrap="square" lIns="0" tIns="0" rIns="0" bIns="0" rtlCol="0" anchor="ctr"/>
          <a:lstStyle/>
          <a:p>
            <a:pPr algn="ctr" indent="0" marL="0">
              <a:buNone/>
            </a:pPr>
            <a:r>
              <a:rPr lang="en-US" sz="1200" b="1" dirty="0">
                <a:solidFill>
                  <a:srgbClr val="C0392B"/>
                </a:solidFill>
                <a:latin typeface="Calibri" pitchFamily="34" charset="0"/>
                <a:ea typeface="Calibri" pitchFamily="34" charset="-122"/>
                <a:cs typeface="Calibri" pitchFamily="34" charset="-120"/>
              </a:rPr>
              <a:t>C2</a:t>
            </a:r>
            <a:endParaRPr lang="en-US" sz="1200" dirty="0"/>
          </a:p>
        </p:txBody>
      </p:sp>
      <p:sp>
        <p:nvSpPr>
          <p:cNvPr id="16" name="Text 14"/>
          <p:cNvSpPr txBox="1"/>
          <p:nvPr/>
        </p:nvSpPr>
        <p:spPr>
          <a:xfrm>
            <a:off x="1051560" y="1810512"/>
            <a:ext cx="1965960" cy="566928"/>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Infrastructure non reproductible</a:t>
            </a:r>
            <a:endParaRPr lang="en-US" sz="1100" dirty="0"/>
          </a:p>
        </p:txBody>
      </p:sp>
      <p:sp>
        <p:nvSpPr>
          <p:cNvPr id="17" name="Shape 15"/>
          <p:cNvSpPr/>
          <p:nvPr/>
        </p:nvSpPr>
        <p:spPr>
          <a:xfrm>
            <a:off x="3063240" y="2093976"/>
            <a:ext cx="365760" cy="0"/>
          </a:xfrm>
          <a:prstGeom prst="line">
            <a:avLst/>
          </a:prstGeom>
          <a:noFill/>
          <a:ln w="19050">
            <a:solidFill>
              <a:srgbClr val="6B7280"/>
            </a:solidFill>
            <a:prstDash val="solid"/>
            <a:tailEnd type="triangle"/>
          </a:ln>
        </p:spPr>
      </p:sp>
      <p:sp>
        <p:nvSpPr>
          <p:cNvPr id="18" name="Shape 16"/>
          <p:cNvSpPr/>
          <p:nvPr/>
        </p:nvSpPr>
        <p:spPr>
          <a:xfrm>
            <a:off x="3520440" y="1810512"/>
            <a:ext cx="502920" cy="566928"/>
          </a:xfrm>
          <a:prstGeom prst="roundRect">
            <a:avLst>
              <a:gd name="adj" fmla="val 9091"/>
            </a:avLst>
          </a:prstGeom>
          <a:solidFill>
            <a:srgbClr val="1F3A8A"/>
          </a:solidFill>
          <a:ln w="12700">
            <a:solidFill>
              <a:srgbClr val="1F3A8A"/>
            </a:solidFill>
            <a:prstDash val="solid"/>
          </a:ln>
        </p:spPr>
      </p:sp>
      <p:sp>
        <p:nvSpPr>
          <p:cNvPr id="19" name="Text 17"/>
          <p:cNvSpPr txBox="1"/>
          <p:nvPr/>
        </p:nvSpPr>
        <p:spPr>
          <a:xfrm>
            <a:off x="3520440" y="1810512"/>
            <a:ext cx="5029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O2</a:t>
            </a:r>
            <a:endParaRPr lang="en-US" sz="1200" dirty="0"/>
          </a:p>
        </p:txBody>
      </p:sp>
      <p:sp>
        <p:nvSpPr>
          <p:cNvPr id="20" name="Text 18"/>
          <p:cNvSpPr txBox="1"/>
          <p:nvPr/>
        </p:nvSpPr>
        <p:spPr>
          <a:xfrm>
            <a:off x="4114800" y="1810512"/>
            <a:ext cx="2103120" cy="566928"/>
          </a:xfrm>
          <a:prstGeom prst="rect">
            <a:avLst/>
          </a:prstGeom>
          <a:noFill/>
          <a:ln/>
        </p:spPr>
        <p:txBody>
          <a:bodyPr wrap="square" lIns="0" tIns="0" rIns="0" bIns="0" rtlCol="0" anchor="ctr"/>
          <a:lstStyle/>
          <a:p>
            <a:pPr indent="0" marL="0">
              <a:buNone/>
            </a:pPr>
            <a:r>
              <a:rPr lang="en-US" sz="1150" b="1" dirty="0">
                <a:solidFill>
                  <a:srgbClr val="1F3A8A"/>
                </a:solidFill>
                <a:latin typeface="Calibri" pitchFamily="34" charset="0"/>
                <a:ea typeface="Calibri" pitchFamily="34" charset="-122"/>
                <a:cs typeface="Calibri" pitchFamily="34" charset="-120"/>
              </a:rPr>
              <a:t>Rendre l'infrastructure reproductible</a:t>
            </a:r>
            <a:endParaRPr lang="en-US" sz="1150" dirty="0"/>
          </a:p>
        </p:txBody>
      </p:sp>
      <p:sp>
        <p:nvSpPr>
          <p:cNvPr id="21" name="Text 19"/>
          <p:cNvSpPr txBox="1"/>
          <p:nvPr/>
        </p:nvSpPr>
        <p:spPr>
          <a:xfrm>
            <a:off x="6263640" y="1810512"/>
            <a:ext cx="2423160" cy="56692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Reconstruction depuis le seul dépôt ; dérive détectée</a:t>
            </a:r>
            <a:endParaRPr lang="en-US" sz="1000" dirty="0"/>
          </a:p>
        </p:txBody>
      </p:sp>
      <p:sp>
        <p:nvSpPr>
          <p:cNvPr id="22" name="Shape 20"/>
          <p:cNvSpPr/>
          <p:nvPr/>
        </p:nvSpPr>
        <p:spPr>
          <a:xfrm>
            <a:off x="457200" y="2523744"/>
            <a:ext cx="502920" cy="566928"/>
          </a:xfrm>
          <a:prstGeom prst="roundRect">
            <a:avLst>
              <a:gd name="adj" fmla="val 9091"/>
            </a:avLst>
          </a:prstGeom>
          <a:solidFill>
            <a:srgbClr val="FBE9E7"/>
          </a:solidFill>
          <a:ln w="9525">
            <a:solidFill>
              <a:srgbClr val="F1C4BF"/>
            </a:solidFill>
            <a:prstDash val="solid"/>
          </a:ln>
        </p:spPr>
      </p:sp>
      <p:sp>
        <p:nvSpPr>
          <p:cNvPr id="23" name="Text 21"/>
          <p:cNvSpPr txBox="1"/>
          <p:nvPr/>
        </p:nvSpPr>
        <p:spPr>
          <a:xfrm>
            <a:off x="457200" y="2523744"/>
            <a:ext cx="502920" cy="566928"/>
          </a:xfrm>
          <a:prstGeom prst="rect">
            <a:avLst/>
          </a:prstGeom>
          <a:noFill/>
          <a:ln/>
        </p:spPr>
        <p:txBody>
          <a:bodyPr wrap="square" lIns="0" tIns="0" rIns="0" bIns="0" rtlCol="0" anchor="ctr"/>
          <a:lstStyle/>
          <a:p>
            <a:pPr algn="ctr" indent="0" marL="0">
              <a:buNone/>
            </a:pPr>
            <a:r>
              <a:rPr lang="en-US" sz="1200" b="1" dirty="0">
                <a:solidFill>
                  <a:srgbClr val="C0392B"/>
                </a:solidFill>
                <a:latin typeface="Calibri" pitchFamily="34" charset="0"/>
                <a:ea typeface="Calibri" pitchFamily="34" charset="-122"/>
                <a:cs typeface="Calibri" pitchFamily="34" charset="-120"/>
              </a:rPr>
              <a:t>C3</a:t>
            </a:r>
            <a:endParaRPr lang="en-US" sz="1200" dirty="0"/>
          </a:p>
        </p:txBody>
      </p:sp>
      <p:sp>
        <p:nvSpPr>
          <p:cNvPr id="24" name="Text 22"/>
          <p:cNvSpPr txBox="1"/>
          <p:nvPr/>
        </p:nvSpPr>
        <p:spPr>
          <a:xfrm>
            <a:off x="1051560" y="2523744"/>
            <a:ext cx="1965960" cy="566928"/>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Livraison non contrôlée</a:t>
            </a:r>
            <a:endParaRPr lang="en-US" sz="1100" dirty="0"/>
          </a:p>
        </p:txBody>
      </p:sp>
      <p:sp>
        <p:nvSpPr>
          <p:cNvPr id="25" name="Shape 23"/>
          <p:cNvSpPr/>
          <p:nvPr/>
        </p:nvSpPr>
        <p:spPr>
          <a:xfrm>
            <a:off x="3063240" y="2807208"/>
            <a:ext cx="365760" cy="0"/>
          </a:xfrm>
          <a:prstGeom prst="line">
            <a:avLst/>
          </a:prstGeom>
          <a:noFill/>
          <a:ln w="19050">
            <a:solidFill>
              <a:srgbClr val="6B7280"/>
            </a:solidFill>
            <a:prstDash val="solid"/>
            <a:tailEnd type="triangle"/>
          </a:ln>
        </p:spPr>
      </p:sp>
      <p:sp>
        <p:nvSpPr>
          <p:cNvPr id="26" name="Shape 24"/>
          <p:cNvSpPr/>
          <p:nvPr/>
        </p:nvSpPr>
        <p:spPr>
          <a:xfrm>
            <a:off x="3520440" y="2523744"/>
            <a:ext cx="502920" cy="566928"/>
          </a:xfrm>
          <a:prstGeom prst="roundRect">
            <a:avLst>
              <a:gd name="adj" fmla="val 9091"/>
            </a:avLst>
          </a:prstGeom>
          <a:solidFill>
            <a:srgbClr val="1F3A8A"/>
          </a:solidFill>
          <a:ln w="12700">
            <a:solidFill>
              <a:srgbClr val="1F3A8A"/>
            </a:solidFill>
            <a:prstDash val="solid"/>
          </a:ln>
        </p:spPr>
      </p:sp>
      <p:sp>
        <p:nvSpPr>
          <p:cNvPr id="27" name="Text 25"/>
          <p:cNvSpPr txBox="1"/>
          <p:nvPr/>
        </p:nvSpPr>
        <p:spPr>
          <a:xfrm>
            <a:off x="3520440" y="2523744"/>
            <a:ext cx="5029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O3</a:t>
            </a:r>
            <a:endParaRPr lang="en-US" sz="1200" dirty="0"/>
          </a:p>
        </p:txBody>
      </p:sp>
      <p:sp>
        <p:nvSpPr>
          <p:cNvPr id="28" name="Text 26"/>
          <p:cNvSpPr txBox="1"/>
          <p:nvPr/>
        </p:nvSpPr>
        <p:spPr>
          <a:xfrm>
            <a:off x="4114800" y="2523744"/>
            <a:ext cx="2103120" cy="566928"/>
          </a:xfrm>
          <a:prstGeom prst="rect">
            <a:avLst/>
          </a:prstGeom>
          <a:noFill/>
          <a:ln/>
        </p:spPr>
        <p:txBody>
          <a:bodyPr wrap="square" lIns="0" tIns="0" rIns="0" bIns="0" rtlCol="0" anchor="ctr"/>
          <a:lstStyle/>
          <a:p>
            <a:pPr indent="0" marL="0">
              <a:buNone/>
            </a:pPr>
            <a:r>
              <a:rPr lang="en-US" sz="1150" b="1" dirty="0">
                <a:solidFill>
                  <a:srgbClr val="1F3A8A"/>
                </a:solidFill>
                <a:latin typeface="Calibri" pitchFamily="34" charset="0"/>
                <a:ea typeface="Calibri" pitchFamily="34" charset="-122"/>
                <a:cs typeface="Calibri" pitchFamily="34" charset="-120"/>
              </a:rPr>
              <a:t>Sécuriser et automatiser la livraison</a:t>
            </a:r>
            <a:endParaRPr lang="en-US" sz="1150" dirty="0"/>
          </a:p>
        </p:txBody>
      </p:sp>
      <p:sp>
        <p:nvSpPr>
          <p:cNvPr id="29" name="Text 27"/>
          <p:cNvSpPr txBox="1"/>
          <p:nvPr/>
        </p:nvSpPr>
        <p:spPr>
          <a:xfrm>
            <a:off x="6263640" y="2523744"/>
            <a:ext cx="2423160" cy="56692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Quatre portes bloquantes éprouvées ; identité sans clé</a:t>
            </a:r>
            <a:endParaRPr lang="en-US" sz="1000" dirty="0"/>
          </a:p>
        </p:txBody>
      </p:sp>
      <p:sp>
        <p:nvSpPr>
          <p:cNvPr id="30" name="Shape 28"/>
          <p:cNvSpPr/>
          <p:nvPr/>
        </p:nvSpPr>
        <p:spPr>
          <a:xfrm>
            <a:off x="457200" y="3236976"/>
            <a:ext cx="502920" cy="566928"/>
          </a:xfrm>
          <a:prstGeom prst="roundRect">
            <a:avLst>
              <a:gd name="adj" fmla="val 9091"/>
            </a:avLst>
          </a:prstGeom>
          <a:solidFill>
            <a:srgbClr val="FBE9E7"/>
          </a:solidFill>
          <a:ln w="9525">
            <a:solidFill>
              <a:srgbClr val="F1C4BF"/>
            </a:solidFill>
            <a:prstDash val="solid"/>
          </a:ln>
        </p:spPr>
      </p:sp>
      <p:sp>
        <p:nvSpPr>
          <p:cNvPr id="31" name="Text 29"/>
          <p:cNvSpPr txBox="1"/>
          <p:nvPr/>
        </p:nvSpPr>
        <p:spPr>
          <a:xfrm>
            <a:off x="457200" y="3236976"/>
            <a:ext cx="502920" cy="566928"/>
          </a:xfrm>
          <a:prstGeom prst="rect">
            <a:avLst/>
          </a:prstGeom>
          <a:noFill/>
          <a:ln/>
        </p:spPr>
        <p:txBody>
          <a:bodyPr wrap="square" lIns="0" tIns="0" rIns="0" bIns="0" rtlCol="0" anchor="ctr"/>
          <a:lstStyle/>
          <a:p>
            <a:pPr algn="ctr" indent="0" marL="0">
              <a:buNone/>
            </a:pPr>
            <a:r>
              <a:rPr lang="en-US" sz="1200" b="1" dirty="0">
                <a:solidFill>
                  <a:srgbClr val="C0392B"/>
                </a:solidFill>
                <a:latin typeface="Calibri" pitchFamily="34" charset="0"/>
                <a:ea typeface="Calibri" pitchFamily="34" charset="-122"/>
                <a:cs typeface="Calibri" pitchFamily="34" charset="-120"/>
              </a:rPr>
              <a:t>C4</a:t>
            </a:r>
            <a:endParaRPr lang="en-US" sz="1200" dirty="0"/>
          </a:p>
        </p:txBody>
      </p:sp>
      <p:sp>
        <p:nvSpPr>
          <p:cNvPr id="32" name="Text 30"/>
          <p:cNvSpPr txBox="1"/>
          <p:nvPr/>
        </p:nvSpPr>
        <p:spPr>
          <a:xfrm>
            <a:off x="1051560" y="3236976"/>
            <a:ext cx="1965960" cy="566928"/>
          </a:xfrm>
          <a:prstGeom prst="rect">
            <a:avLst/>
          </a:prstGeom>
          <a:noFill/>
          <a:ln/>
        </p:spPr>
        <p:txBody>
          <a:bodyPr wrap="square" lIns="0" tIns="0" rIns="0" bIns="0" rtlCol="0" anchor="ctr"/>
          <a:lstStyle/>
          <a:p>
            <a:pPr indent="0" marL="0">
              <a:buNone/>
            </a:pPr>
            <a:r>
              <a:rPr lang="en-US" sz="1100" dirty="0">
                <a:solidFill>
                  <a:srgbClr val="1F2937"/>
                </a:solidFill>
                <a:latin typeface="Calibri" pitchFamily="34" charset="0"/>
                <a:ea typeface="Calibri" pitchFamily="34" charset="-122"/>
                <a:cs typeface="Calibri" pitchFamily="34" charset="-120"/>
              </a:rPr>
              <a:t>Supervision absente</a:t>
            </a:r>
            <a:endParaRPr lang="en-US" sz="1100" dirty="0"/>
          </a:p>
        </p:txBody>
      </p:sp>
      <p:sp>
        <p:nvSpPr>
          <p:cNvPr id="33" name="Shape 31"/>
          <p:cNvSpPr/>
          <p:nvPr/>
        </p:nvSpPr>
        <p:spPr>
          <a:xfrm>
            <a:off x="3063240" y="3520440"/>
            <a:ext cx="365760" cy="0"/>
          </a:xfrm>
          <a:prstGeom prst="line">
            <a:avLst/>
          </a:prstGeom>
          <a:noFill/>
          <a:ln w="19050">
            <a:solidFill>
              <a:srgbClr val="6B7280"/>
            </a:solidFill>
            <a:prstDash val="solid"/>
            <a:tailEnd type="triangle"/>
          </a:ln>
        </p:spPr>
      </p:sp>
      <p:sp>
        <p:nvSpPr>
          <p:cNvPr id="34" name="Shape 32"/>
          <p:cNvSpPr/>
          <p:nvPr/>
        </p:nvSpPr>
        <p:spPr>
          <a:xfrm>
            <a:off x="3520440" y="3236976"/>
            <a:ext cx="502920" cy="566928"/>
          </a:xfrm>
          <a:prstGeom prst="roundRect">
            <a:avLst>
              <a:gd name="adj" fmla="val 9091"/>
            </a:avLst>
          </a:prstGeom>
          <a:solidFill>
            <a:srgbClr val="1F3A8A"/>
          </a:solidFill>
          <a:ln w="12700">
            <a:solidFill>
              <a:srgbClr val="1F3A8A"/>
            </a:solidFill>
            <a:prstDash val="solid"/>
          </a:ln>
        </p:spPr>
      </p:sp>
      <p:sp>
        <p:nvSpPr>
          <p:cNvPr id="35" name="Text 33"/>
          <p:cNvSpPr txBox="1"/>
          <p:nvPr/>
        </p:nvSpPr>
        <p:spPr>
          <a:xfrm>
            <a:off x="3520440" y="3236976"/>
            <a:ext cx="50292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O4</a:t>
            </a:r>
            <a:endParaRPr lang="en-US" sz="1200" dirty="0"/>
          </a:p>
        </p:txBody>
      </p:sp>
      <p:sp>
        <p:nvSpPr>
          <p:cNvPr id="36" name="Text 34"/>
          <p:cNvSpPr txBox="1"/>
          <p:nvPr/>
        </p:nvSpPr>
        <p:spPr>
          <a:xfrm>
            <a:off x="4114800" y="3236976"/>
            <a:ext cx="2103120" cy="566928"/>
          </a:xfrm>
          <a:prstGeom prst="rect">
            <a:avLst/>
          </a:prstGeom>
          <a:noFill/>
          <a:ln/>
        </p:spPr>
        <p:txBody>
          <a:bodyPr wrap="square" lIns="0" tIns="0" rIns="0" bIns="0" rtlCol="0" anchor="ctr"/>
          <a:lstStyle/>
          <a:p>
            <a:pPr indent="0" marL="0">
              <a:buNone/>
            </a:pPr>
            <a:r>
              <a:rPr lang="en-US" sz="1150" b="1" dirty="0">
                <a:solidFill>
                  <a:srgbClr val="1F3A8A"/>
                </a:solidFill>
                <a:latin typeface="Calibri" pitchFamily="34" charset="0"/>
                <a:ea typeface="Calibri" pitchFamily="34" charset="-122"/>
                <a:cs typeface="Calibri" pitchFamily="34" charset="-120"/>
              </a:rPr>
              <a:t>Superviser et détecter</a:t>
            </a:r>
            <a:endParaRPr lang="en-US" sz="1150" dirty="0"/>
          </a:p>
        </p:txBody>
      </p:sp>
      <p:sp>
        <p:nvSpPr>
          <p:cNvPr id="37" name="Text 35"/>
          <p:cNvSpPr txBox="1"/>
          <p:nvPr/>
        </p:nvSpPr>
        <p:spPr>
          <a:xfrm>
            <a:off x="6263640" y="3236976"/>
            <a:ext cx="2423160" cy="566928"/>
          </a:xfrm>
          <a:prstGeom prst="rect">
            <a:avLst/>
          </a:prstGeom>
          <a:noFill/>
          <a:ln/>
        </p:spPr>
        <p:txBody>
          <a:bodyPr wrap="square" lIns="0" tIns="0" rIns="0" bIns="0"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Incident affiché moins de trois minutes après l'attaque</a:t>
            </a:r>
            <a:endParaRPr lang="en-US" sz="1000" dirty="0"/>
          </a:p>
        </p:txBody>
      </p:sp>
      <p:sp>
        <p:nvSpPr>
          <p:cNvPr id="38" name="Text 36"/>
          <p:cNvSpPr txBox="1"/>
          <p:nvPr/>
        </p:nvSpPr>
        <p:spPr>
          <a:xfrm>
            <a:off x="6263640" y="896112"/>
            <a:ext cx="2423160" cy="201168"/>
          </a:xfrm>
          <a:prstGeom prst="rect">
            <a:avLst/>
          </a:prstGeom>
          <a:noFill/>
          <a:ln/>
        </p:spPr>
        <p:txBody>
          <a:bodyPr wrap="square" lIns="0" tIns="0" rIns="0" bIns="0" rtlCol="0" anchor="ctr"/>
          <a:lstStyle/>
          <a:p>
            <a:pPr indent="0" marL="0">
              <a:buNone/>
            </a:pPr>
            <a:r>
              <a:rPr lang="en-US" sz="850" i="1" dirty="0">
                <a:solidFill>
                  <a:srgbClr val="6B7280"/>
                </a:solidFill>
                <a:latin typeface="Calibri" pitchFamily="34" charset="0"/>
                <a:ea typeface="Calibri" pitchFamily="34" charset="-122"/>
                <a:cs typeface="Calibri" pitchFamily="34" charset="-120"/>
              </a:rPr>
              <a:t>Indicateur de réussite vérifié au chapitre 6</a:t>
            </a:r>
            <a:endParaRPr lang="en-US" sz="850" dirty="0"/>
          </a:p>
        </p:txBody>
      </p:sp>
      <p:sp>
        <p:nvSpPr>
          <p:cNvPr id="39" name="Shape 37"/>
          <p:cNvSpPr/>
          <p:nvPr/>
        </p:nvSpPr>
        <p:spPr>
          <a:xfrm>
            <a:off x="457200" y="4023360"/>
            <a:ext cx="2651760" cy="548640"/>
          </a:xfrm>
          <a:prstGeom prst="roundRect">
            <a:avLst>
              <a:gd name="adj" fmla="val 10000"/>
            </a:avLst>
          </a:prstGeom>
          <a:solidFill>
            <a:srgbClr val="F3F6FC"/>
          </a:solidFill>
          <a:ln w="9525">
            <a:solidFill>
              <a:srgbClr val="D5DBE8"/>
            </a:solidFill>
            <a:prstDash val="solid"/>
          </a:ln>
        </p:spPr>
      </p:sp>
      <p:sp>
        <p:nvSpPr>
          <p:cNvPr id="40" name="Text 38"/>
          <p:cNvSpPr txBox="1"/>
          <p:nvPr/>
        </p:nvSpPr>
        <p:spPr>
          <a:xfrm>
            <a:off x="566928" y="4023360"/>
            <a:ext cx="2468880" cy="548640"/>
          </a:xfrm>
          <a:prstGeom prst="rect">
            <a:avLst/>
          </a:prstGeom>
          <a:noFill/>
          <a:ln/>
        </p:spPr>
        <p:txBody>
          <a:bodyPr wrap="square" lIns="0" tIns="0" rIns="0" bIns="0" rtlCol="0" anchor="ctr"/>
          <a:lstStyle/>
          <a:p>
            <a:pPr indent="0" marL="0">
              <a:buNone/>
            </a:pPr>
            <a:r>
              <a:rPr lang="en-US" sz="1050" b="1" dirty="0">
                <a:solidFill>
                  <a:srgbClr val="1F3A8A"/>
                </a:solidFill>
                <a:latin typeface="Calibri" pitchFamily="34" charset="0"/>
                <a:ea typeface="Calibri" pitchFamily="34" charset="-122"/>
                <a:cs typeface="Calibri" pitchFamily="34" charset="-120"/>
              </a:rPr>
              <a:t>K1  </a:t>
            </a:r>
            <a:pPr indent="0" marL="0">
              <a:buNone/>
            </a:pPr>
            <a:r>
              <a:rPr lang="en-US" sz="1050" dirty="0">
                <a:solidFill>
                  <a:srgbClr val="1F2937"/>
                </a:solidFill>
                <a:latin typeface="Calibri" pitchFamily="34" charset="0"/>
                <a:ea typeface="Calibri" pitchFamily="34" charset="-122"/>
                <a:cs typeface="Calibri" pitchFamily="34" charset="-120"/>
              </a:rPr>
              <a:t>Une seule personne exploite le socle</a:t>
            </a:r>
            <a:endParaRPr lang="en-US" sz="1050" dirty="0"/>
          </a:p>
        </p:txBody>
      </p:sp>
      <p:sp>
        <p:nvSpPr>
          <p:cNvPr id="41" name="Shape 39"/>
          <p:cNvSpPr/>
          <p:nvPr/>
        </p:nvSpPr>
        <p:spPr>
          <a:xfrm>
            <a:off x="3246120" y="4023360"/>
            <a:ext cx="2651760" cy="548640"/>
          </a:xfrm>
          <a:prstGeom prst="roundRect">
            <a:avLst>
              <a:gd name="adj" fmla="val 10000"/>
            </a:avLst>
          </a:prstGeom>
          <a:solidFill>
            <a:srgbClr val="F3F6FC"/>
          </a:solidFill>
          <a:ln w="9525">
            <a:solidFill>
              <a:srgbClr val="D5DBE8"/>
            </a:solidFill>
            <a:prstDash val="solid"/>
          </a:ln>
        </p:spPr>
      </p:sp>
      <p:sp>
        <p:nvSpPr>
          <p:cNvPr id="42" name="Text 40"/>
          <p:cNvSpPr txBox="1"/>
          <p:nvPr/>
        </p:nvSpPr>
        <p:spPr>
          <a:xfrm>
            <a:off x="3355848" y="4023360"/>
            <a:ext cx="2468880" cy="548640"/>
          </a:xfrm>
          <a:prstGeom prst="rect">
            <a:avLst/>
          </a:prstGeom>
          <a:noFill/>
          <a:ln/>
        </p:spPr>
        <p:txBody>
          <a:bodyPr wrap="square" lIns="0" tIns="0" rIns="0" bIns="0" rtlCol="0" anchor="ctr"/>
          <a:lstStyle/>
          <a:p>
            <a:pPr indent="0" marL="0">
              <a:buNone/>
            </a:pPr>
            <a:r>
              <a:rPr lang="en-US" sz="1050" b="1" dirty="0">
                <a:solidFill>
                  <a:srgbClr val="1F3A8A"/>
                </a:solidFill>
                <a:latin typeface="Calibri" pitchFamily="34" charset="0"/>
                <a:ea typeface="Calibri" pitchFamily="34" charset="-122"/>
                <a:cs typeface="Calibri" pitchFamily="34" charset="-120"/>
              </a:rPr>
              <a:t>K2  </a:t>
            </a:r>
            <a:pPr indent="0" marL="0">
              <a:buNone/>
            </a:pPr>
            <a:r>
              <a:rPr lang="en-US" sz="1050" dirty="0">
                <a:solidFill>
                  <a:srgbClr val="1F2937"/>
                </a:solidFill>
                <a:latin typeface="Calibri" pitchFamily="34" charset="0"/>
                <a:ea typeface="Calibri" pitchFamily="34" charset="-122"/>
                <a:cs typeface="Calibri" pitchFamily="34" charset="-120"/>
              </a:rPr>
              <a:t>Coût ≤ 50 € par mois, poste par poste</a:t>
            </a:r>
            <a:endParaRPr lang="en-US" sz="1050" dirty="0"/>
          </a:p>
        </p:txBody>
      </p:sp>
      <p:sp>
        <p:nvSpPr>
          <p:cNvPr id="43" name="Shape 41"/>
          <p:cNvSpPr/>
          <p:nvPr/>
        </p:nvSpPr>
        <p:spPr>
          <a:xfrm>
            <a:off x="6035040" y="4023360"/>
            <a:ext cx="2651760" cy="548640"/>
          </a:xfrm>
          <a:prstGeom prst="roundRect">
            <a:avLst>
              <a:gd name="adj" fmla="val 10000"/>
            </a:avLst>
          </a:prstGeom>
          <a:solidFill>
            <a:srgbClr val="F3F6FC"/>
          </a:solidFill>
          <a:ln w="9525">
            <a:solidFill>
              <a:srgbClr val="D5DBE8"/>
            </a:solidFill>
            <a:prstDash val="solid"/>
          </a:ln>
        </p:spPr>
      </p:sp>
      <p:sp>
        <p:nvSpPr>
          <p:cNvPr id="44" name="Text 42"/>
          <p:cNvSpPr txBox="1"/>
          <p:nvPr/>
        </p:nvSpPr>
        <p:spPr>
          <a:xfrm>
            <a:off x="6144768" y="4023360"/>
            <a:ext cx="2468880" cy="548640"/>
          </a:xfrm>
          <a:prstGeom prst="rect">
            <a:avLst/>
          </a:prstGeom>
          <a:noFill/>
          <a:ln/>
        </p:spPr>
        <p:txBody>
          <a:bodyPr wrap="square" lIns="0" tIns="0" rIns="0" bIns="0" rtlCol="0" anchor="ctr"/>
          <a:lstStyle/>
          <a:p>
            <a:pPr indent="0" marL="0">
              <a:buNone/>
            </a:pPr>
            <a:r>
              <a:rPr lang="en-US" sz="1050" b="1" dirty="0">
                <a:solidFill>
                  <a:srgbClr val="1F3A8A"/>
                </a:solidFill>
                <a:latin typeface="Calibri" pitchFamily="34" charset="0"/>
                <a:ea typeface="Calibri" pitchFamily="34" charset="-122"/>
                <a:cs typeface="Calibri" pitchFamily="34" charset="-120"/>
              </a:rPr>
              <a:t>K3  </a:t>
            </a:r>
            <a:pPr indent="0" marL="0">
              <a:buNone/>
            </a:pPr>
            <a:r>
              <a:rPr lang="en-US" sz="1050" dirty="0">
                <a:solidFill>
                  <a:srgbClr val="1F2937"/>
                </a:solidFill>
                <a:latin typeface="Calibri" pitchFamily="34" charset="0"/>
                <a:ea typeface="Calibri" pitchFamily="34" charset="-122"/>
                <a:cs typeface="Calibri" pitchFamily="34" charset="-120"/>
              </a:rPr>
              <a:t>Données personnelles : chiffrement, journaux, restauration</a:t>
            </a:r>
            <a:endParaRPr lang="en-US" sz="1050" dirty="0"/>
          </a:p>
        </p:txBody>
      </p:sp>
      <p:sp>
        <p:nvSpPr>
          <p:cNvPr id="45" name="Text 43"/>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46" name="Text 44"/>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PROBLÉMATIQUE</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L'hébergement classique et la question posée</a:t>
            </a:r>
            <a:endParaRPr lang="en-US" sz="2400" dirty="0"/>
          </a:p>
        </p:txBody>
      </p:sp>
      <p:sp>
        <p:nvSpPr>
          <p:cNvPr id="6" name="Text 4"/>
          <p:cNvSpPr txBox="1"/>
          <p:nvPr/>
        </p:nvSpPr>
        <p:spPr>
          <a:xfrm>
            <a:off x="457200" y="1051560"/>
            <a:ext cx="4206240" cy="274320"/>
          </a:xfrm>
          <a:prstGeom prst="rect">
            <a:avLst/>
          </a:prstGeom>
          <a:noFill/>
          <a:ln/>
        </p:spPr>
        <p:txBody>
          <a:bodyPr wrap="square" lIns="0" tIns="0" rIns="0" bIns="0" rtlCol="0" anchor="ctr"/>
          <a:lstStyle/>
          <a:p>
            <a:pPr indent="0" marL="0">
              <a:buNone/>
            </a:pPr>
            <a:r>
              <a:rPr lang="en-US" sz="1100" b="1" dirty="0">
                <a:solidFill>
                  <a:srgbClr val="1F2937"/>
                </a:solidFill>
                <a:latin typeface="Calibri" pitchFamily="34" charset="0"/>
                <a:ea typeface="Calibri" pitchFamily="34" charset="-122"/>
                <a:cs typeface="Calibri" pitchFamily="34" charset="-120"/>
              </a:rPr>
              <a:t>Le modèle périmétrique, tel qu'on le rencontre dans la plupart des petites structures</a:t>
            </a:r>
            <a:endParaRPr lang="en-US" sz="1100" dirty="0"/>
          </a:p>
        </p:txBody>
      </p:sp>
      <p:sp>
        <p:nvSpPr>
          <p:cNvPr id="7" name="Shape 5"/>
          <p:cNvSpPr/>
          <p:nvPr/>
        </p:nvSpPr>
        <p:spPr>
          <a:xfrm>
            <a:off x="457200" y="1508760"/>
            <a:ext cx="914400" cy="457200"/>
          </a:xfrm>
          <a:prstGeom prst="roundRect">
            <a:avLst>
              <a:gd name="adj" fmla="val 10000"/>
            </a:avLst>
          </a:prstGeom>
          <a:solidFill>
            <a:srgbClr val="F3F6FC"/>
          </a:solidFill>
          <a:ln w="12700">
            <a:solidFill>
              <a:srgbClr val="D5DBE8"/>
            </a:solidFill>
            <a:prstDash val="solid"/>
          </a:ln>
        </p:spPr>
      </p:sp>
      <p:sp>
        <p:nvSpPr>
          <p:cNvPr id="8" name="Text 6"/>
          <p:cNvSpPr txBox="1"/>
          <p:nvPr/>
        </p:nvSpPr>
        <p:spPr>
          <a:xfrm>
            <a:off x="502920" y="1508760"/>
            <a:ext cx="822960" cy="457200"/>
          </a:xfrm>
          <a:prstGeom prst="rect">
            <a:avLst/>
          </a:prstGeom>
          <a:noFill/>
          <a:ln/>
        </p:spPr>
        <p:txBody>
          <a:bodyPr wrap="square" lIns="0" tIns="0" rIns="0" bIns="0" rtlCol="0" anchor="ctr"/>
          <a:lstStyle/>
          <a:p>
            <a:pPr algn="ctr" indent="0" marL="0">
              <a:buNone/>
            </a:pPr>
            <a:r>
              <a:rPr lang="en-US" sz="1050" dirty="0">
                <a:solidFill>
                  <a:srgbClr val="1F2937"/>
                </a:solidFill>
                <a:latin typeface="Calibri" pitchFamily="34" charset="0"/>
                <a:ea typeface="Calibri" pitchFamily="34" charset="-122"/>
                <a:cs typeface="Calibri" pitchFamily="34" charset="-120"/>
              </a:rPr>
              <a:t>Internet</a:t>
            </a:r>
            <a:endParaRPr lang="en-US" sz="1050" dirty="0"/>
          </a:p>
        </p:txBody>
      </p:sp>
      <p:sp>
        <p:nvSpPr>
          <p:cNvPr id="9" name="Shape 7"/>
          <p:cNvSpPr/>
          <p:nvPr/>
        </p:nvSpPr>
        <p:spPr>
          <a:xfrm>
            <a:off x="1600200" y="1508760"/>
            <a:ext cx="914400" cy="457200"/>
          </a:xfrm>
          <a:prstGeom prst="roundRect">
            <a:avLst>
              <a:gd name="adj" fmla="val 10000"/>
            </a:avLst>
          </a:prstGeom>
          <a:solidFill>
            <a:srgbClr val="FFF3E0"/>
          </a:solidFill>
          <a:ln w="12700">
            <a:solidFill>
              <a:srgbClr val="D98E1F"/>
            </a:solidFill>
            <a:prstDash val="solid"/>
          </a:ln>
        </p:spPr>
      </p:sp>
      <p:sp>
        <p:nvSpPr>
          <p:cNvPr id="10" name="Text 8"/>
          <p:cNvSpPr txBox="1"/>
          <p:nvPr/>
        </p:nvSpPr>
        <p:spPr>
          <a:xfrm>
            <a:off x="1645920" y="1508760"/>
            <a:ext cx="822960" cy="457200"/>
          </a:xfrm>
          <a:prstGeom prst="rect">
            <a:avLst/>
          </a:prstGeom>
          <a:noFill/>
          <a:ln/>
        </p:spPr>
        <p:txBody>
          <a:bodyPr wrap="square" lIns="0" tIns="0" rIns="0" bIns="0" rtlCol="0" anchor="ctr"/>
          <a:lstStyle/>
          <a:p>
            <a:pPr algn="ctr" indent="0" marL="0">
              <a:buNone/>
            </a:pPr>
            <a:r>
              <a:rPr lang="en-US" sz="1050" b="1" dirty="0">
                <a:solidFill>
                  <a:srgbClr val="1F2937"/>
                </a:solidFill>
                <a:latin typeface="Calibri" pitchFamily="34" charset="0"/>
                <a:ea typeface="Calibri" pitchFamily="34" charset="-122"/>
                <a:cs typeface="Calibri" pitchFamily="34" charset="-120"/>
              </a:rPr>
              <a:t>Pare-feu</a:t>
            </a:r>
            <a:endParaRPr lang="en-US" sz="1050" dirty="0"/>
          </a:p>
        </p:txBody>
      </p:sp>
      <p:sp>
        <p:nvSpPr>
          <p:cNvPr id="11" name="Shape 9"/>
          <p:cNvSpPr/>
          <p:nvPr/>
        </p:nvSpPr>
        <p:spPr>
          <a:xfrm>
            <a:off x="2788920" y="1371600"/>
            <a:ext cx="1874520" cy="731520"/>
          </a:xfrm>
          <a:prstGeom prst="roundRect">
            <a:avLst>
              <a:gd name="adj" fmla="val 6250"/>
            </a:avLst>
          </a:prstGeom>
          <a:solidFill>
            <a:srgbClr val="FBE9E7"/>
          </a:solidFill>
          <a:ln w="12700">
            <a:solidFill>
              <a:srgbClr val="C0392B"/>
            </a:solidFill>
            <a:prstDash val="solid"/>
          </a:ln>
        </p:spPr>
      </p:sp>
      <p:sp>
        <p:nvSpPr>
          <p:cNvPr id="12" name="Text 10"/>
          <p:cNvSpPr txBox="1"/>
          <p:nvPr/>
        </p:nvSpPr>
        <p:spPr>
          <a:xfrm>
            <a:off x="2834640" y="1371600"/>
            <a:ext cx="1783080" cy="731520"/>
          </a:xfrm>
          <a:prstGeom prst="rect">
            <a:avLst/>
          </a:prstGeom>
          <a:noFill/>
          <a:ln/>
        </p:spPr>
        <p:txBody>
          <a:bodyPr wrap="square" lIns="0" tIns="0" rIns="0" bIns="0" rtlCol="0" anchor="ctr"/>
          <a:lstStyle/>
          <a:p>
            <a:pPr algn="ctr" indent="0" marL="0">
              <a:buNone/>
            </a:pPr>
            <a:r>
              <a:rPr lang="en-US" sz="1000" b="1" dirty="0">
                <a:solidFill>
                  <a:srgbClr val="1F2937"/>
                </a:solidFill>
                <a:latin typeface="Calibri" pitchFamily="34" charset="0"/>
                <a:ea typeface="Calibri" pitchFamily="34" charset="-122"/>
                <a:cs typeface="Calibri" pitchFamily="34" charset="-120"/>
              </a:rPr>
              <a:t>Serveur unique</a:t>
            </a:r>
            <a:endParaRPr lang="en-US" sz="1000" dirty="0"/>
          </a:p>
          <a:p>
            <a:pPr algn="ctr" indent="0" marL="0">
              <a:buNone/>
            </a:pPr>
            <a:r>
              <a:rPr lang="en-US" sz="1000" b="1" dirty="0">
                <a:solidFill>
                  <a:srgbClr val="1F2937"/>
                </a:solidFill>
                <a:latin typeface="Calibri" pitchFamily="34" charset="0"/>
                <a:ea typeface="Calibri" pitchFamily="34" charset="-122"/>
                <a:cs typeface="Calibri" pitchFamily="34" charset="-120"/>
              </a:rPr>
              <a:t>application + base de données</a:t>
            </a:r>
            <a:endParaRPr lang="en-US" sz="1000" dirty="0"/>
          </a:p>
        </p:txBody>
      </p:sp>
      <p:sp>
        <p:nvSpPr>
          <p:cNvPr id="13" name="Shape 11"/>
          <p:cNvSpPr/>
          <p:nvPr/>
        </p:nvSpPr>
        <p:spPr>
          <a:xfrm>
            <a:off x="1371600" y="1737360"/>
            <a:ext cx="228600" cy="0"/>
          </a:xfrm>
          <a:prstGeom prst="line">
            <a:avLst/>
          </a:prstGeom>
          <a:noFill/>
          <a:ln w="19050">
            <a:solidFill>
              <a:srgbClr val="1F3A8A"/>
            </a:solidFill>
            <a:prstDash val="solid"/>
            <a:tailEnd type="triangle"/>
          </a:ln>
        </p:spPr>
      </p:sp>
      <p:sp>
        <p:nvSpPr>
          <p:cNvPr id="14" name="Shape 12"/>
          <p:cNvSpPr/>
          <p:nvPr/>
        </p:nvSpPr>
        <p:spPr>
          <a:xfrm>
            <a:off x="2514600" y="1737360"/>
            <a:ext cx="274320" cy="0"/>
          </a:xfrm>
          <a:prstGeom prst="line">
            <a:avLst/>
          </a:prstGeom>
          <a:noFill/>
          <a:ln w="19050">
            <a:solidFill>
              <a:srgbClr val="1F3A8A"/>
            </a:solidFill>
            <a:prstDash val="solid"/>
            <a:tailEnd type="triangle"/>
          </a:ln>
        </p:spPr>
      </p:sp>
      <p:sp>
        <p:nvSpPr>
          <p:cNvPr id="15" name="Shape 13"/>
          <p:cNvSpPr/>
          <p:nvPr/>
        </p:nvSpPr>
        <p:spPr>
          <a:xfrm>
            <a:off x="457200" y="2377440"/>
            <a:ext cx="2057400" cy="457200"/>
          </a:xfrm>
          <a:prstGeom prst="roundRect">
            <a:avLst>
              <a:gd name="adj" fmla="val 10000"/>
            </a:avLst>
          </a:prstGeom>
          <a:solidFill>
            <a:srgbClr val="F3F6FC"/>
          </a:solidFill>
          <a:ln w="12700">
            <a:solidFill>
              <a:srgbClr val="D5DBE8"/>
            </a:solidFill>
            <a:prstDash val="solid"/>
          </a:ln>
        </p:spPr>
      </p:sp>
      <p:sp>
        <p:nvSpPr>
          <p:cNvPr id="16" name="Text 14"/>
          <p:cNvSpPr txBox="1"/>
          <p:nvPr/>
        </p:nvSpPr>
        <p:spPr>
          <a:xfrm>
            <a:off x="502920" y="2377440"/>
            <a:ext cx="1965960" cy="457200"/>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Poste du développeur</a:t>
            </a:r>
            <a:endParaRPr lang="en-US" sz="900" dirty="0"/>
          </a:p>
          <a:p>
            <a:pPr algn="ctr" indent="0" marL="0">
              <a:buNone/>
            </a:pPr>
            <a:r>
              <a:rPr lang="en-US" sz="900" dirty="0">
                <a:solidFill>
                  <a:srgbClr val="1F2937"/>
                </a:solidFill>
                <a:latin typeface="Calibri" pitchFamily="34" charset="0"/>
                <a:ea typeface="Calibri" pitchFamily="34" charset="-122"/>
                <a:cs typeface="Calibri" pitchFamily="34" charset="-120"/>
              </a:rPr>
              <a:t>script + clé permanente</a:t>
            </a:r>
            <a:endParaRPr lang="en-US" sz="900" dirty="0"/>
          </a:p>
        </p:txBody>
      </p:sp>
      <p:sp>
        <p:nvSpPr>
          <p:cNvPr id="17" name="Shape 15"/>
          <p:cNvSpPr/>
          <p:nvPr/>
        </p:nvSpPr>
        <p:spPr>
          <a:xfrm>
            <a:off x="2606040" y="2377440"/>
            <a:ext cx="2057400" cy="457200"/>
          </a:xfrm>
          <a:prstGeom prst="roundRect">
            <a:avLst>
              <a:gd name="adj" fmla="val 10000"/>
            </a:avLst>
          </a:prstGeom>
          <a:solidFill>
            <a:srgbClr val="F3F6FC"/>
          </a:solidFill>
          <a:ln w="12700">
            <a:solidFill>
              <a:srgbClr val="D5DBE8"/>
            </a:solidFill>
            <a:prstDash val="solid"/>
          </a:ln>
        </p:spPr>
      </p:sp>
      <p:sp>
        <p:nvSpPr>
          <p:cNvPr id="18" name="Text 16"/>
          <p:cNvSpPr txBox="1"/>
          <p:nvPr/>
        </p:nvSpPr>
        <p:spPr>
          <a:xfrm>
            <a:off x="2651760" y="2377440"/>
            <a:ext cx="1965960" cy="457200"/>
          </a:xfrm>
          <a:prstGeom prst="rect">
            <a:avLst/>
          </a:prstGeom>
          <a:noFill/>
          <a:ln/>
        </p:spPr>
        <p:txBody>
          <a:bodyPr wrap="square" lIns="0" tIns="0" rIns="0" bIns="0" rtlCol="0" anchor="ctr"/>
          <a:lstStyle/>
          <a:p>
            <a:pPr algn="ctr" indent="0" marL="0">
              <a:buNone/>
            </a:pPr>
            <a:r>
              <a:rPr lang="en-US" sz="900" dirty="0">
                <a:solidFill>
                  <a:srgbClr val="1F2937"/>
                </a:solidFill>
                <a:latin typeface="Calibri" pitchFamily="34" charset="0"/>
                <a:ea typeface="Calibri" pitchFamily="34" charset="-122"/>
                <a:cs typeface="Calibri" pitchFamily="34" charset="-120"/>
              </a:rPr>
              <a:t>Administrateur en SSH</a:t>
            </a:r>
            <a:endParaRPr lang="en-US" sz="900" dirty="0"/>
          </a:p>
        </p:txBody>
      </p:sp>
      <p:sp>
        <p:nvSpPr>
          <p:cNvPr id="19" name="Shape 17"/>
          <p:cNvSpPr/>
          <p:nvPr/>
        </p:nvSpPr>
        <p:spPr>
          <a:xfrm>
            <a:off x="1463040" y="2377440"/>
            <a:ext cx="1645920" cy="-274320"/>
          </a:xfrm>
          <a:prstGeom prst="line">
            <a:avLst/>
          </a:prstGeom>
          <a:noFill/>
          <a:ln w="19050">
            <a:solidFill>
              <a:srgbClr val="C0392B"/>
            </a:solidFill>
            <a:prstDash val="solid"/>
            <a:tailEnd type="triangle"/>
          </a:ln>
        </p:spPr>
      </p:sp>
      <p:sp>
        <p:nvSpPr>
          <p:cNvPr id="20" name="Shape 18"/>
          <p:cNvSpPr/>
          <p:nvPr/>
        </p:nvSpPr>
        <p:spPr>
          <a:xfrm>
            <a:off x="3657600" y="2377440"/>
            <a:ext cx="0" cy="-274320"/>
          </a:xfrm>
          <a:prstGeom prst="line">
            <a:avLst/>
          </a:prstGeom>
          <a:noFill/>
          <a:ln w="19050">
            <a:solidFill>
              <a:srgbClr val="C0392B"/>
            </a:solidFill>
            <a:prstDash val="solid"/>
            <a:tailEnd type="triangle"/>
          </a:ln>
        </p:spPr>
      </p:sp>
      <p:sp>
        <p:nvSpPr>
          <p:cNvPr id="21" name="Text 19"/>
          <p:cNvSpPr txBox="1"/>
          <p:nvPr/>
        </p:nvSpPr>
        <p:spPr>
          <a:xfrm>
            <a:off x="457200" y="3017520"/>
            <a:ext cx="4206240" cy="1554480"/>
          </a:xfrm>
          <a:prstGeom prst="rect">
            <a:avLst/>
          </a:prstGeom>
          <a:noFill/>
          <a:ln/>
        </p:spPr>
        <p:txBody>
          <a:bodyPr wrap="square" lIns="0" tIns="0" rIns="0" bIns="0" rtlCol="0" anchor="t"/>
          <a:lstStyle/>
          <a:p>
            <a:pPr indent="0" marL="0">
              <a:spcAft>
                <a:spcPts val="400"/>
              </a:spcAft>
              <a:buNone/>
            </a:pPr>
            <a:r>
              <a:rPr lang="en-US" sz="1050" b="1" dirty="0">
                <a:solidFill>
                  <a:srgbClr val="1F2937"/>
                </a:solidFill>
                <a:latin typeface="Calibri" pitchFamily="34" charset="0"/>
                <a:ea typeface="Calibri" pitchFamily="34" charset="-122"/>
                <a:cs typeface="Calibri" pitchFamily="34" charset="-120"/>
              </a:rPr>
              <a:t>Un seul contrôle : la frontière. </a:t>
            </a:r>
            <a:pPr indent="0" marL="0">
              <a:spcAft>
                <a:spcPts val="400"/>
              </a:spcAft>
              <a:buNone/>
            </a:pPr>
            <a:r>
              <a:rPr lang="en-US" sz="1050" dirty="0">
                <a:solidFill>
                  <a:srgbClr val="1F2937"/>
                </a:solidFill>
                <a:latin typeface="Calibri" pitchFamily="34" charset="0"/>
                <a:ea typeface="Calibri" pitchFamily="34" charset="-122"/>
                <a:cs typeface="Calibri" pitchFamily="34" charset="-120"/>
              </a:rPr>
              <a:t>À l'intérieur, tout processus joint la base ; un même secret sert à tout.</a:t>
            </a:r>
            <a:endParaRPr lang="en-US" sz="1050" dirty="0"/>
          </a:p>
          <a:p>
            <a:pPr indent="0" marL="0">
              <a:spcAft>
                <a:spcPts val="400"/>
              </a:spcAft>
              <a:buNone/>
            </a:pPr>
            <a:r>
              <a:rPr lang="en-US" sz="1050" b="1" dirty="0">
                <a:solidFill>
                  <a:srgbClr val="1F2937"/>
                </a:solidFill>
                <a:latin typeface="Calibri" pitchFamily="34" charset="0"/>
                <a:ea typeface="Calibri" pitchFamily="34" charset="-122"/>
                <a:cs typeface="Calibri" pitchFamily="34" charset="-120"/>
              </a:rPr>
              <a:t>Rien n'est reproductible : </a:t>
            </a:r>
            <a:pPr indent="0" marL="0">
              <a:spcAft>
                <a:spcPts val="400"/>
              </a:spcAft>
              <a:buNone/>
            </a:pPr>
            <a:r>
              <a:rPr lang="en-US" sz="1050" dirty="0">
                <a:solidFill>
                  <a:srgbClr val="1F2937"/>
                </a:solidFill>
                <a:latin typeface="Calibri" pitchFamily="34" charset="0"/>
                <a:ea typeface="Calibri" pitchFamily="34" charset="-122"/>
                <a:cs typeface="Calibri" pitchFamily="34" charset="-120"/>
              </a:rPr>
              <a:t>serveur configuré à la main, connaissance dans une tête.</a:t>
            </a:r>
            <a:endParaRPr lang="en-US" sz="1050" dirty="0"/>
          </a:p>
          <a:p>
            <a:pPr indent="0" marL="0">
              <a:spcAft>
                <a:spcPts val="400"/>
              </a:spcAft>
              <a:buNone/>
            </a:pPr>
            <a:r>
              <a:rPr lang="en-US" sz="1050" b="1" dirty="0">
                <a:solidFill>
                  <a:srgbClr val="1F2937"/>
                </a:solidFill>
                <a:latin typeface="Calibri" pitchFamily="34" charset="0"/>
                <a:ea typeface="Calibri" pitchFamily="34" charset="-122"/>
                <a:cs typeface="Calibri" pitchFamily="34" charset="-120"/>
              </a:rPr>
              <a:t>Déploiement invisible : </a:t>
            </a:r>
            <a:pPr indent="0" marL="0">
              <a:spcAft>
                <a:spcPts val="400"/>
              </a:spcAft>
              <a:buNone/>
            </a:pPr>
            <a:r>
              <a:rPr lang="en-US" sz="1050" dirty="0">
                <a:solidFill>
                  <a:srgbClr val="1F2937"/>
                </a:solidFill>
                <a:latin typeface="Calibri" pitchFamily="34" charset="0"/>
                <a:ea typeface="Calibri" pitchFamily="34" charset="-122"/>
                <a:cs typeface="Calibri" pitchFamily="34" charset="-120"/>
              </a:rPr>
              <a:t>aucune analyse du code, des secrets ni des dépendances.</a:t>
            </a:r>
            <a:endParaRPr lang="en-US" sz="1050" dirty="0"/>
          </a:p>
          <a:p>
            <a:pPr indent="0" marL="0">
              <a:spcAft>
                <a:spcPts val="400"/>
              </a:spcAft>
              <a:buNone/>
            </a:pPr>
            <a:r>
              <a:rPr lang="en-US" sz="1050" b="1" dirty="0">
                <a:solidFill>
                  <a:srgbClr val="1F2937"/>
                </a:solidFill>
                <a:latin typeface="Calibri" pitchFamily="34" charset="0"/>
                <a:ea typeface="Calibri" pitchFamily="34" charset="-122"/>
                <a:cs typeface="Calibri" pitchFamily="34" charset="-120"/>
              </a:rPr>
              <a:t>Aucune supervision : </a:t>
            </a:r>
            <a:pPr indent="0" marL="0">
              <a:spcAft>
                <a:spcPts val="400"/>
              </a:spcAft>
              <a:buNone/>
            </a:pPr>
            <a:r>
              <a:rPr lang="en-US" sz="1050" dirty="0">
                <a:solidFill>
                  <a:srgbClr val="1F2937"/>
                </a:solidFill>
                <a:latin typeface="Calibri" pitchFamily="34" charset="0"/>
                <a:ea typeface="Calibri" pitchFamily="34" charset="-122"/>
                <a:cs typeface="Calibri" pitchFamily="34" charset="-120"/>
              </a:rPr>
              <a:t>journaux locaux, une attaque réussie resterait inaperçue.</a:t>
            </a:r>
            <a:endParaRPr lang="en-US" sz="1050" dirty="0"/>
          </a:p>
        </p:txBody>
      </p:sp>
      <p:sp>
        <p:nvSpPr>
          <p:cNvPr id="22" name="Shape 20"/>
          <p:cNvSpPr/>
          <p:nvPr/>
        </p:nvSpPr>
        <p:spPr>
          <a:xfrm>
            <a:off x="4937760" y="1097280"/>
            <a:ext cx="3749040" cy="1783080"/>
          </a:xfrm>
          <a:prstGeom prst="roundRect">
            <a:avLst>
              <a:gd name="adj" fmla="val 3077"/>
            </a:avLst>
          </a:prstGeom>
          <a:solidFill>
            <a:srgbClr val="1F3A8A"/>
          </a:solidFill>
          <a:ln w="12700">
            <a:solidFill>
              <a:srgbClr val="1F3A8A"/>
            </a:solidFill>
            <a:prstDash val="solid"/>
          </a:ln>
        </p:spPr>
      </p:sp>
      <p:sp>
        <p:nvSpPr>
          <p:cNvPr id="23" name="Text 21"/>
          <p:cNvSpPr txBox="1"/>
          <p:nvPr/>
        </p:nvSpPr>
        <p:spPr>
          <a:xfrm>
            <a:off x="5120640" y="1188720"/>
            <a:ext cx="3383280" cy="1600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Comment une entreprise émergente — une personne technique, quelques dizaines d'euros par mois — peut-elle construire une plateforme d'hébergement Zero Trust et DevSecOps, réutilisable pour plusieurs applications, dont la sécurité se démontre au lieu de s'affirmer ?</a:t>
            </a:r>
            <a:endParaRPr lang="en-US" sz="1250" dirty="0"/>
          </a:p>
        </p:txBody>
      </p:sp>
      <p:sp>
        <p:nvSpPr>
          <p:cNvPr id="24" name="Shape 22"/>
          <p:cNvSpPr/>
          <p:nvPr/>
        </p:nvSpPr>
        <p:spPr>
          <a:xfrm>
            <a:off x="4937760" y="3090672"/>
            <a:ext cx="237744" cy="237744"/>
          </a:xfrm>
          <a:prstGeom prst="ellipse">
            <a:avLst/>
          </a:prstGeom>
          <a:solidFill>
            <a:srgbClr val="D98E1F"/>
          </a:solidFill>
          <a:ln w="12700">
            <a:solidFill>
              <a:srgbClr val="D98E1F"/>
            </a:solidFill>
            <a:prstDash val="solid"/>
          </a:ln>
        </p:spPr>
      </p:sp>
      <p:sp>
        <p:nvSpPr>
          <p:cNvPr id="25" name="Text 23"/>
          <p:cNvSpPr txBox="1"/>
          <p:nvPr/>
        </p:nvSpPr>
        <p:spPr>
          <a:xfrm>
            <a:off x="5303520" y="3017520"/>
            <a:ext cx="3383280" cy="384048"/>
          </a:xfrm>
          <a:prstGeom prst="rect">
            <a:avLst/>
          </a:prstGeom>
          <a:noFill/>
          <a:ln/>
        </p:spPr>
        <p:txBody>
          <a:bodyPr wrap="square" lIns="0" tIns="0" rIns="0" bIns="0" rtlCol="0" anchor="ctr"/>
          <a:lstStyle/>
          <a:p>
            <a:pPr indent="0" marL="0">
              <a:buNone/>
            </a:pPr>
            <a:r>
              <a:rPr lang="en-US" sz="1100" b="1" dirty="0">
                <a:solidFill>
                  <a:srgbClr val="1F3A8A"/>
                </a:solidFill>
                <a:latin typeface="Calibri" pitchFamily="34" charset="0"/>
                <a:ea typeface="Calibri" pitchFamily="34" charset="-122"/>
                <a:cs typeface="Calibri" pitchFamily="34" charset="-120"/>
              </a:rPr>
              <a:t>Accès : </a:t>
            </a:r>
            <a:pPr indent="0" marL="0">
              <a:buNone/>
            </a:pPr>
            <a:r>
              <a:rPr lang="en-US" sz="1100" dirty="0">
                <a:solidFill>
                  <a:srgbClr val="1F2937"/>
                </a:solidFill>
                <a:latin typeface="Calibri" pitchFamily="34" charset="0"/>
                <a:ea typeface="Calibri" pitchFamily="34" charset="-122"/>
                <a:cs typeface="Calibri" pitchFamily="34" charset="-120"/>
              </a:rPr>
              <a:t>l'identité, pas la position réseau</a:t>
            </a:r>
            <a:endParaRPr lang="en-US" sz="1100" dirty="0"/>
          </a:p>
        </p:txBody>
      </p:sp>
      <p:sp>
        <p:nvSpPr>
          <p:cNvPr id="26" name="Shape 24"/>
          <p:cNvSpPr/>
          <p:nvPr/>
        </p:nvSpPr>
        <p:spPr>
          <a:xfrm>
            <a:off x="4937760" y="3474720"/>
            <a:ext cx="237744" cy="237744"/>
          </a:xfrm>
          <a:prstGeom prst="ellipse">
            <a:avLst/>
          </a:prstGeom>
          <a:solidFill>
            <a:srgbClr val="D98E1F"/>
          </a:solidFill>
          <a:ln w="12700">
            <a:solidFill>
              <a:srgbClr val="D98E1F"/>
            </a:solidFill>
            <a:prstDash val="solid"/>
          </a:ln>
        </p:spPr>
      </p:sp>
      <p:sp>
        <p:nvSpPr>
          <p:cNvPr id="27" name="Text 25"/>
          <p:cNvSpPr txBox="1"/>
          <p:nvPr/>
        </p:nvSpPr>
        <p:spPr>
          <a:xfrm>
            <a:off x="5303520" y="3401568"/>
            <a:ext cx="3383280" cy="384048"/>
          </a:xfrm>
          <a:prstGeom prst="rect">
            <a:avLst/>
          </a:prstGeom>
          <a:noFill/>
          <a:ln/>
        </p:spPr>
        <p:txBody>
          <a:bodyPr wrap="square" lIns="0" tIns="0" rIns="0" bIns="0" rtlCol="0" anchor="ctr"/>
          <a:lstStyle/>
          <a:p>
            <a:pPr indent="0" marL="0">
              <a:buNone/>
            </a:pPr>
            <a:r>
              <a:rPr lang="en-US" sz="1100" b="1" dirty="0">
                <a:solidFill>
                  <a:srgbClr val="1F3A8A"/>
                </a:solidFill>
                <a:latin typeface="Calibri" pitchFamily="34" charset="0"/>
                <a:ea typeface="Calibri" pitchFamily="34" charset="-122"/>
                <a:cs typeface="Calibri" pitchFamily="34" charset="-120"/>
              </a:rPr>
              <a:t>Infrastructure : </a:t>
            </a:r>
            <a:pPr indent="0" marL="0">
              <a:buNone/>
            </a:pPr>
            <a:r>
              <a:rPr lang="en-US" sz="1100" dirty="0">
                <a:solidFill>
                  <a:srgbClr val="1F2937"/>
                </a:solidFill>
                <a:latin typeface="Calibri" pitchFamily="34" charset="0"/>
                <a:ea typeface="Calibri" pitchFamily="34" charset="-122"/>
                <a:cs typeface="Calibri" pitchFamily="34" charset="-120"/>
              </a:rPr>
              <a:t>tout en code, dérive détectée</a:t>
            </a:r>
            <a:endParaRPr lang="en-US" sz="1100" dirty="0"/>
          </a:p>
        </p:txBody>
      </p:sp>
      <p:sp>
        <p:nvSpPr>
          <p:cNvPr id="28" name="Shape 26"/>
          <p:cNvSpPr/>
          <p:nvPr/>
        </p:nvSpPr>
        <p:spPr>
          <a:xfrm>
            <a:off x="4937760" y="3858768"/>
            <a:ext cx="237744" cy="237744"/>
          </a:xfrm>
          <a:prstGeom prst="ellipse">
            <a:avLst/>
          </a:prstGeom>
          <a:solidFill>
            <a:srgbClr val="D98E1F"/>
          </a:solidFill>
          <a:ln w="12700">
            <a:solidFill>
              <a:srgbClr val="D98E1F"/>
            </a:solidFill>
            <a:prstDash val="solid"/>
          </a:ln>
        </p:spPr>
      </p:sp>
      <p:sp>
        <p:nvSpPr>
          <p:cNvPr id="29" name="Text 27"/>
          <p:cNvSpPr txBox="1"/>
          <p:nvPr/>
        </p:nvSpPr>
        <p:spPr>
          <a:xfrm>
            <a:off x="5303520" y="3785616"/>
            <a:ext cx="3383280" cy="384048"/>
          </a:xfrm>
          <a:prstGeom prst="rect">
            <a:avLst/>
          </a:prstGeom>
          <a:noFill/>
          <a:ln/>
        </p:spPr>
        <p:txBody>
          <a:bodyPr wrap="square" lIns="0" tIns="0" rIns="0" bIns="0" rtlCol="0" anchor="ctr"/>
          <a:lstStyle/>
          <a:p>
            <a:pPr indent="0" marL="0">
              <a:buNone/>
            </a:pPr>
            <a:r>
              <a:rPr lang="en-US" sz="1100" b="1" dirty="0">
                <a:solidFill>
                  <a:srgbClr val="1F3A8A"/>
                </a:solidFill>
                <a:latin typeface="Calibri" pitchFamily="34" charset="0"/>
                <a:ea typeface="Calibri" pitchFamily="34" charset="-122"/>
                <a:cs typeface="Calibri" pitchFamily="34" charset="-120"/>
              </a:rPr>
              <a:t>Livraison : </a:t>
            </a:r>
            <a:pPr indent="0" marL="0">
              <a:buNone/>
            </a:pPr>
            <a:r>
              <a:rPr lang="en-US" sz="1100" dirty="0">
                <a:solidFill>
                  <a:srgbClr val="1F2937"/>
                </a:solidFill>
                <a:latin typeface="Calibri" pitchFamily="34" charset="0"/>
                <a:ea typeface="Calibri" pitchFamily="34" charset="-122"/>
                <a:cs typeface="Calibri" pitchFamily="34" charset="-120"/>
              </a:rPr>
              <a:t>aucun déploiement sans contrôle ni clé</a:t>
            </a:r>
            <a:endParaRPr lang="en-US" sz="1100" dirty="0"/>
          </a:p>
        </p:txBody>
      </p:sp>
      <p:sp>
        <p:nvSpPr>
          <p:cNvPr id="30" name="Shape 28"/>
          <p:cNvSpPr/>
          <p:nvPr/>
        </p:nvSpPr>
        <p:spPr>
          <a:xfrm>
            <a:off x="4937760" y="4242816"/>
            <a:ext cx="237744" cy="237744"/>
          </a:xfrm>
          <a:prstGeom prst="ellipse">
            <a:avLst/>
          </a:prstGeom>
          <a:solidFill>
            <a:srgbClr val="D98E1F"/>
          </a:solidFill>
          <a:ln w="12700">
            <a:solidFill>
              <a:srgbClr val="D98E1F"/>
            </a:solidFill>
            <a:prstDash val="solid"/>
          </a:ln>
        </p:spPr>
      </p:sp>
      <p:sp>
        <p:nvSpPr>
          <p:cNvPr id="31" name="Text 29"/>
          <p:cNvSpPr txBox="1"/>
          <p:nvPr/>
        </p:nvSpPr>
        <p:spPr>
          <a:xfrm>
            <a:off x="5303520" y="4169664"/>
            <a:ext cx="3383280" cy="384048"/>
          </a:xfrm>
          <a:prstGeom prst="rect">
            <a:avLst/>
          </a:prstGeom>
          <a:noFill/>
          <a:ln/>
        </p:spPr>
        <p:txBody>
          <a:bodyPr wrap="square" lIns="0" tIns="0" rIns="0" bIns="0" rtlCol="0" anchor="ctr"/>
          <a:lstStyle/>
          <a:p>
            <a:pPr indent="0" marL="0">
              <a:buNone/>
            </a:pPr>
            <a:r>
              <a:rPr lang="en-US" sz="1100" b="1" dirty="0">
                <a:solidFill>
                  <a:srgbClr val="1F3A8A"/>
                </a:solidFill>
                <a:latin typeface="Calibri" pitchFamily="34" charset="0"/>
                <a:ea typeface="Calibri" pitchFamily="34" charset="-122"/>
                <a:cs typeface="Calibri" pitchFamily="34" charset="-120"/>
              </a:rPr>
              <a:t>Supervision : </a:t>
            </a:r>
            <a:pPr indent="0" marL="0">
              <a:buNone/>
            </a:pPr>
            <a:r>
              <a:rPr lang="en-US" sz="1100" dirty="0">
                <a:solidFill>
                  <a:srgbClr val="1F2937"/>
                </a:solidFill>
                <a:latin typeface="Calibri" pitchFamily="34" charset="0"/>
                <a:ea typeface="Calibri" pitchFamily="34" charset="-122"/>
                <a:cs typeface="Calibri" pitchFamily="34" charset="-120"/>
              </a:rPr>
              <a:t>détecter en minutes, aider à qualifier</a:t>
            </a:r>
            <a:endParaRPr lang="en-US" sz="1100" dirty="0"/>
          </a:p>
        </p:txBody>
      </p:sp>
      <p:sp>
        <p:nvSpPr>
          <p:cNvPr id="32" name="Text 30"/>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33" name="Text 31"/>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SOLUTION</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Le socle : la sécurité incluse pour chaque application</a:t>
            </a:r>
            <a:endParaRPr lang="en-US" sz="2400" dirty="0"/>
          </a:p>
        </p:txBody>
      </p:sp>
      <p:pic>
        <p:nvPicPr>
          <p:cNvPr id="6" name="Image 0" descr="/home/claude/work/pres/assets/fig2_1_zerotrust.png">    </p:cNvPr>
          <p:cNvPicPr>
            <a:picLocks noChangeAspect="1"/>
          </p:cNvPicPr>
          <p:nvPr/>
        </p:nvPicPr>
        <p:blipFill>
          <a:blip r:embed="rId1"/>
          <a:srcRect l="0" r="0" t="0" b="0"/>
          <a:stretch/>
        </p:blipFill>
        <p:spPr>
          <a:xfrm>
            <a:off x="457200" y="1051560"/>
            <a:ext cx="3291840" cy="1417320"/>
          </a:xfrm>
          <a:prstGeom prst="rect">
            <a:avLst/>
          </a:prstGeom>
        </p:spPr>
      </p:pic>
      <p:sp>
        <p:nvSpPr>
          <p:cNvPr id="7" name="Text 4"/>
          <p:cNvSpPr txBox="1"/>
          <p:nvPr/>
        </p:nvSpPr>
        <p:spPr>
          <a:xfrm>
            <a:off x="457200" y="2487168"/>
            <a:ext cx="3291840" cy="256032"/>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Du périmètre (A) au Zero Trust (B) : un point de décision vérifie chaque accès</a:t>
            </a:r>
            <a:endParaRPr lang="en-US" sz="900" dirty="0"/>
          </a:p>
        </p:txBody>
      </p:sp>
      <p:sp>
        <p:nvSpPr>
          <p:cNvPr id="8" name="Shape 5"/>
          <p:cNvSpPr/>
          <p:nvPr/>
        </p:nvSpPr>
        <p:spPr>
          <a:xfrm>
            <a:off x="3977640" y="1051560"/>
            <a:ext cx="1508760" cy="1691640"/>
          </a:xfrm>
          <a:prstGeom prst="roundRect">
            <a:avLst>
              <a:gd name="adj" fmla="val 3636"/>
            </a:avLst>
          </a:prstGeom>
          <a:solidFill>
            <a:srgbClr val="F3F6FC"/>
          </a:solidFill>
          <a:ln w="9525">
            <a:solidFill>
              <a:srgbClr val="D5DBE8"/>
            </a:solidFill>
            <a:prstDash val="solid"/>
          </a:ln>
        </p:spPr>
      </p:sp>
      <p:sp>
        <p:nvSpPr>
          <p:cNvPr id="9" name="Text 6"/>
          <p:cNvSpPr txBox="1"/>
          <p:nvPr/>
        </p:nvSpPr>
        <p:spPr>
          <a:xfrm>
            <a:off x="4114800" y="1143000"/>
            <a:ext cx="123444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Zero Trust</a:t>
            </a:r>
            <a:endParaRPr lang="en-US" sz="1300" dirty="0"/>
          </a:p>
        </p:txBody>
      </p:sp>
      <p:sp>
        <p:nvSpPr>
          <p:cNvPr id="10" name="Text 7"/>
          <p:cNvSpPr txBox="1"/>
          <p:nvPr/>
        </p:nvSpPr>
        <p:spPr>
          <a:xfrm>
            <a:off x="4114800" y="1463040"/>
            <a:ext cx="1234440" cy="118872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Point d'entrée unique, WAF</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Une identité par service</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Zéro clé stockée</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Base privée</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Administrateur à deux facteurs</a:t>
            </a:r>
            <a:endParaRPr lang="en-US" sz="950" dirty="0"/>
          </a:p>
        </p:txBody>
      </p:sp>
      <p:sp>
        <p:nvSpPr>
          <p:cNvPr id="11" name="Shape 8"/>
          <p:cNvSpPr/>
          <p:nvPr/>
        </p:nvSpPr>
        <p:spPr>
          <a:xfrm>
            <a:off x="5577840" y="1051560"/>
            <a:ext cx="1508760" cy="1691640"/>
          </a:xfrm>
          <a:prstGeom prst="roundRect">
            <a:avLst>
              <a:gd name="adj" fmla="val 3636"/>
            </a:avLst>
          </a:prstGeom>
          <a:solidFill>
            <a:srgbClr val="F3F6FC"/>
          </a:solidFill>
          <a:ln w="9525">
            <a:solidFill>
              <a:srgbClr val="D5DBE8"/>
            </a:solidFill>
            <a:prstDash val="solid"/>
          </a:ln>
        </p:spPr>
      </p:sp>
      <p:sp>
        <p:nvSpPr>
          <p:cNvPr id="12" name="Text 9"/>
          <p:cNvSpPr txBox="1"/>
          <p:nvPr/>
        </p:nvSpPr>
        <p:spPr>
          <a:xfrm>
            <a:off x="5715000" y="1143000"/>
            <a:ext cx="123444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Supervision</a:t>
            </a:r>
            <a:endParaRPr lang="en-US" sz="1300" dirty="0"/>
          </a:p>
        </p:txBody>
      </p:sp>
      <p:sp>
        <p:nvSpPr>
          <p:cNvPr id="13" name="Text 10"/>
          <p:cNvSpPr txBox="1"/>
          <p:nvPr/>
        </p:nvSpPr>
        <p:spPr>
          <a:xfrm>
            <a:off x="5715000" y="1463040"/>
            <a:ext cx="1234440" cy="118872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Journaux en flux vers l'entrepôt</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Un auteur par table</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Tableau de bord temps réel</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Verdicts conservés</a:t>
            </a:r>
            <a:endParaRPr lang="en-US" sz="950" dirty="0"/>
          </a:p>
        </p:txBody>
      </p:sp>
      <p:sp>
        <p:nvSpPr>
          <p:cNvPr id="14" name="Shape 11"/>
          <p:cNvSpPr/>
          <p:nvPr/>
        </p:nvSpPr>
        <p:spPr>
          <a:xfrm>
            <a:off x="7178040" y="1051560"/>
            <a:ext cx="1508760" cy="1691640"/>
          </a:xfrm>
          <a:prstGeom prst="roundRect">
            <a:avLst>
              <a:gd name="adj" fmla="val 3636"/>
            </a:avLst>
          </a:prstGeom>
          <a:solidFill>
            <a:srgbClr val="F3F6FC"/>
          </a:solidFill>
          <a:ln w="9525">
            <a:solidFill>
              <a:srgbClr val="D5DBE8"/>
            </a:solidFill>
            <a:prstDash val="solid"/>
          </a:ln>
        </p:spPr>
      </p:sp>
      <p:sp>
        <p:nvSpPr>
          <p:cNvPr id="15" name="Text 12"/>
          <p:cNvSpPr txBox="1"/>
          <p:nvPr/>
        </p:nvSpPr>
        <p:spPr>
          <a:xfrm>
            <a:off x="7315200" y="1143000"/>
            <a:ext cx="123444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Détection</a:t>
            </a:r>
            <a:endParaRPr lang="en-US" sz="1300" dirty="0"/>
          </a:p>
        </p:txBody>
      </p:sp>
      <p:sp>
        <p:nvSpPr>
          <p:cNvPr id="16" name="Text 13"/>
          <p:cNvSpPr txBox="1"/>
          <p:nvPr/>
        </p:nvSpPr>
        <p:spPr>
          <a:xfrm>
            <a:off x="7315200" y="1463040"/>
            <a:ext cx="1234440" cy="118872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7 règles versionnées</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Corrélation par entité</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Qualification ATT&amp;CK-BERT</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Incident &lt; 3 minutes</a:t>
            </a:r>
            <a:endParaRPr lang="en-US" sz="950" dirty="0"/>
          </a:p>
        </p:txBody>
      </p:sp>
      <p:sp>
        <p:nvSpPr>
          <p:cNvPr id="17" name="Shape 14"/>
          <p:cNvSpPr/>
          <p:nvPr/>
        </p:nvSpPr>
        <p:spPr>
          <a:xfrm>
            <a:off x="3977640" y="2852928"/>
            <a:ext cx="4709160" cy="502920"/>
          </a:xfrm>
          <a:prstGeom prst="roundRect">
            <a:avLst>
              <a:gd name="adj" fmla="val 10909"/>
            </a:avLst>
          </a:prstGeom>
          <a:solidFill>
            <a:srgbClr val="1F3A8A"/>
          </a:solidFill>
          <a:ln w="12700">
            <a:solidFill>
              <a:srgbClr val="1F3A8A"/>
            </a:solidFill>
            <a:prstDash val="solid"/>
          </a:ln>
        </p:spPr>
      </p:sp>
      <p:sp>
        <p:nvSpPr>
          <p:cNvPr id="18" name="Text 15"/>
          <p:cNvSpPr txBox="1"/>
          <p:nvPr/>
        </p:nvSpPr>
        <p:spPr>
          <a:xfrm>
            <a:off x="4114800" y="2852928"/>
            <a:ext cx="4480560" cy="502920"/>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Fondation : infrastructure en code (Terraform, 3 environnements) + chaîne DevSecOps à 4 portes bloquantes</a:t>
            </a:r>
            <a:endParaRPr lang="en-US" sz="1050" dirty="0"/>
          </a:p>
        </p:txBody>
      </p:sp>
      <p:sp>
        <p:nvSpPr>
          <p:cNvPr id="19" name="Text 16"/>
          <p:cNvSpPr txBox="1"/>
          <p:nvPr/>
        </p:nvSpPr>
        <p:spPr>
          <a:xfrm>
            <a:off x="457200" y="3520440"/>
            <a:ext cx="4023360" cy="502920"/>
          </a:xfrm>
          <a:prstGeom prst="rect">
            <a:avLst/>
          </a:prstGeom>
          <a:noFill/>
          <a:ln/>
        </p:spPr>
        <p:txBody>
          <a:bodyPr wrap="square" lIns="0" tIns="0" rIns="0" bIns="0" rtlCol="0" anchor="ctr"/>
          <a:lstStyle/>
          <a:p>
            <a:pPr indent="0" marL="0">
              <a:buNone/>
            </a:pPr>
            <a:r>
              <a:rPr lang="en-US" sz="1050" b="1" dirty="0">
                <a:solidFill>
                  <a:srgbClr val="1F3A8A"/>
                </a:solidFill>
                <a:latin typeface="Calibri" pitchFamily="34" charset="0"/>
                <a:ea typeface="Calibri" pitchFamily="34" charset="-122"/>
                <a:cs typeface="Calibri" pitchFamily="34" charset="-120"/>
              </a:rPr>
              <a:t>« L'identité décide »  </a:t>
            </a:r>
            <a:pPr indent="0" marL="0">
              <a:buNone/>
            </a:pPr>
            <a:r>
              <a:rPr lang="en-US" sz="1050" dirty="0">
                <a:solidFill>
                  <a:srgbClr val="1F2937"/>
                </a:solidFill>
                <a:latin typeface="Calibri" pitchFamily="34" charset="0"/>
                <a:ea typeface="Calibri" pitchFamily="34" charset="-122"/>
                <a:cs typeface="Calibri" pitchFamily="34" charset="-120"/>
              </a:rPr>
              <a:t>les droits suivent l'identité, jamais l'emplacement réseau</a:t>
            </a:r>
            <a:endParaRPr lang="en-US" sz="1050" dirty="0"/>
          </a:p>
        </p:txBody>
      </p:sp>
      <p:sp>
        <p:nvSpPr>
          <p:cNvPr id="20" name="Text 17"/>
          <p:cNvSpPr txBox="1"/>
          <p:nvPr/>
        </p:nvSpPr>
        <p:spPr>
          <a:xfrm>
            <a:off x="4617720" y="3520440"/>
            <a:ext cx="4023360" cy="502920"/>
          </a:xfrm>
          <a:prstGeom prst="rect">
            <a:avLst/>
          </a:prstGeom>
          <a:noFill/>
          <a:ln/>
        </p:spPr>
        <p:txBody>
          <a:bodyPr wrap="square" lIns="0" tIns="0" rIns="0" bIns="0" rtlCol="0" anchor="ctr"/>
          <a:lstStyle/>
          <a:p>
            <a:pPr indent="0" marL="0">
              <a:buNone/>
            </a:pPr>
            <a:r>
              <a:rPr lang="en-US" sz="1050" b="1" dirty="0">
                <a:solidFill>
                  <a:srgbClr val="1F3A8A"/>
                </a:solidFill>
                <a:latin typeface="Calibri" pitchFamily="34" charset="0"/>
                <a:ea typeface="Calibri" pitchFamily="34" charset="-122"/>
                <a:cs typeface="Calibri" pitchFamily="34" charset="-120"/>
              </a:rPr>
              <a:t>« Tout est en code »  </a:t>
            </a:r>
            <a:pPr indent="0" marL="0">
              <a:buNone/>
            </a:pPr>
            <a:r>
              <a:rPr lang="en-US" sz="1050" dirty="0">
                <a:solidFill>
                  <a:srgbClr val="1F2937"/>
                </a:solidFill>
                <a:latin typeface="Calibri" pitchFamily="34" charset="0"/>
                <a:ea typeface="Calibri" pitchFamily="34" charset="-122"/>
                <a:cs typeface="Calibri" pitchFamily="34" charset="-120"/>
              </a:rPr>
              <a:t>toute modification à la main devient une dérive détectable</a:t>
            </a:r>
            <a:endParaRPr lang="en-US" sz="1050" dirty="0"/>
          </a:p>
        </p:txBody>
      </p:sp>
      <p:sp>
        <p:nvSpPr>
          <p:cNvPr id="21" name="Text 18"/>
          <p:cNvSpPr txBox="1"/>
          <p:nvPr/>
        </p:nvSpPr>
        <p:spPr>
          <a:xfrm>
            <a:off x="457200" y="4069080"/>
            <a:ext cx="4023360" cy="502920"/>
          </a:xfrm>
          <a:prstGeom prst="rect">
            <a:avLst/>
          </a:prstGeom>
          <a:noFill/>
          <a:ln/>
        </p:spPr>
        <p:txBody>
          <a:bodyPr wrap="square" lIns="0" tIns="0" rIns="0" bIns="0" rtlCol="0" anchor="ctr"/>
          <a:lstStyle/>
          <a:p>
            <a:pPr indent="0" marL="0">
              <a:buNone/>
            </a:pPr>
            <a:r>
              <a:rPr lang="en-US" sz="1050" b="1" dirty="0">
                <a:solidFill>
                  <a:srgbClr val="1F3A8A"/>
                </a:solidFill>
                <a:latin typeface="Calibri" pitchFamily="34" charset="0"/>
                <a:ea typeface="Calibri" pitchFamily="34" charset="-122"/>
                <a:cs typeface="Calibri" pitchFamily="34" charset="-120"/>
              </a:rPr>
              <a:t>« Refus par défaut »  </a:t>
            </a:r>
            <a:pPr indent="0" marL="0">
              <a:buNone/>
            </a:pPr>
            <a:r>
              <a:rPr lang="en-US" sz="1050" dirty="0">
                <a:solidFill>
                  <a:srgbClr val="1F2937"/>
                </a:solidFill>
                <a:latin typeface="Calibri" pitchFamily="34" charset="0"/>
                <a:ea typeface="Calibri" pitchFamily="34" charset="-122"/>
                <a:cs typeface="Calibri" pitchFamily="34" charset="-120"/>
              </a:rPr>
              <a:t>chaque ouverture est nominative et journalisée</a:t>
            </a:r>
            <a:endParaRPr lang="en-US" sz="1050" dirty="0"/>
          </a:p>
        </p:txBody>
      </p:sp>
      <p:sp>
        <p:nvSpPr>
          <p:cNvPr id="22" name="Text 19"/>
          <p:cNvSpPr txBox="1"/>
          <p:nvPr/>
        </p:nvSpPr>
        <p:spPr>
          <a:xfrm>
            <a:off x="4617720" y="4069080"/>
            <a:ext cx="4023360" cy="502920"/>
          </a:xfrm>
          <a:prstGeom prst="rect">
            <a:avLst/>
          </a:prstGeom>
          <a:noFill/>
          <a:ln/>
        </p:spPr>
        <p:txBody>
          <a:bodyPr wrap="square" lIns="0" tIns="0" rIns="0" bIns="0" rtlCol="0" anchor="ctr"/>
          <a:lstStyle/>
          <a:p>
            <a:pPr indent="0" marL="0">
              <a:buNone/>
            </a:pPr>
            <a:r>
              <a:rPr lang="en-US" sz="1050" b="1" dirty="0">
                <a:solidFill>
                  <a:srgbClr val="1F3A8A"/>
                </a:solidFill>
                <a:latin typeface="Calibri" pitchFamily="34" charset="0"/>
                <a:ea typeface="Calibri" pitchFamily="34" charset="-122"/>
                <a:cs typeface="Calibri" pitchFamily="34" charset="-120"/>
              </a:rPr>
              <a:t>« Soutenable avant tout »  </a:t>
            </a:r>
            <a:pPr indent="0" marL="0">
              <a:buNone/>
            </a:pPr>
            <a:r>
              <a:rPr lang="en-US" sz="1050" dirty="0">
                <a:solidFill>
                  <a:srgbClr val="1F2937"/>
                </a:solidFill>
                <a:latin typeface="Calibri" pitchFamily="34" charset="0"/>
                <a:ea typeface="Calibri" pitchFamily="34" charset="-122"/>
                <a:cs typeface="Calibri" pitchFamily="34" charset="-120"/>
              </a:rPr>
              <a:t>aucun composant exigeant une exploitation permanente</a:t>
            </a:r>
            <a:endParaRPr lang="en-US" sz="1050" dirty="0"/>
          </a:p>
        </p:txBody>
      </p:sp>
      <p:sp>
        <p:nvSpPr>
          <p:cNvPr id="23" name="Text 20"/>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24" name="Text 21"/>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SOLUTION — CAS D'UTILISATION SIMPLIFIÉ</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Une attaque sur ELSON, du blocage au verdict</a:t>
            </a:r>
            <a:endParaRPr lang="en-US" sz="2400" dirty="0"/>
          </a:p>
        </p:txBody>
      </p:sp>
      <p:sp>
        <p:nvSpPr>
          <p:cNvPr id="6" name="Shape 4"/>
          <p:cNvSpPr/>
          <p:nvPr/>
        </p:nvSpPr>
        <p:spPr>
          <a:xfrm>
            <a:off x="868680" y="1143000"/>
            <a:ext cx="457200" cy="457200"/>
          </a:xfrm>
          <a:prstGeom prst="ellipse">
            <a:avLst/>
          </a:prstGeom>
          <a:solidFill>
            <a:srgbClr val="D98E1F"/>
          </a:solidFill>
          <a:ln w="12700">
            <a:solidFill>
              <a:srgbClr val="D98E1F"/>
            </a:solidFill>
            <a:prstDash val="solid"/>
          </a:ln>
        </p:spPr>
      </p:sp>
      <p:sp>
        <p:nvSpPr>
          <p:cNvPr id="7" name="Text 5"/>
          <p:cNvSpPr txBox="1"/>
          <p:nvPr/>
        </p:nvSpPr>
        <p:spPr>
          <a:xfrm>
            <a:off x="868680" y="11430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Shape 6"/>
          <p:cNvSpPr/>
          <p:nvPr/>
        </p:nvSpPr>
        <p:spPr>
          <a:xfrm>
            <a:off x="1371600" y="1371600"/>
            <a:ext cx="457200" cy="0"/>
          </a:xfrm>
          <a:prstGeom prst="line">
            <a:avLst/>
          </a:prstGeom>
          <a:noFill/>
          <a:ln w="19050">
            <a:solidFill>
              <a:srgbClr val="6B7280"/>
            </a:solidFill>
            <a:prstDash val="solid"/>
            <a:tailEnd type="triangle"/>
          </a:ln>
        </p:spPr>
      </p:sp>
      <p:sp>
        <p:nvSpPr>
          <p:cNvPr id="9" name="Text 7"/>
          <p:cNvSpPr txBox="1"/>
          <p:nvPr/>
        </p:nvSpPr>
        <p:spPr>
          <a:xfrm>
            <a:off x="457200" y="1691640"/>
            <a:ext cx="1298448" cy="274320"/>
          </a:xfrm>
          <a:prstGeom prst="rect">
            <a:avLst/>
          </a:prstGeom>
          <a:noFill/>
          <a:ln/>
        </p:spPr>
        <p:txBody>
          <a:bodyPr wrap="square" lIns="0" tIns="0" rIns="0" bIns="0" rtlCol="0" anchor="ctr"/>
          <a:lstStyle/>
          <a:p>
            <a:pPr algn="ctr" indent="0" marL="0">
              <a:buNone/>
            </a:pPr>
            <a:r>
              <a:rPr lang="en-US" sz="1150" b="1" dirty="0">
                <a:solidFill>
                  <a:srgbClr val="1F3A8A"/>
                </a:solidFill>
                <a:latin typeface="Calibri" pitchFamily="34" charset="0"/>
                <a:ea typeface="Calibri" pitchFamily="34" charset="-122"/>
                <a:cs typeface="Calibri" pitchFamily="34" charset="-120"/>
              </a:rPr>
              <a:t>Attaquant</a:t>
            </a:r>
            <a:endParaRPr lang="en-US" sz="1150" dirty="0"/>
          </a:p>
        </p:txBody>
      </p:sp>
      <p:sp>
        <p:nvSpPr>
          <p:cNvPr id="10" name="Text 8"/>
          <p:cNvSpPr txBox="1"/>
          <p:nvPr/>
        </p:nvSpPr>
        <p:spPr>
          <a:xfrm>
            <a:off x="457200" y="1965960"/>
            <a:ext cx="1298448" cy="914400"/>
          </a:xfrm>
          <a:prstGeom prst="rect">
            <a:avLst/>
          </a:prstGeom>
          <a:noFill/>
          <a:ln/>
        </p:spPr>
        <p:txBody>
          <a:bodyPr wrap="square" lIns="0" tIns="0" rIns="0" bIns="0" rtlCol="0" anchor="t"/>
          <a:lstStyle/>
          <a:p>
            <a:pPr algn="ctr" indent="0" marL="0">
              <a:buNone/>
            </a:pPr>
            <a:r>
              <a:rPr lang="en-US" sz="950" dirty="0">
                <a:solidFill>
                  <a:srgbClr val="1F2937"/>
                </a:solidFill>
                <a:latin typeface="Calibri" pitchFamily="34" charset="0"/>
                <a:ea typeface="Calibri" pitchFamily="34" charset="-122"/>
                <a:cs typeface="Calibri" pitchFamily="34" charset="-120"/>
              </a:rPr>
              <a:t>13 charges : injection SQL, inclusion de fichier, traversée de chemin</a:t>
            </a:r>
            <a:endParaRPr lang="en-US" sz="950" dirty="0"/>
          </a:p>
        </p:txBody>
      </p:sp>
      <p:sp>
        <p:nvSpPr>
          <p:cNvPr id="11" name="Shape 9"/>
          <p:cNvSpPr/>
          <p:nvPr/>
        </p:nvSpPr>
        <p:spPr>
          <a:xfrm>
            <a:off x="2258568" y="1143000"/>
            <a:ext cx="457200" cy="457200"/>
          </a:xfrm>
          <a:prstGeom prst="ellipse">
            <a:avLst/>
          </a:prstGeom>
          <a:solidFill>
            <a:srgbClr val="D98E1F"/>
          </a:solidFill>
          <a:ln w="12700">
            <a:solidFill>
              <a:srgbClr val="D98E1F"/>
            </a:solidFill>
            <a:prstDash val="solid"/>
          </a:ln>
        </p:spPr>
      </p:sp>
      <p:sp>
        <p:nvSpPr>
          <p:cNvPr id="12" name="Text 10"/>
          <p:cNvSpPr txBox="1"/>
          <p:nvPr/>
        </p:nvSpPr>
        <p:spPr>
          <a:xfrm>
            <a:off x="2258568" y="11430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Shape 11"/>
          <p:cNvSpPr/>
          <p:nvPr/>
        </p:nvSpPr>
        <p:spPr>
          <a:xfrm>
            <a:off x="2761488" y="1371600"/>
            <a:ext cx="457200" cy="0"/>
          </a:xfrm>
          <a:prstGeom prst="line">
            <a:avLst/>
          </a:prstGeom>
          <a:noFill/>
          <a:ln w="19050">
            <a:solidFill>
              <a:srgbClr val="6B7280"/>
            </a:solidFill>
            <a:prstDash val="solid"/>
            <a:tailEnd type="triangle"/>
          </a:ln>
        </p:spPr>
      </p:sp>
      <p:sp>
        <p:nvSpPr>
          <p:cNvPr id="14" name="Text 12"/>
          <p:cNvSpPr txBox="1"/>
          <p:nvPr/>
        </p:nvSpPr>
        <p:spPr>
          <a:xfrm>
            <a:off x="1847088" y="1691640"/>
            <a:ext cx="1298448" cy="274320"/>
          </a:xfrm>
          <a:prstGeom prst="rect">
            <a:avLst/>
          </a:prstGeom>
          <a:noFill/>
          <a:ln/>
        </p:spPr>
        <p:txBody>
          <a:bodyPr wrap="square" lIns="0" tIns="0" rIns="0" bIns="0" rtlCol="0" anchor="ctr"/>
          <a:lstStyle/>
          <a:p>
            <a:pPr algn="ctr" indent="0" marL="0">
              <a:buNone/>
            </a:pPr>
            <a:r>
              <a:rPr lang="en-US" sz="1150" b="1" dirty="0">
                <a:solidFill>
                  <a:srgbClr val="1F3A8A"/>
                </a:solidFill>
                <a:latin typeface="Calibri" pitchFamily="34" charset="0"/>
                <a:ea typeface="Calibri" pitchFamily="34" charset="-122"/>
                <a:cs typeface="Calibri" pitchFamily="34" charset="-120"/>
              </a:rPr>
              <a:t>Point d'entrée</a:t>
            </a:r>
            <a:endParaRPr lang="en-US" sz="1150" dirty="0"/>
          </a:p>
        </p:txBody>
      </p:sp>
      <p:sp>
        <p:nvSpPr>
          <p:cNvPr id="15" name="Text 13"/>
          <p:cNvSpPr txBox="1"/>
          <p:nvPr/>
        </p:nvSpPr>
        <p:spPr>
          <a:xfrm>
            <a:off x="1847088" y="1965960"/>
            <a:ext cx="1298448" cy="914400"/>
          </a:xfrm>
          <a:prstGeom prst="rect">
            <a:avLst/>
          </a:prstGeom>
          <a:noFill/>
          <a:ln/>
        </p:spPr>
        <p:txBody>
          <a:bodyPr wrap="square" lIns="0" tIns="0" rIns="0" bIns="0" rtlCol="0" anchor="t"/>
          <a:lstStyle/>
          <a:p>
            <a:pPr algn="ctr" indent="0" marL="0">
              <a:buNone/>
            </a:pPr>
            <a:r>
              <a:rPr lang="en-US" sz="950" dirty="0">
                <a:solidFill>
                  <a:srgbClr val="1F2937"/>
                </a:solidFill>
                <a:latin typeface="Calibri" pitchFamily="34" charset="0"/>
                <a:ea typeface="Calibri" pitchFamily="34" charset="-122"/>
                <a:cs typeface="Calibri" pitchFamily="34" charset="-120"/>
              </a:rPr>
              <a:t>Cloud Armor refuse (403) et journalise chaque verdict</a:t>
            </a:r>
            <a:endParaRPr lang="en-US" sz="950" dirty="0"/>
          </a:p>
        </p:txBody>
      </p:sp>
      <p:sp>
        <p:nvSpPr>
          <p:cNvPr id="16" name="Shape 14"/>
          <p:cNvSpPr/>
          <p:nvPr/>
        </p:nvSpPr>
        <p:spPr>
          <a:xfrm>
            <a:off x="3648456" y="1143000"/>
            <a:ext cx="457200" cy="457200"/>
          </a:xfrm>
          <a:prstGeom prst="ellipse">
            <a:avLst/>
          </a:prstGeom>
          <a:solidFill>
            <a:srgbClr val="1F3A8A"/>
          </a:solidFill>
          <a:ln w="12700">
            <a:solidFill>
              <a:srgbClr val="1F3A8A"/>
            </a:solidFill>
            <a:prstDash val="solid"/>
          </a:ln>
        </p:spPr>
      </p:sp>
      <p:sp>
        <p:nvSpPr>
          <p:cNvPr id="17" name="Text 15"/>
          <p:cNvSpPr txBox="1"/>
          <p:nvPr/>
        </p:nvSpPr>
        <p:spPr>
          <a:xfrm>
            <a:off x="3648456" y="11430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Shape 16"/>
          <p:cNvSpPr/>
          <p:nvPr/>
        </p:nvSpPr>
        <p:spPr>
          <a:xfrm>
            <a:off x="4151376" y="1371600"/>
            <a:ext cx="457200" cy="0"/>
          </a:xfrm>
          <a:prstGeom prst="line">
            <a:avLst/>
          </a:prstGeom>
          <a:noFill/>
          <a:ln w="19050">
            <a:solidFill>
              <a:srgbClr val="6B7280"/>
            </a:solidFill>
            <a:prstDash val="solid"/>
            <a:tailEnd type="triangle"/>
          </a:ln>
        </p:spPr>
      </p:sp>
      <p:sp>
        <p:nvSpPr>
          <p:cNvPr id="19" name="Text 17"/>
          <p:cNvSpPr txBox="1"/>
          <p:nvPr/>
        </p:nvSpPr>
        <p:spPr>
          <a:xfrm>
            <a:off x="3236976" y="1691640"/>
            <a:ext cx="1298448" cy="274320"/>
          </a:xfrm>
          <a:prstGeom prst="rect">
            <a:avLst/>
          </a:prstGeom>
          <a:noFill/>
          <a:ln/>
        </p:spPr>
        <p:txBody>
          <a:bodyPr wrap="square" lIns="0" tIns="0" rIns="0" bIns="0" rtlCol="0" anchor="ctr"/>
          <a:lstStyle/>
          <a:p>
            <a:pPr algn="ctr" indent="0" marL="0">
              <a:buNone/>
            </a:pPr>
            <a:r>
              <a:rPr lang="en-US" sz="1150" b="1" dirty="0">
                <a:solidFill>
                  <a:srgbClr val="1F3A8A"/>
                </a:solidFill>
                <a:latin typeface="Calibri" pitchFamily="34" charset="0"/>
                <a:ea typeface="Calibri" pitchFamily="34" charset="-122"/>
                <a:cs typeface="Calibri" pitchFamily="34" charset="-120"/>
              </a:rPr>
              <a:t>Collecte</a:t>
            </a:r>
            <a:endParaRPr lang="en-US" sz="1150" dirty="0"/>
          </a:p>
        </p:txBody>
      </p:sp>
      <p:sp>
        <p:nvSpPr>
          <p:cNvPr id="20" name="Text 18"/>
          <p:cNvSpPr txBox="1"/>
          <p:nvPr/>
        </p:nvSpPr>
        <p:spPr>
          <a:xfrm>
            <a:off x="3236976" y="1965960"/>
            <a:ext cx="1298448" cy="914400"/>
          </a:xfrm>
          <a:prstGeom prst="rect">
            <a:avLst/>
          </a:prstGeom>
          <a:noFill/>
          <a:ln/>
        </p:spPr>
        <p:txBody>
          <a:bodyPr wrap="square" lIns="0" tIns="0" rIns="0" bIns="0" rtlCol="0" anchor="t"/>
          <a:lstStyle/>
          <a:p>
            <a:pPr algn="ctr" indent="0" marL="0">
              <a:buNone/>
            </a:pPr>
            <a:r>
              <a:rPr lang="en-US" sz="950" dirty="0">
                <a:solidFill>
                  <a:srgbClr val="1F2937"/>
                </a:solidFill>
                <a:latin typeface="Calibri" pitchFamily="34" charset="0"/>
                <a:ea typeface="Calibri" pitchFamily="34" charset="-122"/>
                <a:cs typeface="Calibri" pitchFamily="34" charset="-120"/>
              </a:rPr>
              <a:t>Puits de journaux vers BigQuery, en flux</a:t>
            </a:r>
            <a:endParaRPr lang="en-US" sz="950" dirty="0"/>
          </a:p>
        </p:txBody>
      </p:sp>
      <p:sp>
        <p:nvSpPr>
          <p:cNvPr id="21" name="Shape 19"/>
          <p:cNvSpPr/>
          <p:nvPr/>
        </p:nvSpPr>
        <p:spPr>
          <a:xfrm>
            <a:off x="5038344" y="1143000"/>
            <a:ext cx="457200" cy="457200"/>
          </a:xfrm>
          <a:prstGeom prst="ellipse">
            <a:avLst/>
          </a:prstGeom>
          <a:solidFill>
            <a:srgbClr val="1F3A8A"/>
          </a:solidFill>
          <a:ln w="12700">
            <a:solidFill>
              <a:srgbClr val="1F3A8A"/>
            </a:solidFill>
            <a:prstDash val="solid"/>
          </a:ln>
        </p:spPr>
      </p:sp>
      <p:sp>
        <p:nvSpPr>
          <p:cNvPr id="22" name="Text 20"/>
          <p:cNvSpPr txBox="1"/>
          <p:nvPr/>
        </p:nvSpPr>
        <p:spPr>
          <a:xfrm>
            <a:off x="5038344" y="11430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Shape 21"/>
          <p:cNvSpPr/>
          <p:nvPr/>
        </p:nvSpPr>
        <p:spPr>
          <a:xfrm>
            <a:off x="5541264" y="1371600"/>
            <a:ext cx="457200" cy="0"/>
          </a:xfrm>
          <a:prstGeom prst="line">
            <a:avLst/>
          </a:prstGeom>
          <a:noFill/>
          <a:ln w="19050">
            <a:solidFill>
              <a:srgbClr val="6B7280"/>
            </a:solidFill>
            <a:prstDash val="solid"/>
            <a:tailEnd type="triangle"/>
          </a:ln>
        </p:spPr>
      </p:sp>
      <p:sp>
        <p:nvSpPr>
          <p:cNvPr id="24" name="Text 22"/>
          <p:cNvSpPr txBox="1"/>
          <p:nvPr/>
        </p:nvSpPr>
        <p:spPr>
          <a:xfrm>
            <a:off x="4626864" y="1691640"/>
            <a:ext cx="1298448" cy="274320"/>
          </a:xfrm>
          <a:prstGeom prst="rect">
            <a:avLst/>
          </a:prstGeom>
          <a:noFill/>
          <a:ln/>
        </p:spPr>
        <p:txBody>
          <a:bodyPr wrap="square" lIns="0" tIns="0" rIns="0" bIns="0" rtlCol="0" anchor="ctr"/>
          <a:lstStyle/>
          <a:p>
            <a:pPr algn="ctr" indent="0" marL="0">
              <a:buNone/>
            </a:pPr>
            <a:r>
              <a:rPr lang="en-US" sz="1150" b="1" dirty="0">
                <a:solidFill>
                  <a:srgbClr val="1F3A8A"/>
                </a:solidFill>
                <a:latin typeface="Calibri" pitchFamily="34" charset="0"/>
                <a:ea typeface="Calibri" pitchFamily="34" charset="-122"/>
                <a:cs typeface="Calibri" pitchFamily="34" charset="-120"/>
              </a:rPr>
              <a:t>Détection</a:t>
            </a:r>
            <a:endParaRPr lang="en-US" sz="1150" dirty="0"/>
          </a:p>
        </p:txBody>
      </p:sp>
      <p:sp>
        <p:nvSpPr>
          <p:cNvPr id="25" name="Text 23"/>
          <p:cNvSpPr txBox="1"/>
          <p:nvPr/>
        </p:nvSpPr>
        <p:spPr>
          <a:xfrm>
            <a:off x="4626864" y="1965960"/>
            <a:ext cx="1298448" cy="914400"/>
          </a:xfrm>
          <a:prstGeom prst="rect">
            <a:avLst/>
          </a:prstGeom>
          <a:noFill/>
          <a:ln/>
        </p:spPr>
        <p:txBody>
          <a:bodyPr wrap="square" lIns="0" tIns="0" rIns="0" bIns="0" rtlCol="0" anchor="t"/>
          <a:lstStyle/>
          <a:p>
            <a:pPr algn="ctr" indent="0" marL="0">
              <a:buNone/>
            </a:pPr>
            <a:r>
              <a:rPr lang="en-US" sz="950" dirty="0">
                <a:solidFill>
                  <a:srgbClr val="1F2937"/>
                </a:solidFill>
                <a:latin typeface="Calibri" pitchFamily="34" charset="0"/>
                <a:ea typeface="Calibri" pitchFamily="34" charset="-122"/>
                <a:cs typeface="Calibri" pitchFamily="34" charset="-120"/>
              </a:rPr>
              <a:t>Job à la minute : règles R6, R3, R2 → 47 détections dédupliquées</a:t>
            </a:r>
            <a:endParaRPr lang="en-US" sz="950" dirty="0"/>
          </a:p>
        </p:txBody>
      </p:sp>
      <p:sp>
        <p:nvSpPr>
          <p:cNvPr id="26" name="Shape 24"/>
          <p:cNvSpPr/>
          <p:nvPr/>
        </p:nvSpPr>
        <p:spPr>
          <a:xfrm>
            <a:off x="6428232" y="1143000"/>
            <a:ext cx="457200" cy="457200"/>
          </a:xfrm>
          <a:prstGeom prst="ellipse">
            <a:avLst/>
          </a:prstGeom>
          <a:solidFill>
            <a:srgbClr val="1F3A8A"/>
          </a:solidFill>
          <a:ln w="12700">
            <a:solidFill>
              <a:srgbClr val="1F3A8A"/>
            </a:solidFill>
            <a:prstDash val="solid"/>
          </a:ln>
        </p:spPr>
      </p:sp>
      <p:sp>
        <p:nvSpPr>
          <p:cNvPr id="27" name="Text 25"/>
          <p:cNvSpPr txBox="1"/>
          <p:nvPr/>
        </p:nvSpPr>
        <p:spPr>
          <a:xfrm>
            <a:off x="6428232" y="11430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Shape 26"/>
          <p:cNvSpPr/>
          <p:nvPr/>
        </p:nvSpPr>
        <p:spPr>
          <a:xfrm>
            <a:off x="6931152" y="1371600"/>
            <a:ext cx="457200" cy="0"/>
          </a:xfrm>
          <a:prstGeom prst="line">
            <a:avLst/>
          </a:prstGeom>
          <a:noFill/>
          <a:ln w="19050">
            <a:solidFill>
              <a:srgbClr val="6B7280"/>
            </a:solidFill>
            <a:prstDash val="solid"/>
            <a:tailEnd type="triangle"/>
          </a:ln>
        </p:spPr>
      </p:sp>
      <p:sp>
        <p:nvSpPr>
          <p:cNvPr id="29" name="Text 27"/>
          <p:cNvSpPr txBox="1"/>
          <p:nvPr/>
        </p:nvSpPr>
        <p:spPr>
          <a:xfrm>
            <a:off x="6016752" y="1691640"/>
            <a:ext cx="1298448" cy="274320"/>
          </a:xfrm>
          <a:prstGeom prst="rect">
            <a:avLst/>
          </a:prstGeom>
          <a:noFill/>
          <a:ln/>
        </p:spPr>
        <p:txBody>
          <a:bodyPr wrap="square" lIns="0" tIns="0" rIns="0" bIns="0" rtlCol="0" anchor="ctr"/>
          <a:lstStyle/>
          <a:p>
            <a:pPr algn="ctr" indent="0" marL="0">
              <a:buNone/>
            </a:pPr>
            <a:r>
              <a:rPr lang="en-US" sz="1150" b="1" dirty="0">
                <a:solidFill>
                  <a:srgbClr val="1F3A8A"/>
                </a:solidFill>
                <a:latin typeface="Calibri" pitchFamily="34" charset="0"/>
                <a:ea typeface="Calibri" pitchFamily="34" charset="-122"/>
                <a:cs typeface="Calibri" pitchFamily="34" charset="-120"/>
              </a:rPr>
              <a:t>Corrélation</a:t>
            </a:r>
            <a:endParaRPr lang="en-US" sz="1150" dirty="0"/>
          </a:p>
        </p:txBody>
      </p:sp>
      <p:sp>
        <p:nvSpPr>
          <p:cNvPr id="30" name="Text 28"/>
          <p:cNvSpPr txBox="1"/>
          <p:nvPr/>
        </p:nvSpPr>
        <p:spPr>
          <a:xfrm>
            <a:off x="6016752" y="1965960"/>
            <a:ext cx="1298448" cy="914400"/>
          </a:xfrm>
          <a:prstGeom prst="rect">
            <a:avLst/>
          </a:prstGeom>
          <a:noFill/>
          <a:ln/>
        </p:spPr>
        <p:txBody>
          <a:bodyPr wrap="square" lIns="0" tIns="0" rIns="0" bIns="0" rtlCol="0" anchor="t"/>
          <a:lstStyle/>
          <a:p>
            <a:pPr algn="ctr" indent="0" marL="0">
              <a:buNone/>
            </a:pPr>
            <a:r>
              <a:rPr lang="en-US" sz="950" dirty="0">
                <a:solidFill>
                  <a:srgbClr val="1F2937"/>
                </a:solidFill>
                <a:latin typeface="Calibri" pitchFamily="34" charset="0"/>
                <a:ea typeface="Calibri" pitchFamily="34" charset="-122"/>
                <a:cs typeface="Calibri" pitchFamily="34" charset="-120"/>
              </a:rPr>
              <a:t>Un incident par entité : score 100, deux tactiques, ATT&amp;CK T1190 + T1498</a:t>
            </a:r>
            <a:endParaRPr lang="en-US" sz="950" dirty="0"/>
          </a:p>
        </p:txBody>
      </p:sp>
      <p:sp>
        <p:nvSpPr>
          <p:cNvPr id="31" name="Shape 29"/>
          <p:cNvSpPr/>
          <p:nvPr/>
        </p:nvSpPr>
        <p:spPr>
          <a:xfrm>
            <a:off x="7818120" y="1143000"/>
            <a:ext cx="457200" cy="457200"/>
          </a:xfrm>
          <a:prstGeom prst="ellipse">
            <a:avLst/>
          </a:prstGeom>
          <a:solidFill>
            <a:srgbClr val="2E8B57"/>
          </a:solidFill>
          <a:ln w="12700">
            <a:solidFill>
              <a:srgbClr val="2E8B57"/>
            </a:solidFill>
            <a:prstDash val="solid"/>
          </a:ln>
        </p:spPr>
      </p:sp>
      <p:sp>
        <p:nvSpPr>
          <p:cNvPr id="32" name="Text 30"/>
          <p:cNvSpPr txBox="1"/>
          <p:nvPr/>
        </p:nvSpPr>
        <p:spPr>
          <a:xfrm>
            <a:off x="7818120" y="114300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7406640" y="1691640"/>
            <a:ext cx="1298448" cy="274320"/>
          </a:xfrm>
          <a:prstGeom prst="rect">
            <a:avLst/>
          </a:prstGeom>
          <a:noFill/>
          <a:ln/>
        </p:spPr>
        <p:txBody>
          <a:bodyPr wrap="square" lIns="0" tIns="0" rIns="0" bIns="0" rtlCol="0" anchor="ctr"/>
          <a:lstStyle/>
          <a:p>
            <a:pPr algn="ctr" indent="0" marL="0">
              <a:buNone/>
            </a:pPr>
            <a:r>
              <a:rPr lang="en-US" sz="1150" b="1" dirty="0">
                <a:solidFill>
                  <a:srgbClr val="1F3A8A"/>
                </a:solidFill>
                <a:latin typeface="Calibri" pitchFamily="34" charset="0"/>
                <a:ea typeface="Calibri" pitchFamily="34" charset="-122"/>
                <a:cs typeface="Calibri" pitchFamily="34" charset="-120"/>
              </a:rPr>
              <a:t>Verdict</a:t>
            </a:r>
            <a:endParaRPr lang="en-US" sz="1150" dirty="0"/>
          </a:p>
        </p:txBody>
      </p:sp>
      <p:sp>
        <p:nvSpPr>
          <p:cNvPr id="34" name="Text 32"/>
          <p:cNvSpPr txBox="1"/>
          <p:nvPr/>
        </p:nvSpPr>
        <p:spPr>
          <a:xfrm>
            <a:off x="7406640" y="1965960"/>
            <a:ext cx="1298448" cy="914400"/>
          </a:xfrm>
          <a:prstGeom prst="rect">
            <a:avLst/>
          </a:prstGeom>
          <a:noFill/>
          <a:ln/>
        </p:spPr>
        <p:txBody>
          <a:bodyPr wrap="square" lIns="0" tIns="0" rIns="0" bIns="0" rtlCol="0" anchor="t"/>
          <a:lstStyle/>
          <a:p>
            <a:pPr algn="ctr" indent="0" marL="0">
              <a:buNone/>
            </a:pPr>
            <a:r>
              <a:rPr lang="en-US" sz="950" dirty="0">
                <a:solidFill>
                  <a:srgbClr val="1F2937"/>
                </a:solidFill>
                <a:latin typeface="Calibri" pitchFamily="34" charset="0"/>
                <a:ea typeface="Calibri" pitchFamily="34" charset="-122"/>
                <a:cs typeface="Calibri" pitchFamily="34" charset="-120"/>
              </a:rPr>
              <a:t>L'administrateur (mot de passe + TOTP) confirme dans le tableau de bord</a:t>
            </a:r>
            <a:endParaRPr lang="en-US" sz="950" dirty="0"/>
          </a:p>
        </p:txBody>
      </p:sp>
      <p:sp>
        <p:nvSpPr>
          <p:cNvPr id="35" name="Shape 33"/>
          <p:cNvSpPr/>
          <p:nvPr/>
        </p:nvSpPr>
        <p:spPr>
          <a:xfrm>
            <a:off x="457200" y="3017520"/>
            <a:ext cx="8229600" cy="457200"/>
          </a:xfrm>
          <a:prstGeom prst="roundRect">
            <a:avLst>
              <a:gd name="adj" fmla="val 12000"/>
            </a:avLst>
          </a:prstGeom>
          <a:solidFill>
            <a:srgbClr val="F3F6FC"/>
          </a:solidFill>
          <a:ln w="9525">
            <a:solidFill>
              <a:srgbClr val="D5DBE8"/>
            </a:solidFill>
            <a:prstDash val="solid"/>
          </a:ln>
        </p:spPr>
      </p:sp>
      <p:sp>
        <p:nvSpPr>
          <p:cNvPr id="36" name="Text 34"/>
          <p:cNvSpPr txBox="1"/>
          <p:nvPr/>
        </p:nvSpPr>
        <p:spPr>
          <a:xfrm>
            <a:off x="594360" y="3017520"/>
            <a:ext cx="7955280" cy="457200"/>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Pendant ce temps, </a:t>
            </a:r>
            <a:pPr indent="0" marL="0">
              <a:buNone/>
            </a:pPr>
            <a:r>
              <a:rPr lang="en-US" sz="1050" b="1" dirty="0">
                <a:solidFill>
                  <a:srgbClr val="1F3A8A"/>
                </a:solidFill>
                <a:latin typeface="Calibri" pitchFamily="34" charset="0"/>
                <a:ea typeface="Calibri" pitchFamily="34" charset="-122"/>
                <a:cs typeface="Calibri" pitchFamily="34" charset="-120"/>
              </a:rPr>
              <a:t>les participants légitimes d'ELSON continuent d'utiliser le site</a:t>
            </a:r>
            <a:pPr indent="0" marL="0">
              <a:buNone/>
            </a:pPr>
            <a:r>
              <a:rPr lang="en-US" sz="1050" dirty="0">
                <a:solidFill>
                  <a:srgbClr val="1F2937"/>
                </a:solidFill>
                <a:latin typeface="Calibri" pitchFamily="34" charset="0"/>
                <a:ea typeface="Calibri" pitchFamily="34" charset="-122"/>
                <a:cs typeface="Calibri" pitchFamily="34" charset="-120"/>
              </a:rPr>
              <a:t> : le blocage est fait au bord, l'application ne voit jamais les charges, et aucun composant du socle n'a accès aux données d'ELSON.</a:t>
            </a:r>
            <a:endParaRPr lang="en-US" sz="1050" dirty="0"/>
          </a:p>
        </p:txBody>
      </p:sp>
      <p:sp>
        <p:nvSpPr>
          <p:cNvPr id="37" name="Text 35"/>
          <p:cNvSpPr txBox="1"/>
          <p:nvPr/>
        </p:nvSpPr>
        <p:spPr>
          <a:xfrm>
            <a:off x="457200" y="3611880"/>
            <a:ext cx="2011680" cy="502920"/>
          </a:xfrm>
          <a:prstGeom prst="rect">
            <a:avLst/>
          </a:prstGeom>
          <a:noFill/>
          <a:ln/>
        </p:spPr>
        <p:txBody>
          <a:bodyPr wrap="square" lIns="0" tIns="0" rIns="0" bIns="0" rtlCol="0" anchor="ctr"/>
          <a:lstStyle/>
          <a:p>
            <a:pPr algn="ctr" indent="0" marL="0">
              <a:buNone/>
            </a:pPr>
            <a:r>
              <a:rPr lang="en-US" sz="2800" b="1" dirty="0">
                <a:solidFill>
                  <a:srgbClr val="1F3A8A"/>
                </a:solidFill>
                <a:latin typeface="Calibri" pitchFamily="34" charset="0"/>
                <a:ea typeface="Calibri" pitchFamily="34" charset="-122"/>
                <a:cs typeface="Calibri" pitchFamily="34" charset="-120"/>
              </a:rPr>
              <a:t>13</a:t>
            </a:r>
            <a:endParaRPr lang="en-US" sz="2800" dirty="0"/>
          </a:p>
        </p:txBody>
      </p:sp>
      <p:sp>
        <p:nvSpPr>
          <p:cNvPr id="38" name="Text 36"/>
          <p:cNvSpPr txBox="1"/>
          <p:nvPr/>
        </p:nvSpPr>
        <p:spPr>
          <a:xfrm>
            <a:off x="457200" y="4114800"/>
            <a:ext cx="2011680" cy="41148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charges envoyées le 07/09/2026 à 23 h 25 min 38 s</a:t>
            </a:r>
            <a:endParaRPr lang="en-US" sz="1000" dirty="0"/>
          </a:p>
        </p:txBody>
      </p:sp>
      <p:sp>
        <p:nvSpPr>
          <p:cNvPr id="39" name="Text 37"/>
          <p:cNvSpPr txBox="1"/>
          <p:nvPr/>
        </p:nvSpPr>
        <p:spPr>
          <a:xfrm>
            <a:off x="2514600" y="3611880"/>
            <a:ext cx="2011680" cy="502920"/>
          </a:xfrm>
          <a:prstGeom prst="rect">
            <a:avLst/>
          </a:prstGeom>
          <a:noFill/>
          <a:ln/>
        </p:spPr>
        <p:txBody>
          <a:bodyPr wrap="square" lIns="0" tIns="0" rIns="0" bIns="0" rtlCol="0" anchor="ctr"/>
          <a:lstStyle/>
          <a:p>
            <a:pPr algn="ctr" indent="0" marL="0">
              <a:buNone/>
            </a:pPr>
            <a:r>
              <a:rPr lang="en-US" sz="2800" b="1" dirty="0">
                <a:solidFill>
                  <a:srgbClr val="1F3A8A"/>
                </a:solidFill>
                <a:latin typeface="Calibri" pitchFamily="34" charset="0"/>
                <a:ea typeface="Calibri" pitchFamily="34" charset="-122"/>
                <a:cs typeface="Calibri" pitchFamily="34" charset="-120"/>
              </a:rPr>
              <a:t>13 × 403</a:t>
            </a:r>
            <a:endParaRPr lang="en-US" sz="2800" dirty="0"/>
          </a:p>
        </p:txBody>
      </p:sp>
      <p:sp>
        <p:nvSpPr>
          <p:cNvPr id="40" name="Text 38"/>
          <p:cNvSpPr txBox="1"/>
          <p:nvPr/>
        </p:nvSpPr>
        <p:spPr>
          <a:xfrm>
            <a:off x="2514600" y="4114800"/>
            <a:ext cx="2011680" cy="41148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refus rendus par le WAF, avant l'application</a:t>
            </a:r>
            <a:endParaRPr lang="en-US" sz="1000" dirty="0"/>
          </a:p>
        </p:txBody>
      </p:sp>
      <p:sp>
        <p:nvSpPr>
          <p:cNvPr id="41" name="Text 39"/>
          <p:cNvSpPr txBox="1"/>
          <p:nvPr/>
        </p:nvSpPr>
        <p:spPr>
          <a:xfrm>
            <a:off x="4572000" y="3611880"/>
            <a:ext cx="2011680" cy="502920"/>
          </a:xfrm>
          <a:prstGeom prst="rect">
            <a:avLst/>
          </a:prstGeom>
          <a:noFill/>
          <a:ln/>
        </p:spPr>
        <p:txBody>
          <a:bodyPr wrap="square" lIns="0" tIns="0" rIns="0" bIns="0" rtlCol="0" anchor="ctr"/>
          <a:lstStyle/>
          <a:p>
            <a:pPr algn="ctr" indent="0" marL="0">
              <a:buNone/>
            </a:pPr>
            <a:r>
              <a:rPr lang="en-US" sz="2800" b="1" dirty="0">
                <a:solidFill>
                  <a:srgbClr val="1F3A8A"/>
                </a:solidFill>
                <a:latin typeface="Calibri" pitchFamily="34" charset="0"/>
                <a:ea typeface="Calibri" pitchFamily="34" charset="-122"/>
                <a:cs typeface="Calibri" pitchFamily="34" charset="-120"/>
              </a:rPr>
              <a:t>2 min 05 s</a:t>
            </a:r>
            <a:endParaRPr lang="en-US" sz="2800" dirty="0"/>
          </a:p>
        </p:txBody>
      </p:sp>
      <p:sp>
        <p:nvSpPr>
          <p:cNvPr id="42" name="Text 40"/>
          <p:cNvSpPr txBox="1"/>
          <p:nvPr/>
        </p:nvSpPr>
        <p:spPr>
          <a:xfrm>
            <a:off x="4572000" y="4114800"/>
            <a:ext cx="2011680" cy="41148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attaque → incident affiché (borne : 3 min)</a:t>
            </a:r>
            <a:endParaRPr lang="en-US" sz="1000" dirty="0"/>
          </a:p>
        </p:txBody>
      </p:sp>
      <p:sp>
        <p:nvSpPr>
          <p:cNvPr id="43" name="Text 41"/>
          <p:cNvSpPr txBox="1"/>
          <p:nvPr/>
        </p:nvSpPr>
        <p:spPr>
          <a:xfrm>
            <a:off x="6629400" y="3611880"/>
            <a:ext cx="2057400" cy="502920"/>
          </a:xfrm>
          <a:prstGeom prst="rect">
            <a:avLst/>
          </a:prstGeom>
          <a:noFill/>
          <a:ln/>
        </p:spPr>
        <p:txBody>
          <a:bodyPr wrap="square" lIns="0" tIns="0" rIns="0" bIns="0" rtlCol="0" anchor="ctr"/>
          <a:lstStyle/>
          <a:p>
            <a:pPr algn="ctr" indent="0" marL="0">
              <a:buNone/>
            </a:pPr>
            <a:r>
              <a:rPr lang="en-US" sz="2800" b="1" dirty="0">
                <a:solidFill>
                  <a:srgbClr val="2E8B57"/>
                </a:solidFill>
                <a:latin typeface="Calibri" pitchFamily="34" charset="0"/>
                <a:ea typeface="Calibri" pitchFamily="34" charset="-122"/>
                <a:cs typeface="Calibri" pitchFamily="34" charset="-120"/>
              </a:rPr>
              <a:t>2 min 23 s</a:t>
            </a:r>
            <a:endParaRPr lang="en-US" sz="2800" dirty="0"/>
          </a:p>
        </p:txBody>
      </p:sp>
      <p:sp>
        <p:nvSpPr>
          <p:cNvPr id="44" name="Text 42"/>
          <p:cNvSpPr txBox="1"/>
          <p:nvPr/>
        </p:nvSpPr>
        <p:spPr>
          <a:xfrm>
            <a:off x="6629400" y="4114800"/>
            <a:ext cx="2057400" cy="41148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attaque → verdict « Confirmé »</a:t>
            </a:r>
            <a:endParaRPr lang="en-US" sz="1000" dirty="0"/>
          </a:p>
        </p:txBody>
      </p:sp>
      <p:sp>
        <p:nvSpPr>
          <p:cNvPr id="45" name="Text 43"/>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46" name="Text 44"/>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BESOINS FONCTIONNELS ET NON FONCTIONNELS</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Quinze besoins, chacun avec une cible vérifiable</a:t>
            </a:r>
            <a:endParaRPr lang="en-US" sz="2400" dirty="0"/>
          </a:p>
        </p:txBody>
      </p:sp>
      <p:sp>
        <p:nvSpPr>
          <p:cNvPr id="6" name="Text 4"/>
          <p:cNvSpPr txBox="1"/>
          <p:nvPr/>
        </p:nvSpPr>
        <p:spPr>
          <a:xfrm>
            <a:off x="457200" y="1051560"/>
            <a:ext cx="4023360" cy="274320"/>
          </a:xfrm>
          <a:prstGeom prst="rect">
            <a:avLst/>
          </a:prstGeom>
          <a:noFill/>
          <a:ln/>
        </p:spPr>
        <p:txBody>
          <a:bodyPr wrap="square" lIns="0" tIns="0" rIns="0" bIns="0" rtlCol="0" anchor="ctr"/>
          <a:lstStyle/>
          <a:p>
            <a:pPr indent="0" marL="0">
              <a:buNone/>
            </a:pPr>
            <a:r>
              <a:rPr lang="en-US" sz="1200" b="1" dirty="0">
                <a:solidFill>
                  <a:srgbClr val="1F3A8A"/>
                </a:solidFill>
                <a:latin typeface="Calibri" pitchFamily="34" charset="0"/>
                <a:ea typeface="Calibri" pitchFamily="34" charset="-122"/>
                <a:cs typeface="Calibri" pitchFamily="34" charset="-120"/>
              </a:rPr>
              <a:t>Fonctionnels</a:t>
            </a:r>
            <a:endParaRPr lang="en-US" sz="1200" dirty="0"/>
          </a:p>
        </p:txBody>
      </p:sp>
      <p:sp>
        <p:nvSpPr>
          <p:cNvPr id="7" name="Text 5"/>
          <p:cNvSpPr txBox="1"/>
          <p:nvPr/>
        </p:nvSpPr>
        <p:spPr>
          <a:xfrm>
            <a:off x="4663440" y="1051560"/>
            <a:ext cx="4023360" cy="274320"/>
          </a:xfrm>
          <a:prstGeom prst="rect">
            <a:avLst/>
          </a:prstGeom>
          <a:noFill/>
          <a:ln/>
        </p:spPr>
        <p:txBody>
          <a:bodyPr wrap="square" lIns="0" tIns="0" rIns="0" bIns="0" rtlCol="0" anchor="ctr"/>
          <a:lstStyle/>
          <a:p>
            <a:pPr indent="0" marL="0">
              <a:buNone/>
            </a:pPr>
            <a:r>
              <a:rPr lang="en-US" sz="1200" b="1" dirty="0">
                <a:solidFill>
                  <a:srgbClr val="1F3A8A"/>
                </a:solidFill>
                <a:latin typeface="Calibri" pitchFamily="34" charset="0"/>
                <a:ea typeface="Calibri" pitchFamily="34" charset="-122"/>
                <a:cs typeface="Calibri" pitchFamily="34" charset="-120"/>
              </a:rPr>
              <a:t>Non fonctionnels</a:t>
            </a:r>
            <a:endParaRPr lang="en-US" sz="1200" dirty="0"/>
          </a:p>
        </p:txBody>
      </p:sp>
      <p:sp>
        <p:nvSpPr>
          <p:cNvPr id="8" name="Shape 6"/>
          <p:cNvSpPr/>
          <p:nvPr/>
        </p:nvSpPr>
        <p:spPr>
          <a:xfrm>
            <a:off x="457200" y="1371600"/>
            <a:ext cx="566928" cy="329184"/>
          </a:xfrm>
          <a:prstGeom prst="roundRect">
            <a:avLst>
              <a:gd name="adj" fmla="val 13889"/>
            </a:avLst>
          </a:prstGeom>
          <a:solidFill>
            <a:srgbClr val="1F3A8A"/>
          </a:solidFill>
          <a:ln w="12700">
            <a:solidFill>
              <a:srgbClr val="1F3A8A"/>
            </a:solidFill>
            <a:prstDash val="solid"/>
          </a:ln>
        </p:spPr>
      </p:sp>
      <p:sp>
        <p:nvSpPr>
          <p:cNvPr id="9" name="Text 7"/>
          <p:cNvSpPr txBox="1"/>
          <p:nvPr/>
        </p:nvSpPr>
        <p:spPr>
          <a:xfrm>
            <a:off x="457200" y="1371600"/>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BF1</a:t>
            </a:r>
            <a:endParaRPr lang="en-US" sz="950" dirty="0"/>
          </a:p>
        </p:txBody>
      </p:sp>
      <p:sp>
        <p:nvSpPr>
          <p:cNvPr id="10" name="Text 8"/>
          <p:cNvSpPr txBox="1"/>
          <p:nvPr/>
        </p:nvSpPr>
        <p:spPr>
          <a:xfrm>
            <a:off x="1115568" y="1371600"/>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Point d'entrée unique, chiffré, filtré, journalisé</a:t>
            </a:r>
            <a:endParaRPr lang="en-US" sz="1050" dirty="0"/>
          </a:p>
        </p:txBody>
      </p:sp>
      <p:sp>
        <p:nvSpPr>
          <p:cNvPr id="11" name="Shape 9"/>
          <p:cNvSpPr/>
          <p:nvPr/>
        </p:nvSpPr>
        <p:spPr>
          <a:xfrm>
            <a:off x="457200" y="1764792"/>
            <a:ext cx="566928" cy="329184"/>
          </a:xfrm>
          <a:prstGeom prst="roundRect">
            <a:avLst>
              <a:gd name="adj" fmla="val 13889"/>
            </a:avLst>
          </a:prstGeom>
          <a:solidFill>
            <a:srgbClr val="1F3A8A"/>
          </a:solidFill>
          <a:ln w="12700">
            <a:solidFill>
              <a:srgbClr val="1F3A8A"/>
            </a:solidFill>
            <a:prstDash val="solid"/>
          </a:ln>
        </p:spPr>
      </p:sp>
      <p:sp>
        <p:nvSpPr>
          <p:cNvPr id="12" name="Text 10"/>
          <p:cNvSpPr txBox="1"/>
          <p:nvPr/>
        </p:nvSpPr>
        <p:spPr>
          <a:xfrm>
            <a:off x="457200" y="1764792"/>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BF2</a:t>
            </a:r>
            <a:endParaRPr lang="en-US" sz="950" dirty="0"/>
          </a:p>
        </p:txBody>
      </p:sp>
      <p:sp>
        <p:nvSpPr>
          <p:cNvPr id="13" name="Text 11"/>
          <p:cNvSpPr txBox="1"/>
          <p:nvPr/>
        </p:nvSpPr>
        <p:spPr>
          <a:xfrm>
            <a:off x="1115568" y="1764792"/>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Une identité par service et par personne</a:t>
            </a:r>
            <a:endParaRPr lang="en-US" sz="1050" dirty="0"/>
          </a:p>
        </p:txBody>
      </p:sp>
      <p:sp>
        <p:nvSpPr>
          <p:cNvPr id="14" name="Shape 12"/>
          <p:cNvSpPr/>
          <p:nvPr/>
        </p:nvSpPr>
        <p:spPr>
          <a:xfrm>
            <a:off x="457200" y="2157984"/>
            <a:ext cx="566928" cy="329184"/>
          </a:xfrm>
          <a:prstGeom prst="roundRect">
            <a:avLst>
              <a:gd name="adj" fmla="val 13889"/>
            </a:avLst>
          </a:prstGeom>
          <a:solidFill>
            <a:srgbClr val="1F3A8A"/>
          </a:solidFill>
          <a:ln w="12700">
            <a:solidFill>
              <a:srgbClr val="1F3A8A"/>
            </a:solidFill>
            <a:prstDash val="solid"/>
          </a:ln>
        </p:spPr>
      </p:sp>
      <p:sp>
        <p:nvSpPr>
          <p:cNvPr id="15" name="Text 13"/>
          <p:cNvSpPr txBox="1"/>
          <p:nvPr/>
        </p:nvSpPr>
        <p:spPr>
          <a:xfrm>
            <a:off x="457200" y="2157984"/>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BF3</a:t>
            </a:r>
            <a:endParaRPr lang="en-US" sz="950" dirty="0"/>
          </a:p>
        </p:txBody>
      </p:sp>
      <p:sp>
        <p:nvSpPr>
          <p:cNvPr id="16" name="Text 14"/>
          <p:cNvSpPr txBox="1"/>
          <p:nvPr/>
        </p:nvSpPr>
        <p:spPr>
          <a:xfrm>
            <a:off x="1115568" y="2157984"/>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Infrastructure en code, dérive détectée</a:t>
            </a:r>
            <a:endParaRPr lang="en-US" sz="1050" dirty="0"/>
          </a:p>
        </p:txBody>
      </p:sp>
      <p:sp>
        <p:nvSpPr>
          <p:cNvPr id="17" name="Shape 15"/>
          <p:cNvSpPr/>
          <p:nvPr/>
        </p:nvSpPr>
        <p:spPr>
          <a:xfrm>
            <a:off x="457200" y="2551176"/>
            <a:ext cx="566928" cy="329184"/>
          </a:xfrm>
          <a:prstGeom prst="roundRect">
            <a:avLst>
              <a:gd name="adj" fmla="val 13889"/>
            </a:avLst>
          </a:prstGeom>
          <a:solidFill>
            <a:srgbClr val="1F3A8A"/>
          </a:solidFill>
          <a:ln w="12700">
            <a:solidFill>
              <a:srgbClr val="1F3A8A"/>
            </a:solidFill>
            <a:prstDash val="solid"/>
          </a:ln>
        </p:spPr>
      </p:sp>
      <p:sp>
        <p:nvSpPr>
          <p:cNvPr id="18" name="Text 16"/>
          <p:cNvSpPr txBox="1"/>
          <p:nvPr/>
        </p:nvSpPr>
        <p:spPr>
          <a:xfrm>
            <a:off x="457200" y="2551176"/>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BF4</a:t>
            </a:r>
            <a:endParaRPr lang="en-US" sz="950" dirty="0"/>
          </a:p>
        </p:txBody>
      </p:sp>
      <p:sp>
        <p:nvSpPr>
          <p:cNvPr id="19" name="Text 17"/>
          <p:cNvSpPr txBox="1"/>
          <p:nvPr/>
        </p:nvSpPr>
        <p:spPr>
          <a:xfrm>
            <a:off x="1115568" y="2551176"/>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Livraison automatique à portes bloquantes</a:t>
            </a:r>
            <a:endParaRPr lang="en-US" sz="1050" dirty="0"/>
          </a:p>
        </p:txBody>
      </p:sp>
      <p:sp>
        <p:nvSpPr>
          <p:cNvPr id="20" name="Shape 18"/>
          <p:cNvSpPr/>
          <p:nvPr/>
        </p:nvSpPr>
        <p:spPr>
          <a:xfrm>
            <a:off x="457200" y="2944368"/>
            <a:ext cx="566928" cy="329184"/>
          </a:xfrm>
          <a:prstGeom prst="roundRect">
            <a:avLst>
              <a:gd name="adj" fmla="val 13889"/>
            </a:avLst>
          </a:prstGeom>
          <a:solidFill>
            <a:srgbClr val="1F3A8A"/>
          </a:solidFill>
          <a:ln w="12700">
            <a:solidFill>
              <a:srgbClr val="1F3A8A"/>
            </a:solidFill>
            <a:prstDash val="solid"/>
          </a:ln>
        </p:spPr>
      </p:sp>
      <p:sp>
        <p:nvSpPr>
          <p:cNvPr id="21" name="Text 19"/>
          <p:cNvSpPr txBox="1"/>
          <p:nvPr/>
        </p:nvSpPr>
        <p:spPr>
          <a:xfrm>
            <a:off x="457200" y="2944368"/>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BF5</a:t>
            </a:r>
            <a:endParaRPr lang="en-US" sz="950" dirty="0"/>
          </a:p>
        </p:txBody>
      </p:sp>
      <p:sp>
        <p:nvSpPr>
          <p:cNvPr id="22" name="Text 20"/>
          <p:cNvSpPr txBox="1"/>
          <p:nvPr/>
        </p:nvSpPr>
        <p:spPr>
          <a:xfrm>
            <a:off x="1115568" y="2944368"/>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Journaux centralisés, incident affiché ≤ 3 min</a:t>
            </a:r>
            <a:endParaRPr lang="en-US" sz="1050" dirty="0"/>
          </a:p>
        </p:txBody>
      </p:sp>
      <p:sp>
        <p:nvSpPr>
          <p:cNvPr id="23" name="Shape 21"/>
          <p:cNvSpPr/>
          <p:nvPr/>
        </p:nvSpPr>
        <p:spPr>
          <a:xfrm>
            <a:off x="457200" y="3337560"/>
            <a:ext cx="566928" cy="329184"/>
          </a:xfrm>
          <a:prstGeom prst="roundRect">
            <a:avLst>
              <a:gd name="adj" fmla="val 13889"/>
            </a:avLst>
          </a:prstGeom>
          <a:solidFill>
            <a:srgbClr val="1F3A8A"/>
          </a:solidFill>
          <a:ln w="12700">
            <a:solidFill>
              <a:srgbClr val="1F3A8A"/>
            </a:solidFill>
            <a:prstDash val="solid"/>
          </a:ln>
        </p:spPr>
      </p:sp>
      <p:sp>
        <p:nvSpPr>
          <p:cNvPr id="24" name="Text 22"/>
          <p:cNvSpPr txBox="1"/>
          <p:nvPr/>
        </p:nvSpPr>
        <p:spPr>
          <a:xfrm>
            <a:off x="457200" y="3337560"/>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BF6</a:t>
            </a:r>
            <a:endParaRPr lang="en-US" sz="950" dirty="0"/>
          </a:p>
        </p:txBody>
      </p:sp>
      <p:sp>
        <p:nvSpPr>
          <p:cNvPr id="25" name="Text 23"/>
          <p:cNvSpPr txBox="1"/>
          <p:nvPr/>
        </p:nvSpPr>
        <p:spPr>
          <a:xfrm>
            <a:off x="1115568" y="3337560"/>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Trois techniques ATT&amp;CK candidates par alerte</a:t>
            </a:r>
            <a:endParaRPr lang="en-US" sz="1050" dirty="0"/>
          </a:p>
        </p:txBody>
      </p:sp>
      <p:sp>
        <p:nvSpPr>
          <p:cNvPr id="26" name="Shape 24"/>
          <p:cNvSpPr/>
          <p:nvPr/>
        </p:nvSpPr>
        <p:spPr>
          <a:xfrm>
            <a:off x="457200" y="3730752"/>
            <a:ext cx="566928" cy="329184"/>
          </a:xfrm>
          <a:prstGeom prst="roundRect">
            <a:avLst>
              <a:gd name="adj" fmla="val 13889"/>
            </a:avLst>
          </a:prstGeom>
          <a:solidFill>
            <a:srgbClr val="1F3A8A"/>
          </a:solidFill>
          <a:ln w="12700">
            <a:solidFill>
              <a:srgbClr val="1F3A8A"/>
            </a:solidFill>
            <a:prstDash val="solid"/>
          </a:ln>
        </p:spPr>
      </p:sp>
      <p:sp>
        <p:nvSpPr>
          <p:cNvPr id="27" name="Text 25"/>
          <p:cNvSpPr txBox="1"/>
          <p:nvPr/>
        </p:nvSpPr>
        <p:spPr>
          <a:xfrm>
            <a:off x="457200" y="3730752"/>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BF7</a:t>
            </a:r>
            <a:endParaRPr lang="en-US" sz="950" dirty="0"/>
          </a:p>
        </p:txBody>
      </p:sp>
      <p:sp>
        <p:nvSpPr>
          <p:cNvPr id="28" name="Text 26"/>
          <p:cNvSpPr txBox="1"/>
          <p:nvPr/>
        </p:nvSpPr>
        <p:spPr>
          <a:xfrm>
            <a:off x="1115568" y="3730752"/>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Corrélation par entité, verdicts conservés</a:t>
            </a:r>
            <a:endParaRPr lang="en-US" sz="1050" dirty="0"/>
          </a:p>
        </p:txBody>
      </p:sp>
      <p:sp>
        <p:nvSpPr>
          <p:cNvPr id="29" name="Shape 27"/>
          <p:cNvSpPr/>
          <p:nvPr/>
        </p:nvSpPr>
        <p:spPr>
          <a:xfrm>
            <a:off x="457200" y="4123944"/>
            <a:ext cx="566928" cy="329184"/>
          </a:xfrm>
          <a:prstGeom prst="roundRect">
            <a:avLst>
              <a:gd name="adj" fmla="val 13889"/>
            </a:avLst>
          </a:prstGeom>
          <a:solidFill>
            <a:srgbClr val="1F3A8A"/>
          </a:solidFill>
          <a:ln w="12700">
            <a:solidFill>
              <a:srgbClr val="1F3A8A"/>
            </a:solidFill>
            <a:prstDash val="solid"/>
          </a:ln>
        </p:spPr>
      </p:sp>
      <p:sp>
        <p:nvSpPr>
          <p:cNvPr id="30" name="Text 28"/>
          <p:cNvSpPr txBox="1"/>
          <p:nvPr/>
        </p:nvSpPr>
        <p:spPr>
          <a:xfrm>
            <a:off x="457200" y="4123944"/>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BF8</a:t>
            </a:r>
            <a:endParaRPr lang="en-US" sz="950" dirty="0"/>
          </a:p>
        </p:txBody>
      </p:sp>
      <p:sp>
        <p:nvSpPr>
          <p:cNvPr id="31" name="Text 29"/>
          <p:cNvSpPr txBox="1"/>
          <p:nvPr/>
        </p:nvSpPr>
        <p:spPr>
          <a:xfrm>
            <a:off x="1115568" y="4123944"/>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Accueil d'une application par paramétrage</a:t>
            </a:r>
            <a:endParaRPr lang="en-US" sz="1050" dirty="0"/>
          </a:p>
        </p:txBody>
      </p:sp>
      <p:sp>
        <p:nvSpPr>
          <p:cNvPr id="32" name="Shape 30"/>
          <p:cNvSpPr/>
          <p:nvPr/>
        </p:nvSpPr>
        <p:spPr>
          <a:xfrm>
            <a:off x="4663440" y="1371600"/>
            <a:ext cx="566928" cy="329184"/>
          </a:xfrm>
          <a:prstGeom prst="roundRect">
            <a:avLst>
              <a:gd name="adj" fmla="val 13889"/>
            </a:avLst>
          </a:prstGeom>
          <a:solidFill>
            <a:srgbClr val="3D5BB5"/>
          </a:solidFill>
          <a:ln w="12700">
            <a:solidFill>
              <a:srgbClr val="3D5BB5"/>
            </a:solidFill>
            <a:prstDash val="solid"/>
          </a:ln>
        </p:spPr>
      </p:sp>
      <p:sp>
        <p:nvSpPr>
          <p:cNvPr id="33" name="Text 31"/>
          <p:cNvSpPr txBox="1"/>
          <p:nvPr/>
        </p:nvSpPr>
        <p:spPr>
          <a:xfrm>
            <a:off x="4663440" y="1371600"/>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BNF1</a:t>
            </a:r>
            <a:endParaRPr lang="en-US" sz="950" dirty="0"/>
          </a:p>
        </p:txBody>
      </p:sp>
      <p:sp>
        <p:nvSpPr>
          <p:cNvPr id="34" name="Text 32"/>
          <p:cNvSpPr txBox="1"/>
          <p:nvPr/>
        </p:nvSpPr>
        <p:spPr>
          <a:xfrm>
            <a:off x="5321808" y="1371600"/>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Disponibilité ≥ 99 % par mois</a:t>
            </a:r>
            <a:endParaRPr lang="en-US" sz="1050" dirty="0"/>
          </a:p>
        </p:txBody>
      </p:sp>
      <p:sp>
        <p:nvSpPr>
          <p:cNvPr id="35" name="Shape 33"/>
          <p:cNvSpPr/>
          <p:nvPr/>
        </p:nvSpPr>
        <p:spPr>
          <a:xfrm>
            <a:off x="4663440" y="1764792"/>
            <a:ext cx="566928" cy="329184"/>
          </a:xfrm>
          <a:prstGeom prst="roundRect">
            <a:avLst>
              <a:gd name="adj" fmla="val 13889"/>
            </a:avLst>
          </a:prstGeom>
          <a:solidFill>
            <a:srgbClr val="3D5BB5"/>
          </a:solidFill>
          <a:ln w="12700">
            <a:solidFill>
              <a:srgbClr val="3D5BB5"/>
            </a:solidFill>
            <a:prstDash val="solid"/>
          </a:ln>
        </p:spPr>
      </p:sp>
      <p:sp>
        <p:nvSpPr>
          <p:cNvPr id="36" name="Text 34"/>
          <p:cNvSpPr txBox="1"/>
          <p:nvPr/>
        </p:nvSpPr>
        <p:spPr>
          <a:xfrm>
            <a:off x="4663440" y="1764792"/>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BNF2</a:t>
            </a:r>
            <a:endParaRPr lang="en-US" sz="950" dirty="0"/>
          </a:p>
        </p:txBody>
      </p:sp>
      <p:sp>
        <p:nvSpPr>
          <p:cNvPr id="37" name="Text 35"/>
          <p:cNvSpPr txBox="1"/>
          <p:nvPr/>
        </p:nvSpPr>
        <p:spPr>
          <a:xfrm>
            <a:off x="5321808" y="1764792"/>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95 % des requêtes en moins d'une seconde</a:t>
            </a:r>
            <a:endParaRPr lang="en-US" sz="1050" dirty="0"/>
          </a:p>
        </p:txBody>
      </p:sp>
      <p:sp>
        <p:nvSpPr>
          <p:cNvPr id="38" name="Shape 36"/>
          <p:cNvSpPr/>
          <p:nvPr/>
        </p:nvSpPr>
        <p:spPr>
          <a:xfrm>
            <a:off x="4663440" y="2157984"/>
            <a:ext cx="566928" cy="329184"/>
          </a:xfrm>
          <a:prstGeom prst="roundRect">
            <a:avLst>
              <a:gd name="adj" fmla="val 13889"/>
            </a:avLst>
          </a:prstGeom>
          <a:solidFill>
            <a:srgbClr val="3D5BB5"/>
          </a:solidFill>
          <a:ln w="12700">
            <a:solidFill>
              <a:srgbClr val="3D5BB5"/>
            </a:solidFill>
            <a:prstDash val="solid"/>
          </a:ln>
        </p:spPr>
      </p:sp>
      <p:sp>
        <p:nvSpPr>
          <p:cNvPr id="39" name="Text 37"/>
          <p:cNvSpPr txBox="1"/>
          <p:nvPr/>
        </p:nvSpPr>
        <p:spPr>
          <a:xfrm>
            <a:off x="4663440" y="2157984"/>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BNF3</a:t>
            </a:r>
            <a:endParaRPr lang="en-US" sz="950" dirty="0"/>
          </a:p>
        </p:txBody>
      </p:sp>
      <p:sp>
        <p:nvSpPr>
          <p:cNvPr id="40" name="Text 38"/>
          <p:cNvSpPr txBox="1"/>
          <p:nvPr/>
        </p:nvSpPr>
        <p:spPr>
          <a:xfrm>
            <a:off x="5321808" y="2157984"/>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Coût ≤ 50 € par mois</a:t>
            </a:r>
            <a:endParaRPr lang="en-US" sz="1050" dirty="0"/>
          </a:p>
        </p:txBody>
      </p:sp>
      <p:sp>
        <p:nvSpPr>
          <p:cNvPr id="41" name="Shape 39"/>
          <p:cNvSpPr/>
          <p:nvPr/>
        </p:nvSpPr>
        <p:spPr>
          <a:xfrm>
            <a:off x="4663440" y="2551176"/>
            <a:ext cx="566928" cy="329184"/>
          </a:xfrm>
          <a:prstGeom prst="roundRect">
            <a:avLst>
              <a:gd name="adj" fmla="val 13889"/>
            </a:avLst>
          </a:prstGeom>
          <a:solidFill>
            <a:srgbClr val="3D5BB5"/>
          </a:solidFill>
          <a:ln w="12700">
            <a:solidFill>
              <a:srgbClr val="3D5BB5"/>
            </a:solidFill>
            <a:prstDash val="solid"/>
          </a:ln>
        </p:spPr>
      </p:sp>
      <p:sp>
        <p:nvSpPr>
          <p:cNvPr id="42" name="Text 40"/>
          <p:cNvSpPr txBox="1"/>
          <p:nvPr/>
        </p:nvSpPr>
        <p:spPr>
          <a:xfrm>
            <a:off x="4663440" y="2551176"/>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BNF4</a:t>
            </a:r>
            <a:endParaRPr lang="en-US" sz="950" dirty="0"/>
          </a:p>
        </p:txBody>
      </p:sp>
      <p:sp>
        <p:nvSpPr>
          <p:cNvPr id="43" name="Text 41"/>
          <p:cNvSpPr txBox="1"/>
          <p:nvPr/>
        </p:nvSpPr>
        <p:spPr>
          <a:xfrm>
            <a:off x="5321808" y="2551176"/>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Procédures exécutables par une personne</a:t>
            </a:r>
            <a:endParaRPr lang="en-US" sz="1050" dirty="0"/>
          </a:p>
        </p:txBody>
      </p:sp>
      <p:sp>
        <p:nvSpPr>
          <p:cNvPr id="44" name="Shape 42"/>
          <p:cNvSpPr/>
          <p:nvPr/>
        </p:nvSpPr>
        <p:spPr>
          <a:xfrm>
            <a:off x="4663440" y="2944368"/>
            <a:ext cx="566928" cy="329184"/>
          </a:xfrm>
          <a:prstGeom prst="roundRect">
            <a:avLst>
              <a:gd name="adj" fmla="val 13889"/>
            </a:avLst>
          </a:prstGeom>
          <a:solidFill>
            <a:srgbClr val="3D5BB5"/>
          </a:solidFill>
          <a:ln w="12700">
            <a:solidFill>
              <a:srgbClr val="3D5BB5"/>
            </a:solidFill>
            <a:prstDash val="solid"/>
          </a:ln>
        </p:spPr>
      </p:sp>
      <p:sp>
        <p:nvSpPr>
          <p:cNvPr id="45" name="Text 43"/>
          <p:cNvSpPr txBox="1"/>
          <p:nvPr/>
        </p:nvSpPr>
        <p:spPr>
          <a:xfrm>
            <a:off x="4663440" y="2944368"/>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BNF5</a:t>
            </a:r>
            <a:endParaRPr lang="en-US" sz="950" dirty="0"/>
          </a:p>
        </p:txBody>
      </p:sp>
      <p:sp>
        <p:nvSpPr>
          <p:cNvPr id="46" name="Text 44"/>
          <p:cNvSpPr txBox="1"/>
          <p:nvPr/>
        </p:nvSpPr>
        <p:spPr>
          <a:xfrm>
            <a:off x="5321808" y="2944368"/>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Reconstruction d'un environnement &lt; 1 h</a:t>
            </a:r>
            <a:endParaRPr lang="en-US" sz="1050" dirty="0"/>
          </a:p>
        </p:txBody>
      </p:sp>
      <p:sp>
        <p:nvSpPr>
          <p:cNvPr id="47" name="Shape 45"/>
          <p:cNvSpPr/>
          <p:nvPr/>
        </p:nvSpPr>
        <p:spPr>
          <a:xfrm>
            <a:off x="4663440" y="3337560"/>
            <a:ext cx="566928" cy="329184"/>
          </a:xfrm>
          <a:prstGeom prst="roundRect">
            <a:avLst>
              <a:gd name="adj" fmla="val 13889"/>
            </a:avLst>
          </a:prstGeom>
          <a:solidFill>
            <a:srgbClr val="3D5BB5"/>
          </a:solidFill>
          <a:ln w="12700">
            <a:solidFill>
              <a:srgbClr val="3D5BB5"/>
            </a:solidFill>
            <a:prstDash val="solid"/>
          </a:ln>
        </p:spPr>
      </p:sp>
      <p:sp>
        <p:nvSpPr>
          <p:cNvPr id="48" name="Text 46"/>
          <p:cNvSpPr txBox="1"/>
          <p:nvPr/>
        </p:nvSpPr>
        <p:spPr>
          <a:xfrm>
            <a:off x="4663440" y="3337560"/>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BNF6</a:t>
            </a:r>
            <a:endParaRPr lang="en-US" sz="950" dirty="0"/>
          </a:p>
        </p:txBody>
      </p:sp>
      <p:sp>
        <p:nvSpPr>
          <p:cNvPr id="49" name="Text 47"/>
          <p:cNvSpPr txBox="1"/>
          <p:nvPr/>
        </p:nvSpPr>
        <p:spPr>
          <a:xfrm>
            <a:off x="5321808" y="3337560"/>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Toute action privilégiée attribuable et datée</a:t>
            </a:r>
            <a:endParaRPr lang="en-US" sz="1050" dirty="0"/>
          </a:p>
        </p:txBody>
      </p:sp>
      <p:sp>
        <p:nvSpPr>
          <p:cNvPr id="50" name="Shape 48"/>
          <p:cNvSpPr/>
          <p:nvPr/>
        </p:nvSpPr>
        <p:spPr>
          <a:xfrm>
            <a:off x="4663440" y="3730752"/>
            <a:ext cx="566928" cy="329184"/>
          </a:xfrm>
          <a:prstGeom prst="roundRect">
            <a:avLst>
              <a:gd name="adj" fmla="val 13889"/>
            </a:avLst>
          </a:prstGeom>
          <a:solidFill>
            <a:srgbClr val="3D5BB5"/>
          </a:solidFill>
          <a:ln w="12700">
            <a:solidFill>
              <a:srgbClr val="3D5BB5"/>
            </a:solidFill>
            <a:prstDash val="solid"/>
          </a:ln>
        </p:spPr>
      </p:sp>
      <p:sp>
        <p:nvSpPr>
          <p:cNvPr id="51" name="Text 49"/>
          <p:cNvSpPr txBox="1"/>
          <p:nvPr/>
        </p:nvSpPr>
        <p:spPr>
          <a:xfrm>
            <a:off x="4663440" y="3730752"/>
            <a:ext cx="56692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BNF7</a:t>
            </a:r>
            <a:endParaRPr lang="en-US" sz="950" dirty="0"/>
          </a:p>
        </p:txBody>
      </p:sp>
      <p:sp>
        <p:nvSpPr>
          <p:cNvPr id="52" name="Text 50"/>
          <p:cNvSpPr txBox="1"/>
          <p:nvPr/>
        </p:nvSpPr>
        <p:spPr>
          <a:xfrm>
            <a:off x="5321808" y="3730752"/>
            <a:ext cx="3337560" cy="329184"/>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RTO &lt; 1 h, RPO &lt; 5 min</a:t>
            </a:r>
            <a:endParaRPr lang="en-US" sz="1050" dirty="0"/>
          </a:p>
        </p:txBody>
      </p:sp>
      <p:sp>
        <p:nvSpPr>
          <p:cNvPr id="53" name="Shape 51"/>
          <p:cNvSpPr/>
          <p:nvPr/>
        </p:nvSpPr>
        <p:spPr>
          <a:xfrm>
            <a:off x="4663440" y="4160520"/>
            <a:ext cx="4023360" cy="411480"/>
          </a:xfrm>
          <a:prstGeom prst="roundRect">
            <a:avLst>
              <a:gd name="adj" fmla="val 13333"/>
            </a:avLst>
          </a:prstGeom>
          <a:solidFill>
            <a:srgbClr val="F3F6FC"/>
          </a:solidFill>
          <a:ln w="9525">
            <a:solidFill>
              <a:srgbClr val="D5DBE8"/>
            </a:solidFill>
            <a:prstDash val="solid"/>
          </a:ln>
        </p:spPr>
      </p:sp>
      <p:sp>
        <p:nvSpPr>
          <p:cNvPr id="54" name="Text 52"/>
          <p:cNvSpPr txBox="1"/>
          <p:nvPr/>
        </p:nvSpPr>
        <p:spPr>
          <a:xfrm>
            <a:off x="4800600" y="4160520"/>
            <a:ext cx="3794760" cy="411480"/>
          </a:xfrm>
          <a:prstGeom prst="rect">
            <a:avLst/>
          </a:prstGeom>
          <a:noFill/>
          <a:ln/>
        </p:spPr>
        <p:txBody>
          <a:bodyPr wrap="square" lIns="0" tIns="0" rIns="0" bIns="0" rtlCol="0" anchor="ctr"/>
          <a:lstStyle/>
          <a:p>
            <a:pPr indent="0" marL="0">
              <a:buNone/>
            </a:pPr>
            <a:r>
              <a:rPr lang="en-US" sz="1000" b="1" dirty="0">
                <a:solidFill>
                  <a:srgbClr val="1F3A8A"/>
                </a:solidFill>
                <a:latin typeface="Calibri" pitchFamily="34" charset="0"/>
                <a:ea typeface="Calibri" pitchFamily="34" charset="-122"/>
                <a:cs typeface="Calibri" pitchFamily="34" charset="-120"/>
              </a:rPr>
              <a:t>Douze menaces (STRIDE, EBIOS RM) → douze exigences EX1–EX12 → douze tests T1–T12</a:t>
            </a:r>
            <a:endParaRPr lang="en-US" sz="1000" dirty="0"/>
          </a:p>
        </p:txBody>
      </p:sp>
      <p:sp>
        <p:nvSpPr>
          <p:cNvPr id="55" name="Text 53"/>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56" name="Text 54"/>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OUTILS UTILISÉS</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Un choix par couche, un critère décisif par outil</a:t>
            </a:r>
            <a:endParaRPr lang="en-US" sz="2400" dirty="0"/>
          </a:p>
        </p:txBody>
      </p:sp>
      <p:sp>
        <p:nvSpPr>
          <p:cNvPr id="6" name="Shape 4"/>
          <p:cNvSpPr/>
          <p:nvPr/>
        </p:nvSpPr>
        <p:spPr>
          <a:xfrm>
            <a:off x="457200" y="1097280"/>
            <a:ext cx="1965960" cy="3429000"/>
          </a:xfrm>
          <a:prstGeom prst="roundRect">
            <a:avLst>
              <a:gd name="adj" fmla="val 2791"/>
            </a:avLst>
          </a:prstGeom>
          <a:solidFill>
            <a:srgbClr val="F3F6FC"/>
          </a:solidFill>
          <a:ln w="9525">
            <a:solidFill>
              <a:srgbClr val="D5DBE8"/>
            </a:solidFill>
            <a:prstDash val="solid"/>
          </a:ln>
        </p:spPr>
      </p:sp>
      <p:sp>
        <p:nvSpPr>
          <p:cNvPr id="7" name="Shape 5"/>
          <p:cNvSpPr/>
          <p:nvPr/>
        </p:nvSpPr>
        <p:spPr>
          <a:xfrm>
            <a:off x="594360" y="1207008"/>
            <a:ext cx="1691640" cy="411480"/>
          </a:xfrm>
          <a:prstGeom prst="roundRect">
            <a:avLst>
              <a:gd name="adj" fmla="val 11111"/>
            </a:avLst>
          </a:prstGeom>
          <a:solidFill>
            <a:srgbClr val="1F3A8A"/>
          </a:solidFill>
          <a:ln w="12700">
            <a:solidFill>
              <a:srgbClr val="1F3A8A"/>
            </a:solidFill>
            <a:prstDash val="solid"/>
          </a:ln>
        </p:spPr>
      </p:sp>
      <p:sp>
        <p:nvSpPr>
          <p:cNvPr id="8" name="Text 6"/>
          <p:cNvSpPr txBox="1"/>
          <p:nvPr/>
        </p:nvSpPr>
        <p:spPr>
          <a:xfrm>
            <a:off x="594360" y="1207008"/>
            <a:ext cx="169164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Plateforme Google Cloud</a:t>
            </a:r>
            <a:endParaRPr lang="en-US" sz="1050" dirty="0"/>
          </a:p>
        </p:txBody>
      </p:sp>
      <p:sp>
        <p:nvSpPr>
          <p:cNvPr id="9" name="Text 7"/>
          <p:cNvSpPr txBox="1"/>
          <p:nvPr/>
        </p:nvSpPr>
        <p:spPr>
          <a:xfrm>
            <a:off x="594360" y="1737360"/>
            <a:ext cx="1737360" cy="2697480"/>
          </a:xfrm>
          <a:prstGeom prst="rect">
            <a:avLst/>
          </a:prstGeom>
          <a:noFill/>
          <a:ln/>
        </p:spPr>
        <p:txBody>
          <a:bodyPr wrap="square" lIns="0" tIns="0" rIns="0" bIns="0" rtlCol="0" anchor="t"/>
          <a:lstStyle/>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Cloud Run (services et jobs)</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Cloud SQL PostgreSQL 15 (privée)</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BigQuery (entrepôt, vecteurs)</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Load Balancing + Cloud Armor (WAF)</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IAM + fédération OIDC (WIF)</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Secret Manager + Cloud KMS</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Logging, Scheduler, Monitoring</a:t>
            </a:r>
            <a:endParaRPr lang="en-US" sz="1000" dirty="0"/>
          </a:p>
        </p:txBody>
      </p:sp>
      <p:sp>
        <p:nvSpPr>
          <p:cNvPr id="10" name="Shape 8"/>
          <p:cNvSpPr/>
          <p:nvPr/>
        </p:nvSpPr>
        <p:spPr>
          <a:xfrm>
            <a:off x="2532888" y="1097280"/>
            <a:ext cx="1965960" cy="3429000"/>
          </a:xfrm>
          <a:prstGeom prst="roundRect">
            <a:avLst>
              <a:gd name="adj" fmla="val 2791"/>
            </a:avLst>
          </a:prstGeom>
          <a:solidFill>
            <a:srgbClr val="F3F6FC"/>
          </a:solidFill>
          <a:ln w="9525">
            <a:solidFill>
              <a:srgbClr val="D5DBE8"/>
            </a:solidFill>
            <a:prstDash val="solid"/>
          </a:ln>
        </p:spPr>
      </p:sp>
      <p:sp>
        <p:nvSpPr>
          <p:cNvPr id="11" name="Shape 9"/>
          <p:cNvSpPr/>
          <p:nvPr/>
        </p:nvSpPr>
        <p:spPr>
          <a:xfrm>
            <a:off x="2670048" y="1207008"/>
            <a:ext cx="1691640" cy="411480"/>
          </a:xfrm>
          <a:prstGeom prst="roundRect">
            <a:avLst>
              <a:gd name="adj" fmla="val 11111"/>
            </a:avLst>
          </a:prstGeom>
          <a:solidFill>
            <a:srgbClr val="2E8B57"/>
          </a:solidFill>
          <a:ln w="12700">
            <a:solidFill>
              <a:srgbClr val="2E8B57"/>
            </a:solidFill>
            <a:prstDash val="solid"/>
          </a:ln>
        </p:spPr>
      </p:sp>
      <p:sp>
        <p:nvSpPr>
          <p:cNvPr id="12" name="Text 10"/>
          <p:cNvSpPr txBox="1"/>
          <p:nvPr/>
        </p:nvSpPr>
        <p:spPr>
          <a:xfrm>
            <a:off x="2670048" y="1207008"/>
            <a:ext cx="169164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Infrastructure et livraison</a:t>
            </a:r>
            <a:endParaRPr lang="en-US" sz="1050" dirty="0"/>
          </a:p>
        </p:txBody>
      </p:sp>
      <p:sp>
        <p:nvSpPr>
          <p:cNvPr id="13" name="Text 11"/>
          <p:cNvSpPr txBox="1"/>
          <p:nvPr/>
        </p:nvSpPr>
        <p:spPr>
          <a:xfrm>
            <a:off x="2670048" y="1737360"/>
            <a:ext cx="1737360" cy="2697480"/>
          </a:xfrm>
          <a:prstGeom prst="rect">
            <a:avLst/>
          </a:prstGeom>
          <a:noFill/>
          <a:ln/>
        </p:spPr>
        <p:txBody>
          <a:bodyPr wrap="square" lIns="0" tIns="0" rIns="0" bIns="0" rtlCol="0" anchor="t"/>
          <a:lstStyle/>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Terraform (modules, 3 environnements)</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GitHub Actions (OIDC, sans clé)</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Gitleaks — secrets</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Semgrep — analyse statique</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pytest / jest — tests</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Trivy — CVE, SBOM, IaC</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Docker multi-étape</a:t>
            </a:r>
            <a:endParaRPr lang="en-US" sz="1000" dirty="0"/>
          </a:p>
        </p:txBody>
      </p:sp>
      <p:sp>
        <p:nvSpPr>
          <p:cNvPr id="14" name="Shape 12"/>
          <p:cNvSpPr/>
          <p:nvPr/>
        </p:nvSpPr>
        <p:spPr>
          <a:xfrm>
            <a:off x="4608576" y="1097280"/>
            <a:ext cx="1965960" cy="3429000"/>
          </a:xfrm>
          <a:prstGeom prst="roundRect">
            <a:avLst>
              <a:gd name="adj" fmla="val 2791"/>
            </a:avLst>
          </a:prstGeom>
          <a:solidFill>
            <a:srgbClr val="F3F6FC"/>
          </a:solidFill>
          <a:ln w="9525">
            <a:solidFill>
              <a:srgbClr val="D5DBE8"/>
            </a:solidFill>
            <a:prstDash val="solid"/>
          </a:ln>
        </p:spPr>
      </p:sp>
      <p:sp>
        <p:nvSpPr>
          <p:cNvPr id="15" name="Shape 13"/>
          <p:cNvSpPr/>
          <p:nvPr/>
        </p:nvSpPr>
        <p:spPr>
          <a:xfrm>
            <a:off x="4745736" y="1207008"/>
            <a:ext cx="1691640" cy="411480"/>
          </a:xfrm>
          <a:prstGeom prst="roundRect">
            <a:avLst>
              <a:gd name="adj" fmla="val 11111"/>
            </a:avLst>
          </a:prstGeom>
          <a:solidFill>
            <a:srgbClr val="D98E1F"/>
          </a:solidFill>
          <a:ln w="12700">
            <a:solidFill>
              <a:srgbClr val="D98E1F"/>
            </a:solidFill>
            <a:prstDash val="solid"/>
          </a:ln>
        </p:spPr>
      </p:sp>
      <p:sp>
        <p:nvSpPr>
          <p:cNvPr id="16" name="Text 14"/>
          <p:cNvSpPr txBox="1"/>
          <p:nvPr/>
        </p:nvSpPr>
        <p:spPr>
          <a:xfrm>
            <a:off x="4745736" y="1207008"/>
            <a:ext cx="169164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Applications du socle</a:t>
            </a:r>
            <a:endParaRPr lang="en-US" sz="1050" dirty="0"/>
          </a:p>
        </p:txBody>
      </p:sp>
      <p:sp>
        <p:nvSpPr>
          <p:cNvPr id="17" name="Text 15"/>
          <p:cNvSpPr txBox="1"/>
          <p:nvPr/>
        </p:nvSpPr>
        <p:spPr>
          <a:xfrm>
            <a:off x="4745736" y="1737360"/>
            <a:ext cx="1737360" cy="2697480"/>
          </a:xfrm>
          <a:prstGeom prst="rect">
            <a:avLst/>
          </a:prstGeom>
          <a:noFill/>
          <a:ln/>
        </p:spPr>
        <p:txBody>
          <a:bodyPr wrap="square" lIns="0" tIns="0" rIns="0" bIns="0" rtlCol="0" anchor="t"/>
          <a:lstStyle/>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FastAPI — API de supervision</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Next.js — tableau de bord MENAL Sentinel</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PostgreSQL — comptes, bases isolées</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ATT&amp;CK-BERT + ONNX — qualification</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TOTP (RFC 6238) — second facteur</a:t>
            </a:r>
            <a:endParaRPr lang="en-US" sz="1000" dirty="0"/>
          </a:p>
        </p:txBody>
      </p:sp>
      <p:sp>
        <p:nvSpPr>
          <p:cNvPr id="18" name="Shape 16"/>
          <p:cNvSpPr/>
          <p:nvPr/>
        </p:nvSpPr>
        <p:spPr>
          <a:xfrm>
            <a:off x="6684264" y="1097280"/>
            <a:ext cx="1965960" cy="3429000"/>
          </a:xfrm>
          <a:prstGeom prst="roundRect">
            <a:avLst>
              <a:gd name="adj" fmla="val 2791"/>
            </a:avLst>
          </a:prstGeom>
          <a:solidFill>
            <a:srgbClr val="F3F6FC"/>
          </a:solidFill>
          <a:ln w="9525">
            <a:solidFill>
              <a:srgbClr val="D5DBE8"/>
            </a:solidFill>
            <a:prstDash val="solid"/>
          </a:ln>
        </p:spPr>
      </p:sp>
      <p:sp>
        <p:nvSpPr>
          <p:cNvPr id="19" name="Shape 17"/>
          <p:cNvSpPr/>
          <p:nvPr/>
        </p:nvSpPr>
        <p:spPr>
          <a:xfrm>
            <a:off x="6821424" y="1207008"/>
            <a:ext cx="1691640" cy="411480"/>
          </a:xfrm>
          <a:prstGeom prst="roundRect">
            <a:avLst>
              <a:gd name="adj" fmla="val 11111"/>
            </a:avLst>
          </a:prstGeom>
          <a:solidFill>
            <a:srgbClr val="6B7280"/>
          </a:solidFill>
          <a:ln w="12700">
            <a:solidFill>
              <a:srgbClr val="6B7280"/>
            </a:solidFill>
            <a:prstDash val="solid"/>
          </a:ln>
        </p:spPr>
      </p:sp>
      <p:sp>
        <p:nvSpPr>
          <p:cNvPr id="20" name="Text 18"/>
          <p:cNvSpPr txBox="1"/>
          <p:nvPr/>
        </p:nvSpPr>
        <p:spPr>
          <a:xfrm>
            <a:off x="6821424" y="1207008"/>
            <a:ext cx="169164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Référentiels</a:t>
            </a:r>
            <a:endParaRPr lang="en-US" sz="1050" dirty="0"/>
          </a:p>
        </p:txBody>
      </p:sp>
      <p:sp>
        <p:nvSpPr>
          <p:cNvPr id="21" name="Text 19"/>
          <p:cNvSpPr txBox="1"/>
          <p:nvPr/>
        </p:nvSpPr>
        <p:spPr>
          <a:xfrm>
            <a:off x="6821424" y="1737360"/>
            <a:ext cx="1737360" cy="2697480"/>
          </a:xfrm>
          <a:prstGeom prst="rect">
            <a:avLst/>
          </a:prstGeom>
          <a:noFill/>
          <a:ln/>
        </p:spPr>
        <p:txBody>
          <a:bodyPr wrap="square" lIns="0" tIns="0" rIns="0" bIns="0" rtlCol="0" anchor="t"/>
          <a:lstStyle/>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NIST SP 800-207, CISA ZTMM</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NIST SP 800-218 (SSDF)</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MITRE ATT&amp;CK v17.1</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OWASP Top 10, CIS GCP</a:t>
            </a:r>
            <a:endParaRPr lang="en-US" sz="1000" dirty="0"/>
          </a:p>
          <a:p>
            <a:pPr marL="127000" indent="-127000">
              <a:spcAft>
                <a:spcPts val="400"/>
              </a:spcAft>
              <a:buSzPct val="100000"/>
              <a:buChar char="•"/>
            </a:pPr>
            <a:r>
              <a:rPr lang="en-US" sz="1000" dirty="0">
                <a:solidFill>
                  <a:srgbClr val="1F2937"/>
                </a:solidFill>
                <a:latin typeface="Calibri" pitchFamily="34" charset="0"/>
                <a:ea typeface="Calibri" pitchFamily="34" charset="-122"/>
                <a:cs typeface="Calibri" pitchFamily="34" charset="-120"/>
              </a:rPr>
              <a:t>EBIOS RM, STRIDE</a:t>
            </a:r>
            <a:endParaRPr lang="en-US" sz="1000" dirty="0"/>
          </a:p>
        </p:txBody>
      </p:sp>
      <p:sp>
        <p:nvSpPr>
          <p:cNvPr id="22" name="Text 20"/>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23" name="Text 21"/>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MÉTHODOLOGIE</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De la valeur à la preuve, par itérations de deux semaines</a:t>
            </a:r>
            <a:endParaRPr lang="en-US" sz="2400" dirty="0"/>
          </a:p>
        </p:txBody>
      </p:sp>
      <p:sp>
        <p:nvSpPr>
          <p:cNvPr id="6" name="Shape 4"/>
          <p:cNvSpPr/>
          <p:nvPr/>
        </p:nvSpPr>
        <p:spPr>
          <a:xfrm>
            <a:off x="457200" y="1143000"/>
            <a:ext cx="1417320" cy="777240"/>
          </a:xfrm>
          <a:prstGeom prst="chevron">
            <a:avLst/>
          </a:prstGeom>
          <a:solidFill>
            <a:srgbClr val="1F3A8A"/>
          </a:solidFill>
          <a:ln w="12700">
            <a:solidFill>
              <a:srgbClr val="FFFFFF"/>
            </a:solidFill>
            <a:prstDash val="solid"/>
          </a:ln>
        </p:spPr>
      </p:sp>
      <p:sp>
        <p:nvSpPr>
          <p:cNvPr id="7" name="Text 5"/>
          <p:cNvSpPr txBox="1"/>
          <p:nvPr/>
        </p:nvSpPr>
        <p:spPr>
          <a:xfrm>
            <a:off x="640080" y="1143000"/>
            <a:ext cx="1051560" cy="7772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Audit</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4 constats</a:t>
            </a:r>
            <a:endParaRPr lang="en-US" sz="950" dirty="0"/>
          </a:p>
        </p:txBody>
      </p:sp>
      <p:sp>
        <p:nvSpPr>
          <p:cNvPr id="8" name="Shape 6"/>
          <p:cNvSpPr/>
          <p:nvPr/>
        </p:nvSpPr>
        <p:spPr>
          <a:xfrm>
            <a:off x="1828800" y="1143000"/>
            <a:ext cx="1417320" cy="777240"/>
          </a:xfrm>
          <a:prstGeom prst="chevron">
            <a:avLst/>
          </a:prstGeom>
          <a:solidFill>
            <a:srgbClr val="1F3A8A"/>
          </a:solidFill>
          <a:ln w="12700">
            <a:solidFill>
              <a:srgbClr val="FFFFFF"/>
            </a:solidFill>
            <a:prstDash val="solid"/>
          </a:ln>
        </p:spPr>
      </p:sp>
      <p:sp>
        <p:nvSpPr>
          <p:cNvPr id="9" name="Text 7"/>
          <p:cNvSpPr txBox="1"/>
          <p:nvPr/>
        </p:nvSpPr>
        <p:spPr>
          <a:xfrm>
            <a:off x="2011680" y="1143000"/>
            <a:ext cx="1051560" cy="7772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État de l'art</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choix justifiés</a:t>
            </a:r>
            <a:endParaRPr lang="en-US" sz="950" dirty="0"/>
          </a:p>
        </p:txBody>
      </p:sp>
      <p:sp>
        <p:nvSpPr>
          <p:cNvPr id="10" name="Shape 8"/>
          <p:cNvSpPr/>
          <p:nvPr/>
        </p:nvSpPr>
        <p:spPr>
          <a:xfrm>
            <a:off x="3200400" y="1143000"/>
            <a:ext cx="1417320" cy="777240"/>
          </a:xfrm>
          <a:prstGeom prst="chevron">
            <a:avLst/>
          </a:prstGeom>
          <a:solidFill>
            <a:srgbClr val="1F3A8A"/>
          </a:solidFill>
          <a:ln w="12700">
            <a:solidFill>
              <a:srgbClr val="FFFFFF"/>
            </a:solidFill>
            <a:prstDash val="solid"/>
          </a:ln>
        </p:spPr>
      </p:sp>
      <p:sp>
        <p:nvSpPr>
          <p:cNvPr id="11" name="Text 9"/>
          <p:cNvSpPr txBox="1"/>
          <p:nvPr/>
        </p:nvSpPr>
        <p:spPr>
          <a:xfrm>
            <a:off x="3383280" y="1143000"/>
            <a:ext cx="1051560" cy="7772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Menaces</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12 exigences</a:t>
            </a:r>
            <a:endParaRPr lang="en-US" sz="950" dirty="0"/>
          </a:p>
        </p:txBody>
      </p:sp>
      <p:sp>
        <p:nvSpPr>
          <p:cNvPr id="12" name="Shape 10"/>
          <p:cNvSpPr/>
          <p:nvPr/>
        </p:nvSpPr>
        <p:spPr>
          <a:xfrm>
            <a:off x="4572000" y="1143000"/>
            <a:ext cx="1417320" cy="777240"/>
          </a:xfrm>
          <a:prstGeom prst="chevron">
            <a:avLst/>
          </a:prstGeom>
          <a:solidFill>
            <a:srgbClr val="1F3A8A"/>
          </a:solidFill>
          <a:ln w="12700">
            <a:solidFill>
              <a:srgbClr val="FFFFFF"/>
            </a:solidFill>
            <a:prstDash val="solid"/>
          </a:ln>
        </p:spPr>
      </p:sp>
      <p:sp>
        <p:nvSpPr>
          <p:cNvPr id="13" name="Text 11"/>
          <p:cNvSpPr txBox="1"/>
          <p:nvPr/>
        </p:nvSpPr>
        <p:spPr>
          <a:xfrm>
            <a:off x="4754880" y="1143000"/>
            <a:ext cx="1051560" cy="7772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Conception</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9 décisions datées</a:t>
            </a:r>
            <a:endParaRPr lang="en-US" sz="950" dirty="0"/>
          </a:p>
        </p:txBody>
      </p:sp>
      <p:sp>
        <p:nvSpPr>
          <p:cNvPr id="14" name="Shape 12"/>
          <p:cNvSpPr/>
          <p:nvPr/>
        </p:nvSpPr>
        <p:spPr>
          <a:xfrm>
            <a:off x="5943600" y="1143000"/>
            <a:ext cx="1417320" cy="777240"/>
          </a:xfrm>
          <a:prstGeom prst="chevron">
            <a:avLst/>
          </a:prstGeom>
          <a:solidFill>
            <a:srgbClr val="1F3A8A"/>
          </a:solidFill>
          <a:ln w="12700">
            <a:solidFill>
              <a:srgbClr val="FFFFFF"/>
            </a:solidFill>
            <a:prstDash val="solid"/>
          </a:ln>
        </p:spPr>
      </p:sp>
      <p:sp>
        <p:nvSpPr>
          <p:cNvPr id="15" name="Text 13"/>
          <p:cNvSpPr txBox="1"/>
          <p:nvPr/>
        </p:nvSpPr>
        <p:spPr>
          <a:xfrm>
            <a:off x="6126480" y="1143000"/>
            <a:ext cx="1051560" cy="7772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Réalisation</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trois chaînes</a:t>
            </a:r>
            <a:endParaRPr lang="en-US" sz="950" dirty="0"/>
          </a:p>
        </p:txBody>
      </p:sp>
      <p:sp>
        <p:nvSpPr>
          <p:cNvPr id="16" name="Shape 14"/>
          <p:cNvSpPr/>
          <p:nvPr/>
        </p:nvSpPr>
        <p:spPr>
          <a:xfrm>
            <a:off x="7315200" y="1143000"/>
            <a:ext cx="1417320" cy="777240"/>
          </a:xfrm>
          <a:prstGeom prst="chevron">
            <a:avLst/>
          </a:prstGeom>
          <a:solidFill>
            <a:srgbClr val="2E8B57"/>
          </a:solidFill>
          <a:ln w="12700">
            <a:solidFill>
              <a:srgbClr val="FFFFFF"/>
            </a:solidFill>
            <a:prstDash val="solid"/>
          </a:ln>
        </p:spPr>
      </p:sp>
      <p:sp>
        <p:nvSpPr>
          <p:cNvPr id="17" name="Text 15"/>
          <p:cNvSpPr txBox="1"/>
          <p:nvPr/>
        </p:nvSpPr>
        <p:spPr>
          <a:xfrm>
            <a:off x="7498080" y="1143000"/>
            <a:ext cx="1051560" cy="7772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Validation</a:t>
            </a:r>
            <a:endParaRPr lang="en-US" sz="950" dirty="0"/>
          </a:p>
          <a:p>
            <a:pPr algn="ctr" indent="0" marL="0">
              <a:buNone/>
            </a:pPr>
            <a:r>
              <a:rPr lang="en-US" sz="950" b="1" dirty="0">
                <a:solidFill>
                  <a:srgbClr val="FFFFFF"/>
                </a:solidFill>
                <a:latin typeface="Calibri" pitchFamily="34" charset="0"/>
                <a:ea typeface="Calibri" pitchFamily="34" charset="-122"/>
                <a:cs typeface="Calibri" pitchFamily="34" charset="-120"/>
              </a:rPr>
              <a:t>12 tests</a:t>
            </a:r>
            <a:endParaRPr lang="en-US" sz="950" dirty="0"/>
          </a:p>
        </p:txBody>
      </p:sp>
      <p:sp>
        <p:nvSpPr>
          <p:cNvPr id="18" name="Shape 16"/>
          <p:cNvSpPr/>
          <p:nvPr/>
        </p:nvSpPr>
        <p:spPr>
          <a:xfrm>
            <a:off x="7498080" y="2057400"/>
            <a:ext cx="0" cy="320040"/>
          </a:xfrm>
          <a:prstGeom prst="line">
            <a:avLst/>
          </a:prstGeom>
          <a:noFill/>
          <a:ln w="19050">
            <a:solidFill>
              <a:srgbClr val="C0392B"/>
            </a:solidFill>
            <a:prstDash val="solid"/>
          </a:ln>
        </p:spPr>
      </p:sp>
      <p:sp>
        <p:nvSpPr>
          <p:cNvPr id="19" name="Shape 17"/>
          <p:cNvSpPr/>
          <p:nvPr/>
        </p:nvSpPr>
        <p:spPr>
          <a:xfrm>
            <a:off x="4800600" y="2377440"/>
            <a:ext cx="2697480" cy="0"/>
          </a:xfrm>
          <a:prstGeom prst="line">
            <a:avLst/>
          </a:prstGeom>
          <a:noFill/>
          <a:ln w="19050">
            <a:solidFill>
              <a:srgbClr val="C0392B"/>
            </a:solidFill>
            <a:prstDash val="dash"/>
          </a:ln>
        </p:spPr>
      </p:sp>
      <p:sp>
        <p:nvSpPr>
          <p:cNvPr id="20" name="Shape 18"/>
          <p:cNvSpPr/>
          <p:nvPr/>
        </p:nvSpPr>
        <p:spPr>
          <a:xfrm>
            <a:off x="4800600" y="2057400"/>
            <a:ext cx="0" cy="320040"/>
          </a:xfrm>
          <a:prstGeom prst="line">
            <a:avLst/>
          </a:prstGeom>
          <a:noFill/>
          <a:ln w="19050">
            <a:solidFill>
              <a:srgbClr val="C0392B"/>
            </a:solidFill>
            <a:prstDash val="solid"/>
            <a:tailEnd type="triangle"/>
          </a:ln>
        </p:spPr>
      </p:sp>
      <p:sp>
        <p:nvSpPr>
          <p:cNvPr id="21" name="Text 19"/>
          <p:cNvSpPr txBox="1"/>
          <p:nvPr/>
        </p:nvSpPr>
        <p:spPr>
          <a:xfrm>
            <a:off x="4892040" y="2395728"/>
            <a:ext cx="2651760" cy="228600"/>
          </a:xfrm>
          <a:prstGeom prst="rect">
            <a:avLst/>
          </a:prstGeom>
          <a:noFill/>
          <a:ln/>
        </p:spPr>
        <p:txBody>
          <a:bodyPr wrap="square" lIns="0" tIns="0" rIns="0" bIns="0" rtlCol="0" anchor="ctr"/>
          <a:lstStyle/>
          <a:p>
            <a:pPr indent="0" marL="0">
              <a:buNone/>
            </a:pPr>
            <a:r>
              <a:rPr lang="en-US" sz="900" i="1" dirty="0">
                <a:solidFill>
                  <a:srgbClr val="C0392B"/>
                </a:solidFill>
                <a:latin typeface="Calibri" pitchFamily="34" charset="0"/>
                <a:ea typeface="Calibri" pitchFamily="34" charset="-122"/>
                <a:cs typeface="Calibri" pitchFamily="34" charset="-120"/>
              </a:rPr>
              <a:t>un test qui échoue rouvre la conception</a:t>
            </a:r>
            <a:endParaRPr lang="en-US" sz="900" dirty="0"/>
          </a:p>
        </p:txBody>
      </p:sp>
      <p:sp>
        <p:nvSpPr>
          <p:cNvPr id="22" name="Shape 20"/>
          <p:cNvSpPr/>
          <p:nvPr/>
        </p:nvSpPr>
        <p:spPr>
          <a:xfrm>
            <a:off x="457200" y="2788920"/>
            <a:ext cx="2651760" cy="1737360"/>
          </a:xfrm>
          <a:prstGeom prst="roundRect">
            <a:avLst>
              <a:gd name="adj" fmla="val 3158"/>
            </a:avLst>
          </a:prstGeom>
          <a:solidFill>
            <a:srgbClr val="F3F6FC"/>
          </a:solidFill>
          <a:ln w="9525">
            <a:solidFill>
              <a:srgbClr val="D5DBE8"/>
            </a:solidFill>
            <a:prstDash val="solid"/>
          </a:ln>
        </p:spPr>
      </p:sp>
      <p:sp>
        <p:nvSpPr>
          <p:cNvPr id="23" name="Text 21"/>
          <p:cNvSpPr txBox="1"/>
          <p:nvPr/>
        </p:nvSpPr>
        <p:spPr>
          <a:xfrm>
            <a:off x="594360" y="2880360"/>
            <a:ext cx="237744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Règles de travail</a:t>
            </a:r>
            <a:endParaRPr lang="en-US" sz="1300" dirty="0"/>
          </a:p>
        </p:txBody>
      </p:sp>
      <p:sp>
        <p:nvSpPr>
          <p:cNvPr id="24" name="Text 22"/>
          <p:cNvSpPr txBox="1"/>
          <p:nvPr/>
        </p:nvSpPr>
        <p:spPr>
          <a:xfrm>
            <a:off x="594360" y="3200400"/>
            <a:ext cx="2377440" cy="123444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Itérations de deux semaines closes par une démonstration</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Point hebdomadaire, journal de décisions daté (D1–D9)</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Tests écrits avant la conception : Tn vérifie EXn</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Écarts conception / réalisation tracés (É1–É5)</a:t>
            </a:r>
            <a:endParaRPr lang="en-US" sz="950" dirty="0"/>
          </a:p>
        </p:txBody>
      </p:sp>
      <p:sp>
        <p:nvSpPr>
          <p:cNvPr id="25" name="Shape 23"/>
          <p:cNvSpPr/>
          <p:nvPr/>
        </p:nvSpPr>
        <p:spPr>
          <a:xfrm>
            <a:off x="3246120" y="2788920"/>
            <a:ext cx="2651760" cy="1737360"/>
          </a:xfrm>
          <a:prstGeom prst="roundRect">
            <a:avLst>
              <a:gd name="adj" fmla="val 3158"/>
            </a:avLst>
          </a:prstGeom>
          <a:solidFill>
            <a:srgbClr val="F3F6FC"/>
          </a:solidFill>
          <a:ln w="9525">
            <a:solidFill>
              <a:srgbClr val="D5DBE8"/>
            </a:solidFill>
            <a:prstDash val="solid"/>
          </a:ln>
        </p:spPr>
      </p:sp>
      <p:sp>
        <p:nvSpPr>
          <p:cNvPr id="26" name="Text 24"/>
          <p:cNvSpPr txBox="1"/>
          <p:nvPr/>
        </p:nvSpPr>
        <p:spPr>
          <a:xfrm>
            <a:off x="3383280" y="2880360"/>
            <a:ext cx="237744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Quatre rangs de preuve</a:t>
            </a:r>
            <a:endParaRPr lang="en-US" sz="1300" dirty="0"/>
          </a:p>
        </p:txBody>
      </p:sp>
      <p:sp>
        <p:nvSpPr>
          <p:cNvPr id="27" name="Text 25"/>
          <p:cNvSpPr txBox="1"/>
          <p:nvPr/>
        </p:nvSpPr>
        <p:spPr>
          <a:xfrm>
            <a:off x="3383280" y="3200400"/>
            <a:ext cx="2377440" cy="123444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1 — test automatisé rejoué à chaque livraison</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2 — refus réellement survenu en exploitation</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3 — vérification en direct et datée</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4 — configuration déclarée en code et contrôlée</a:t>
            </a:r>
            <a:endParaRPr lang="en-US" sz="950" dirty="0"/>
          </a:p>
        </p:txBody>
      </p:sp>
      <p:sp>
        <p:nvSpPr>
          <p:cNvPr id="28" name="Shape 26"/>
          <p:cNvSpPr/>
          <p:nvPr/>
        </p:nvSpPr>
        <p:spPr>
          <a:xfrm>
            <a:off x="6035040" y="2788920"/>
            <a:ext cx="2651760" cy="1737360"/>
          </a:xfrm>
          <a:prstGeom prst="roundRect">
            <a:avLst>
              <a:gd name="adj" fmla="val 3158"/>
            </a:avLst>
          </a:prstGeom>
          <a:solidFill>
            <a:srgbClr val="F3F6FC"/>
          </a:solidFill>
          <a:ln w="9525">
            <a:solidFill>
              <a:srgbClr val="D5DBE8"/>
            </a:solidFill>
            <a:prstDash val="solid"/>
          </a:ln>
        </p:spPr>
      </p:sp>
      <p:sp>
        <p:nvSpPr>
          <p:cNvPr id="29" name="Text 27"/>
          <p:cNvSpPr txBox="1"/>
          <p:nvPr/>
        </p:nvSpPr>
        <p:spPr>
          <a:xfrm>
            <a:off x="6172200" y="2880360"/>
            <a:ext cx="237744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Deux méthodes de risque</a:t>
            </a:r>
            <a:endParaRPr lang="en-US" sz="1300" dirty="0"/>
          </a:p>
        </p:txBody>
      </p:sp>
      <p:sp>
        <p:nvSpPr>
          <p:cNvPr id="30" name="Text 28"/>
          <p:cNvSpPr txBox="1"/>
          <p:nvPr/>
        </p:nvSpPr>
        <p:spPr>
          <a:xfrm>
            <a:off x="6172200" y="3200400"/>
            <a:ext cx="2377440" cy="123444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EBIOS Risk Manager : partir des valeurs métier (corpus, identités, disponibilité, preuves)</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STRIDE : passer chaque flux en revue</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Résultat : 8 menaces élevées, 3 moyennes, 1 faible</a:t>
            </a:r>
            <a:endParaRPr lang="en-US" sz="950" dirty="0"/>
          </a:p>
        </p:txBody>
      </p:sp>
      <p:sp>
        <p:nvSpPr>
          <p:cNvPr id="31" name="Text 29"/>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32" name="Text 30"/>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CONCEPTION ET TECHNOLOGIES</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Architecture de déploiement de la recette</a:t>
            </a:r>
            <a:endParaRPr lang="en-US" sz="2400" dirty="0"/>
          </a:p>
        </p:txBody>
      </p:sp>
      <p:pic>
        <p:nvPicPr>
          <p:cNvPr id="6" name="Image 0" descr="/home/claude/work/pres/assets/deploy.png">    </p:cNvPr>
          <p:cNvPicPr>
            <a:picLocks noChangeAspect="1"/>
          </p:cNvPicPr>
          <p:nvPr/>
        </p:nvPicPr>
        <p:blipFill>
          <a:blip r:embed="rId1"/>
          <a:srcRect l="0" r="0" t="0" b="0"/>
          <a:stretch/>
        </p:blipFill>
        <p:spPr>
          <a:xfrm>
            <a:off x="457200" y="1024128"/>
            <a:ext cx="5989320" cy="3657600"/>
          </a:xfrm>
          <a:prstGeom prst="rect">
            <a:avLst/>
          </a:prstGeom>
        </p:spPr>
      </p:pic>
      <p:sp>
        <p:nvSpPr>
          <p:cNvPr id="7" name="Shape 4"/>
          <p:cNvSpPr/>
          <p:nvPr/>
        </p:nvSpPr>
        <p:spPr>
          <a:xfrm>
            <a:off x="6629400" y="1051560"/>
            <a:ext cx="2057400" cy="1097280"/>
          </a:xfrm>
          <a:prstGeom prst="roundRect">
            <a:avLst>
              <a:gd name="adj" fmla="val 5000"/>
            </a:avLst>
          </a:prstGeom>
          <a:solidFill>
            <a:srgbClr val="F3F6FC"/>
          </a:solidFill>
          <a:ln w="9525">
            <a:solidFill>
              <a:srgbClr val="D5DBE8"/>
            </a:solidFill>
            <a:prstDash val="solid"/>
          </a:ln>
        </p:spPr>
      </p:sp>
      <p:sp>
        <p:nvSpPr>
          <p:cNvPr id="8" name="Text 5"/>
          <p:cNvSpPr txBox="1"/>
          <p:nvPr/>
        </p:nvSpPr>
        <p:spPr>
          <a:xfrm>
            <a:off x="6766560" y="1143000"/>
            <a:ext cx="178308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Un seul chemin entrant</a:t>
            </a:r>
            <a:endParaRPr lang="en-US" sz="1300" dirty="0"/>
          </a:p>
        </p:txBody>
      </p:sp>
      <p:sp>
        <p:nvSpPr>
          <p:cNvPr id="9" name="Text 6"/>
          <p:cNvSpPr txBox="1"/>
          <p:nvPr/>
        </p:nvSpPr>
        <p:spPr>
          <a:xfrm>
            <a:off x="6766560" y="1463040"/>
            <a:ext cx="1783080" cy="59436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Répartiteur HTTPS + Cloud Armor</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Services Cloud Run en entrée « interne et répartiteur »</a:t>
            </a:r>
            <a:endParaRPr lang="en-US" sz="950" dirty="0"/>
          </a:p>
        </p:txBody>
      </p:sp>
      <p:sp>
        <p:nvSpPr>
          <p:cNvPr id="10" name="Shape 7"/>
          <p:cNvSpPr/>
          <p:nvPr/>
        </p:nvSpPr>
        <p:spPr>
          <a:xfrm>
            <a:off x="6629400" y="2240280"/>
            <a:ext cx="2057400" cy="1097280"/>
          </a:xfrm>
          <a:prstGeom prst="roundRect">
            <a:avLst>
              <a:gd name="adj" fmla="val 5000"/>
            </a:avLst>
          </a:prstGeom>
          <a:solidFill>
            <a:srgbClr val="F3F6FC"/>
          </a:solidFill>
          <a:ln w="9525">
            <a:solidFill>
              <a:srgbClr val="D5DBE8"/>
            </a:solidFill>
            <a:prstDash val="solid"/>
          </a:ln>
        </p:spPr>
      </p:sp>
      <p:sp>
        <p:nvSpPr>
          <p:cNvPr id="11" name="Text 8"/>
          <p:cNvSpPr txBox="1"/>
          <p:nvPr/>
        </p:nvSpPr>
        <p:spPr>
          <a:xfrm>
            <a:off x="6766560" y="2331720"/>
            <a:ext cx="178308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Un seul chemin vers la base</a:t>
            </a:r>
            <a:endParaRPr lang="en-US" sz="1300" dirty="0"/>
          </a:p>
        </p:txBody>
      </p:sp>
      <p:sp>
        <p:nvSpPr>
          <p:cNvPr id="12" name="Text 9"/>
          <p:cNvSpPr txBox="1"/>
          <p:nvPr/>
        </p:nvSpPr>
        <p:spPr>
          <a:xfrm>
            <a:off x="6766560" y="2651760"/>
            <a:ext cx="1783080" cy="59436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Connecteur VPC 10.0.3.0/28</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Cloud SQL privée 10.20.0.3, TLS obligatoire, une base par application</a:t>
            </a:r>
            <a:endParaRPr lang="en-US" sz="950" dirty="0"/>
          </a:p>
        </p:txBody>
      </p:sp>
      <p:sp>
        <p:nvSpPr>
          <p:cNvPr id="13" name="Shape 10"/>
          <p:cNvSpPr/>
          <p:nvPr/>
        </p:nvSpPr>
        <p:spPr>
          <a:xfrm>
            <a:off x="6629400" y="3429000"/>
            <a:ext cx="2057400" cy="1143000"/>
          </a:xfrm>
          <a:prstGeom prst="roundRect">
            <a:avLst>
              <a:gd name="adj" fmla="val 4800"/>
            </a:avLst>
          </a:prstGeom>
          <a:solidFill>
            <a:srgbClr val="F3F6FC"/>
          </a:solidFill>
          <a:ln w="9525">
            <a:solidFill>
              <a:srgbClr val="D5DBE8"/>
            </a:solidFill>
            <a:prstDash val="solid"/>
          </a:ln>
        </p:spPr>
      </p:sp>
      <p:sp>
        <p:nvSpPr>
          <p:cNvPr id="14" name="Text 11"/>
          <p:cNvSpPr txBox="1"/>
          <p:nvPr/>
        </p:nvSpPr>
        <p:spPr>
          <a:xfrm>
            <a:off x="6766560" y="3520440"/>
            <a:ext cx="178308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L'identité décide</a:t>
            </a:r>
            <a:endParaRPr lang="en-US" sz="1300" dirty="0"/>
          </a:p>
        </p:txBody>
      </p:sp>
      <p:sp>
        <p:nvSpPr>
          <p:cNvPr id="15" name="Text 12"/>
          <p:cNvSpPr txBox="1"/>
          <p:nvPr/>
        </p:nvSpPr>
        <p:spPr>
          <a:xfrm>
            <a:off x="6766560" y="3840480"/>
            <a:ext cx="1783080" cy="64008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Neuf identités, zéro clé</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Un secret par usage, un lecteur par secret</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Chaîne fédérée (OIDC)</a:t>
            </a:r>
            <a:endParaRPr lang="en-US" sz="950" dirty="0"/>
          </a:p>
        </p:txBody>
      </p:sp>
      <p:sp>
        <p:nvSpPr>
          <p:cNvPr id="16" name="Text 13"/>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17" name="Text 14"/>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CONCEPTION ET TECHNOLOGIES</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Identités et session administrateur à deux facteurs</a:t>
            </a:r>
            <a:endParaRPr lang="en-US" sz="2400" dirty="0"/>
          </a:p>
        </p:txBody>
      </p:sp>
      <p:sp>
        <p:nvSpPr>
          <p:cNvPr id="6" name="Shape 4"/>
          <p:cNvSpPr/>
          <p:nvPr/>
        </p:nvSpPr>
        <p:spPr>
          <a:xfrm>
            <a:off x="457200" y="1088136"/>
            <a:ext cx="1188720" cy="292608"/>
          </a:xfrm>
          <a:prstGeom prst="roundRect">
            <a:avLst>
              <a:gd name="adj" fmla="val 12500"/>
            </a:avLst>
          </a:prstGeom>
          <a:solidFill>
            <a:srgbClr val="D98E1F"/>
          </a:solidFill>
          <a:ln w="12700">
            <a:solidFill>
              <a:srgbClr val="D98E1F"/>
            </a:solidFill>
            <a:prstDash val="solid"/>
          </a:ln>
        </p:spPr>
      </p:sp>
      <p:sp>
        <p:nvSpPr>
          <p:cNvPr id="7" name="Text 5"/>
          <p:cNvSpPr txBox="1"/>
          <p:nvPr/>
        </p:nvSpPr>
        <p:spPr>
          <a:xfrm>
            <a:off x="457200" y="1088136"/>
            <a:ext cx="11887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Administrateur</a:t>
            </a:r>
            <a:endParaRPr lang="en-US" sz="850" dirty="0"/>
          </a:p>
        </p:txBody>
      </p:sp>
      <p:sp>
        <p:nvSpPr>
          <p:cNvPr id="8" name="Text 6"/>
          <p:cNvSpPr txBox="1"/>
          <p:nvPr/>
        </p:nvSpPr>
        <p:spPr>
          <a:xfrm>
            <a:off x="1737360" y="1051560"/>
            <a:ext cx="2834640" cy="36576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propriétaire du projet · second facteur obligatoire · chaque action tracée</a:t>
            </a:r>
            <a:endParaRPr lang="en-US" sz="950" dirty="0"/>
          </a:p>
        </p:txBody>
      </p:sp>
      <p:sp>
        <p:nvSpPr>
          <p:cNvPr id="9" name="Shape 7"/>
          <p:cNvSpPr/>
          <p:nvPr/>
        </p:nvSpPr>
        <p:spPr>
          <a:xfrm>
            <a:off x="457200" y="1463040"/>
            <a:ext cx="1188720" cy="292608"/>
          </a:xfrm>
          <a:prstGeom prst="roundRect">
            <a:avLst>
              <a:gd name="adj" fmla="val 12500"/>
            </a:avLst>
          </a:prstGeom>
          <a:solidFill>
            <a:srgbClr val="1F3A8A"/>
          </a:solidFill>
          <a:ln w="12700">
            <a:solidFill>
              <a:srgbClr val="1F3A8A"/>
            </a:solidFill>
            <a:prstDash val="solid"/>
          </a:ln>
        </p:spPr>
      </p:sp>
      <p:sp>
        <p:nvSpPr>
          <p:cNvPr id="10" name="Text 8"/>
          <p:cNvSpPr txBox="1"/>
          <p:nvPr/>
        </p:nvSpPr>
        <p:spPr>
          <a:xfrm>
            <a:off x="457200" y="1463040"/>
            <a:ext cx="11887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sa-elson</a:t>
            </a:r>
            <a:endParaRPr lang="en-US" sz="850" dirty="0"/>
          </a:p>
        </p:txBody>
      </p:sp>
      <p:sp>
        <p:nvSpPr>
          <p:cNvPr id="11" name="Text 9"/>
          <p:cNvSpPr txBox="1"/>
          <p:nvPr/>
        </p:nvSpPr>
        <p:spPr>
          <a:xfrm>
            <a:off x="1737360" y="1426464"/>
            <a:ext cx="2834640" cy="36576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Cloud SQL sur elson_db · ses cinq secrets · rien d'autre</a:t>
            </a:r>
            <a:endParaRPr lang="en-US" sz="950" dirty="0"/>
          </a:p>
        </p:txBody>
      </p:sp>
      <p:sp>
        <p:nvSpPr>
          <p:cNvPr id="12" name="Shape 10"/>
          <p:cNvSpPr/>
          <p:nvPr/>
        </p:nvSpPr>
        <p:spPr>
          <a:xfrm>
            <a:off x="457200" y="1837944"/>
            <a:ext cx="1188720" cy="292608"/>
          </a:xfrm>
          <a:prstGeom prst="roundRect">
            <a:avLst>
              <a:gd name="adj" fmla="val 12500"/>
            </a:avLst>
          </a:prstGeom>
          <a:solidFill>
            <a:srgbClr val="1F3A8A"/>
          </a:solidFill>
          <a:ln w="12700">
            <a:solidFill>
              <a:srgbClr val="1F3A8A"/>
            </a:solidFill>
            <a:prstDash val="solid"/>
          </a:ln>
        </p:spPr>
      </p:sp>
      <p:sp>
        <p:nvSpPr>
          <p:cNvPr id="13" name="Text 11"/>
          <p:cNvSpPr txBox="1"/>
          <p:nvPr/>
        </p:nvSpPr>
        <p:spPr>
          <a:xfrm>
            <a:off x="457200" y="1837944"/>
            <a:ext cx="11887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sa-api</a:t>
            </a:r>
            <a:endParaRPr lang="en-US" sz="850" dirty="0"/>
          </a:p>
        </p:txBody>
      </p:sp>
      <p:sp>
        <p:nvSpPr>
          <p:cNvPr id="14" name="Text 12"/>
          <p:cNvSpPr txBox="1"/>
          <p:nvPr/>
        </p:nvSpPr>
        <p:spPr>
          <a:xfrm>
            <a:off x="1737360" y="1801368"/>
            <a:ext cx="2834640" cy="36576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lit l'entrepôt · écrit les verdicts en ajout · menal_db</a:t>
            </a:r>
            <a:endParaRPr lang="en-US" sz="950" dirty="0"/>
          </a:p>
        </p:txBody>
      </p:sp>
      <p:sp>
        <p:nvSpPr>
          <p:cNvPr id="15" name="Shape 13"/>
          <p:cNvSpPr/>
          <p:nvPr/>
        </p:nvSpPr>
        <p:spPr>
          <a:xfrm>
            <a:off x="457200" y="2212848"/>
            <a:ext cx="1188720" cy="292608"/>
          </a:xfrm>
          <a:prstGeom prst="roundRect">
            <a:avLst>
              <a:gd name="adj" fmla="val 12500"/>
            </a:avLst>
          </a:prstGeom>
          <a:solidFill>
            <a:srgbClr val="1F3A8A"/>
          </a:solidFill>
          <a:ln w="12700">
            <a:solidFill>
              <a:srgbClr val="1F3A8A"/>
            </a:solidFill>
            <a:prstDash val="solid"/>
          </a:ln>
        </p:spPr>
      </p:sp>
      <p:sp>
        <p:nvSpPr>
          <p:cNvPr id="16" name="Text 14"/>
          <p:cNvSpPr txBox="1"/>
          <p:nvPr/>
        </p:nvSpPr>
        <p:spPr>
          <a:xfrm>
            <a:off x="457200" y="2212848"/>
            <a:ext cx="11887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sa-dashboard</a:t>
            </a:r>
            <a:endParaRPr lang="en-US" sz="850" dirty="0"/>
          </a:p>
        </p:txBody>
      </p:sp>
      <p:sp>
        <p:nvSpPr>
          <p:cNvPr id="17" name="Text 15"/>
          <p:cNvSpPr txBox="1"/>
          <p:nvPr/>
        </p:nvSpPr>
        <p:spPr>
          <a:xfrm>
            <a:off x="1737360" y="2176272"/>
            <a:ext cx="2834640" cy="36576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relaie les appels avec le jeton de l'administrateur</a:t>
            </a:r>
            <a:endParaRPr lang="en-US" sz="950" dirty="0"/>
          </a:p>
        </p:txBody>
      </p:sp>
      <p:sp>
        <p:nvSpPr>
          <p:cNvPr id="18" name="Shape 16"/>
          <p:cNvSpPr/>
          <p:nvPr/>
        </p:nvSpPr>
        <p:spPr>
          <a:xfrm>
            <a:off x="457200" y="2587752"/>
            <a:ext cx="1188720" cy="292608"/>
          </a:xfrm>
          <a:prstGeom prst="roundRect">
            <a:avLst>
              <a:gd name="adj" fmla="val 12500"/>
            </a:avLst>
          </a:prstGeom>
          <a:solidFill>
            <a:srgbClr val="1F3A8A"/>
          </a:solidFill>
          <a:ln w="12700">
            <a:solidFill>
              <a:srgbClr val="1F3A8A"/>
            </a:solidFill>
            <a:prstDash val="solid"/>
          </a:ln>
        </p:spPr>
      </p:sp>
      <p:sp>
        <p:nvSpPr>
          <p:cNvPr id="19" name="Text 17"/>
          <p:cNvSpPr txBox="1"/>
          <p:nvPr/>
        </p:nvSpPr>
        <p:spPr>
          <a:xfrm>
            <a:off x="457200" y="2587752"/>
            <a:ext cx="11887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sa-pipeline</a:t>
            </a:r>
            <a:endParaRPr lang="en-US" sz="850" dirty="0"/>
          </a:p>
        </p:txBody>
      </p:sp>
      <p:sp>
        <p:nvSpPr>
          <p:cNvPr id="20" name="Text 18"/>
          <p:cNvSpPr txBox="1"/>
          <p:nvPr/>
        </p:nvSpPr>
        <p:spPr>
          <a:xfrm>
            <a:off x="1737360" y="2551176"/>
            <a:ext cx="2834640" cy="36576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job de détection : écrit journaux normalisés et détections</a:t>
            </a:r>
            <a:endParaRPr lang="en-US" sz="950" dirty="0"/>
          </a:p>
        </p:txBody>
      </p:sp>
      <p:sp>
        <p:nvSpPr>
          <p:cNvPr id="21" name="Shape 19"/>
          <p:cNvSpPr/>
          <p:nvPr/>
        </p:nvSpPr>
        <p:spPr>
          <a:xfrm>
            <a:off x="457200" y="2962656"/>
            <a:ext cx="1188720" cy="292608"/>
          </a:xfrm>
          <a:prstGeom prst="roundRect">
            <a:avLst>
              <a:gd name="adj" fmla="val 12500"/>
            </a:avLst>
          </a:prstGeom>
          <a:solidFill>
            <a:srgbClr val="1F3A8A"/>
          </a:solidFill>
          <a:ln w="12700">
            <a:solidFill>
              <a:srgbClr val="1F3A8A"/>
            </a:solidFill>
            <a:prstDash val="solid"/>
          </a:ln>
        </p:spPr>
      </p:sp>
      <p:sp>
        <p:nvSpPr>
          <p:cNvPr id="22" name="Text 20"/>
          <p:cNvSpPr txBox="1"/>
          <p:nvPr/>
        </p:nvSpPr>
        <p:spPr>
          <a:xfrm>
            <a:off x="457200" y="2962656"/>
            <a:ext cx="11887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sa-enrich-job</a:t>
            </a:r>
            <a:endParaRPr lang="en-US" sz="850" dirty="0"/>
          </a:p>
        </p:txBody>
      </p:sp>
      <p:sp>
        <p:nvSpPr>
          <p:cNvPr id="23" name="Text 21"/>
          <p:cNvSpPr txBox="1"/>
          <p:nvPr/>
        </p:nvSpPr>
        <p:spPr>
          <a:xfrm>
            <a:off x="1737360" y="2926080"/>
            <a:ext cx="2834640" cy="36576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lit les détections, appelle l'encodeur, écrit les candidats</a:t>
            </a:r>
            <a:endParaRPr lang="en-US" sz="950" dirty="0"/>
          </a:p>
        </p:txBody>
      </p:sp>
      <p:sp>
        <p:nvSpPr>
          <p:cNvPr id="24" name="Shape 22"/>
          <p:cNvSpPr/>
          <p:nvPr/>
        </p:nvSpPr>
        <p:spPr>
          <a:xfrm>
            <a:off x="457200" y="3337560"/>
            <a:ext cx="1188720" cy="292608"/>
          </a:xfrm>
          <a:prstGeom prst="roundRect">
            <a:avLst>
              <a:gd name="adj" fmla="val 12500"/>
            </a:avLst>
          </a:prstGeom>
          <a:solidFill>
            <a:srgbClr val="1F3A8A"/>
          </a:solidFill>
          <a:ln w="12700">
            <a:solidFill>
              <a:srgbClr val="1F3A8A"/>
            </a:solidFill>
            <a:prstDash val="solid"/>
          </a:ln>
        </p:spPr>
      </p:sp>
      <p:sp>
        <p:nvSpPr>
          <p:cNvPr id="25" name="Text 23"/>
          <p:cNvSpPr txBox="1"/>
          <p:nvPr/>
        </p:nvSpPr>
        <p:spPr>
          <a:xfrm>
            <a:off x="457200" y="3337560"/>
            <a:ext cx="11887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sa-ml-embed</a:t>
            </a:r>
            <a:endParaRPr lang="en-US" sz="850" dirty="0"/>
          </a:p>
        </p:txBody>
      </p:sp>
      <p:sp>
        <p:nvSpPr>
          <p:cNvPr id="26" name="Text 24"/>
          <p:cNvSpPr txBox="1"/>
          <p:nvPr/>
        </p:nvSpPr>
        <p:spPr>
          <a:xfrm>
            <a:off x="1737360" y="3300984"/>
            <a:ext cx="2834640" cy="36576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encodeur interne, authentifié, sans sortie Internet</a:t>
            </a:r>
            <a:endParaRPr lang="en-US" sz="950" dirty="0"/>
          </a:p>
        </p:txBody>
      </p:sp>
      <p:sp>
        <p:nvSpPr>
          <p:cNvPr id="27" name="Shape 25"/>
          <p:cNvSpPr/>
          <p:nvPr/>
        </p:nvSpPr>
        <p:spPr>
          <a:xfrm>
            <a:off x="457200" y="3712464"/>
            <a:ext cx="1188720" cy="292608"/>
          </a:xfrm>
          <a:prstGeom prst="roundRect">
            <a:avLst>
              <a:gd name="adj" fmla="val 12500"/>
            </a:avLst>
          </a:prstGeom>
          <a:solidFill>
            <a:srgbClr val="1F3A8A"/>
          </a:solidFill>
          <a:ln w="12700">
            <a:solidFill>
              <a:srgbClr val="1F3A8A"/>
            </a:solidFill>
            <a:prstDash val="solid"/>
          </a:ln>
        </p:spPr>
      </p:sp>
      <p:sp>
        <p:nvSpPr>
          <p:cNvPr id="28" name="Text 26"/>
          <p:cNvSpPr txBox="1"/>
          <p:nvPr/>
        </p:nvSpPr>
        <p:spPr>
          <a:xfrm>
            <a:off x="457200" y="3712464"/>
            <a:ext cx="118872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sa-cicd</a:t>
            </a:r>
            <a:endParaRPr lang="en-US" sz="850" dirty="0"/>
          </a:p>
        </p:txBody>
      </p:sp>
      <p:sp>
        <p:nvSpPr>
          <p:cNvPr id="29" name="Text 27"/>
          <p:cNvSpPr txBox="1"/>
          <p:nvPr/>
        </p:nvSpPr>
        <p:spPr>
          <a:xfrm>
            <a:off x="1737360" y="3675888"/>
            <a:ext cx="2834640" cy="36576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fédérée OIDC (dépôt + branche main) : publie, déploie, zéro clé</a:t>
            </a:r>
            <a:endParaRPr lang="en-US" sz="950" dirty="0"/>
          </a:p>
        </p:txBody>
      </p:sp>
      <p:sp>
        <p:nvSpPr>
          <p:cNvPr id="30" name="Text 28"/>
          <p:cNvSpPr txBox="1"/>
          <p:nvPr/>
        </p:nvSpPr>
        <p:spPr>
          <a:xfrm>
            <a:off x="457200" y="4114800"/>
            <a:ext cx="4114800" cy="457200"/>
          </a:xfrm>
          <a:prstGeom prst="rect">
            <a:avLst/>
          </a:prstGeom>
          <a:noFill/>
          <a:ln/>
        </p:spPr>
        <p:txBody>
          <a:bodyPr wrap="square" lIns="0" tIns="0" rIns="0" bIns="0" rtlCol="0" anchor="t"/>
          <a:lstStyle/>
          <a:p>
            <a:pPr indent="0" marL="0">
              <a:buNone/>
            </a:pPr>
            <a:r>
              <a:rPr lang="en-US" sz="950" i="1" dirty="0">
                <a:solidFill>
                  <a:srgbClr val="6B7280"/>
                </a:solidFill>
                <a:latin typeface="Calibri" pitchFamily="34" charset="0"/>
                <a:ea typeface="Calibri" pitchFamily="34" charset="-122"/>
                <a:cs typeface="Calibri" pitchFamily="34" charset="-120"/>
              </a:rPr>
              <a:t>Un auteur par table de preuves ; le composant qui exploite une table n'en est jamais l'auteur (T12).</a:t>
            </a:r>
            <a:endParaRPr lang="en-US" sz="950" dirty="0"/>
          </a:p>
        </p:txBody>
      </p:sp>
      <p:sp>
        <p:nvSpPr>
          <p:cNvPr id="31" name="Text 29"/>
          <p:cNvSpPr txBox="1"/>
          <p:nvPr/>
        </p:nvSpPr>
        <p:spPr>
          <a:xfrm>
            <a:off x="4892040" y="1051560"/>
            <a:ext cx="3794760" cy="274320"/>
          </a:xfrm>
          <a:prstGeom prst="rect">
            <a:avLst/>
          </a:prstGeom>
          <a:noFill/>
          <a:ln/>
        </p:spPr>
        <p:txBody>
          <a:bodyPr wrap="square" lIns="0" tIns="0" rIns="0" bIns="0" rtlCol="0" anchor="ctr"/>
          <a:lstStyle/>
          <a:p>
            <a:pPr indent="0" marL="0">
              <a:buNone/>
            </a:pPr>
            <a:r>
              <a:rPr lang="en-US" sz="1200" b="1" dirty="0">
                <a:solidFill>
                  <a:srgbClr val="1F3A8A"/>
                </a:solidFill>
                <a:latin typeface="Calibri" pitchFamily="34" charset="0"/>
                <a:ea typeface="Calibri" pitchFamily="34" charset="-122"/>
                <a:cs typeface="Calibri" pitchFamily="34" charset="-120"/>
              </a:rPr>
              <a:t>Session administrateur à deux facteurs</a:t>
            </a:r>
            <a:endParaRPr lang="en-US" sz="1200" dirty="0"/>
          </a:p>
        </p:txBody>
      </p:sp>
      <p:sp>
        <p:nvSpPr>
          <p:cNvPr id="32" name="Shape 30"/>
          <p:cNvSpPr/>
          <p:nvPr/>
        </p:nvSpPr>
        <p:spPr>
          <a:xfrm>
            <a:off x="4892040" y="1417320"/>
            <a:ext cx="1143000" cy="548640"/>
          </a:xfrm>
          <a:prstGeom prst="roundRect">
            <a:avLst>
              <a:gd name="adj" fmla="val 8333"/>
            </a:avLst>
          </a:prstGeom>
          <a:solidFill>
            <a:srgbClr val="F3F6FC"/>
          </a:solidFill>
          <a:ln w="12700">
            <a:solidFill>
              <a:srgbClr val="D5DBE8"/>
            </a:solidFill>
            <a:prstDash val="solid"/>
          </a:ln>
        </p:spPr>
      </p:sp>
      <p:sp>
        <p:nvSpPr>
          <p:cNvPr id="33" name="Text 31"/>
          <p:cNvSpPr txBox="1"/>
          <p:nvPr/>
        </p:nvSpPr>
        <p:spPr>
          <a:xfrm>
            <a:off x="4937760" y="1417320"/>
            <a:ext cx="1051560" cy="54864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Mot de passe</a:t>
            </a:r>
            <a:endParaRPr lang="en-US" sz="950" dirty="0"/>
          </a:p>
          <a:p>
            <a:pPr algn="ctr" indent="0" marL="0">
              <a:buNone/>
            </a:pPr>
            <a:r>
              <a:rPr lang="en-US" sz="950" dirty="0">
                <a:solidFill>
                  <a:srgbClr val="1F2937"/>
                </a:solidFill>
                <a:latin typeface="Calibri" pitchFamily="34" charset="0"/>
                <a:ea typeface="Calibri" pitchFamily="34" charset="-122"/>
                <a:cs typeface="Calibri" pitchFamily="34" charset="-120"/>
              </a:rPr>
              <a:t>(bcrypt)</a:t>
            </a:r>
            <a:endParaRPr lang="en-US" sz="950" dirty="0"/>
          </a:p>
        </p:txBody>
      </p:sp>
      <p:sp>
        <p:nvSpPr>
          <p:cNvPr id="34" name="Shape 32"/>
          <p:cNvSpPr/>
          <p:nvPr/>
        </p:nvSpPr>
        <p:spPr>
          <a:xfrm>
            <a:off x="6035040" y="1691640"/>
            <a:ext cx="228600" cy="0"/>
          </a:xfrm>
          <a:prstGeom prst="line">
            <a:avLst/>
          </a:prstGeom>
          <a:noFill/>
          <a:ln w="19050">
            <a:solidFill>
              <a:srgbClr val="1F3A8A"/>
            </a:solidFill>
            <a:prstDash val="solid"/>
            <a:tailEnd type="triangle"/>
          </a:ln>
        </p:spPr>
      </p:sp>
      <p:sp>
        <p:nvSpPr>
          <p:cNvPr id="35" name="Shape 33"/>
          <p:cNvSpPr/>
          <p:nvPr/>
        </p:nvSpPr>
        <p:spPr>
          <a:xfrm>
            <a:off x="6263640" y="1417320"/>
            <a:ext cx="1143000" cy="548640"/>
          </a:xfrm>
          <a:prstGeom prst="roundRect">
            <a:avLst>
              <a:gd name="adj" fmla="val 8333"/>
            </a:avLst>
          </a:prstGeom>
          <a:solidFill>
            <a:srgbClr val="FFF3E0"/>
          </a:solidFill>
          <a:ln w="12700">
            <a:solidFill>
              <a:srgbClr val="D98E1F"/>
            </a:solidFill>
            <a:prstDash val="solid"/>
          </a:ln>
        </p:spPr>
      </p:sp>
      <p:sp>
        <p:nvSpPr>
          <p:cNvPr id="36" name="Text 34"/>
          <p:cNvSpPr txBox="1"/>
          <p:nvPr/>
        </p:nvSpPr>
        <p:spPr>
          <a:xfrm>
            <a:off x="6309360" y="1417320"/>
            <a:ext cx="1051560" cy="548640"/>
          </a:xfrm>
          <a:prstGeom prst="rect">
            <a:avLst/>
          </a:prstGeom>
          <a:noFill/>
          <a:ln/>
        </p:spPr>
        <p:txBody>
          <a:bodyPr wrap="square" lIns="0" tIns="0" rIns="0" bIns="0" rtlCol="0" anchor="ctr"/>
          <a:lstStyle/>
          <a:p>
            <a:pPr algn="ctr" indent="0" marL="0">
              <a:buNone/>
            </a:pPr>
            <a:r>
              <a:rPr lang="en-US" sz="900" b="1" dirty="0">
                <a:solidFill>
                  <a:srgbClr val="1F2937"/>
                </a:solidFill>
                <a:latin typeface="Calibri" pitchFamily="34" charset="0"/>
                <a:ea typeface="Calibri" pitchFamily="34" charset="-122"/>
                <a:cs typeface="Calibri" pitchFamily="34" charset="-120"/>
              </a:rPr>
              <a:t>Jeton intermédiaire</a:t>
            </a:r>
            <a:endParaRPr lang="en-US" sz="900" dirty="0"/>
          </a:p>
          <a:p>
            <a:pPr algn="ctr" indent="0" marL="0">
              <a:buNone/>
            </a:pPr>
            <a:r>
              <a:rPr lang="en-US" sz="900" b="1" dirty="0">
                <a:solidFill>
                  <a:srgbClr val="1F2937"/>
                </a:solidFill>
                <a:latin typeface="Calibri" pitchFamily="34" charset="0"/>
                <a:ea typeface="Calibri" pitchFamily="34" charset="-122"/>
                <a:cs typeface="Calibri" pitchFamily="34" charset="-120"/>
              </a:rPr>
              <a:t>5 min · aucun rôle</a:t>
            </a:r>
            <a:endParaRPr lang="en-US" sz="900" dirty="0"/>
          </a:p>
        </p:txBody>
      </p:sp>
      <p:sp>
        <p:nvSpPr>
          <p:cNvPr id="37" name="Shape 35"/>
          <p:cNvSpPr/>
          <p:nvPr/>
        </p:nvSpPr>
        <p:spPr>
          <a:xfrm>
            <a:off x="7406640" y="1691640"/>
            <a:ext cx="228600" cy="0"/>
          </a:xfrm>
          <a:prstGeom prst="line">
            <a:avLst/>
          </a:prstGeom>
          <a:noFill/>
          <a:ln w="19050">
            <a:solidFill>
              <a:srgbClr val="1F3A8A"/>
            </a:solidFill>
            <a:prstDash val="solid"/>
            <a:tailEnd type="triangle"/>
          </a:ln>
        </p:spPr>
      </p:sp>
      <p:sp>
        <p:nvSpPr>
          <p:cNvPr id="38" name="Shape 36"/>
          <p:cNvSpPr/>
          <p:nvPr/>
        </p:nvSpPr>
        <p:spPr>
          <a:xfrm>
            <a:off x="7635240" y="1417320"/>
            <a:ext cx="1051560" cy="548640"/>
          </a:xfrm>
          <a:prstGeom prst="roundRect">
            <a:avLst>
              <a:gd name="adj" fmla="val 8333"/>
            </a:avLst>
          </a:prstGeom>
          <a:solidFill>
            <a:srgbClr val="F3F6FC"/>
          </a:solidFill>
          <a:ln w="12700">
            <a:solidFill>
              <a:srgbClr val="D5DBE8"/>
            </a:solidFill>
            <a:prstDash val="solid"/>
          </a:ln>
        </p:spPr>
      </p:sp>
      <p:sp>
        <p:nvSpPr>
          <p:cNvPr id="39" name="Text 37"/>
          <p:cNvSpPr txBox="1"/>
          <p:nvPr/>
        </p:nvSpPr>
        <p:spPr>
          <a:xfrm>
            <a:off x="7680960" y="1417320"/>
            <a:ext cx="960120" cy="548640"/>
          </a:xfrm>
          <a:prstGeom prst="rect">
            <a:avLst/>
          </a:prstGeom>
          <a:noFill/>
          <a:ln/>
        </p:spPr>
        <p:txBody>
          <a:bodyPr wrap="square" lIns="0" tIns="0" rIns="0" bIns="0" rtlCol="0" anchor="ctr"/>
          <a:lstStyle/>
          <a:p>
            <a:pPr algn="ctr" indent="0" marL="0">
              <a:buNone/>
            </a:pPr>
            <a:r>
              <a:rPr lang="en-US" sz="950" dirty="0">
                <a:solidFill>
                  <a:srgbClr val="1F2937"/>
                </a:solidFill>
                <a:latin typeface="Calibri" pitchFamily="34" charset="0"/>
                <a:ea typeface="Calibri" pitchFamily="34" charset="-122"/>
                <a:cs typeface="Calibri" pitchFamily="34" charset="-120"/>
              </a:rPr>
              <a:t>Code TOTP</a:t>
            </a:r>
            <a:endParaRPr lang="en-US" sz="950" dirty="0"/>
          </a:p>
          <a:p>
            <a:pPr algn="ctr" indent="0" marL="0">
              <a:buNone/>
            </a:pPr>
            <a:r>
              <a:rPr lang="en-US" sz="950" dirty="0">
                <a:solidFill>
                  <a:srgbClr val="1F2937"/>
                </a:solidFill>
                <a:latin typeface="Calibri" pitchFamily="34" charset="0"/>
                <a:ea typeface="Calibri" pitchFamily="34" charset="-122"/>
                <a:cs typeface="Calibri" pitchFamily="34" charset="-120"/>
              </a:rPr>
              <a:t>6 chiffres</a:t>
            </a:r>
            <a:endParaRPr lang="en-US" sz="950" dirty="0"/>
          </a:p>
        </p:txBody>
      </p:sp>
      <p:sp>
        <p:nvSpPr>
          <p:cNvPr id="40" name="Shape 38"/>
          <p:cNvSpPr/>
          <p:nvPr/>
        </p:nvSpPr>
        <p:spPr>
          <a:xfrm>
            <a:off x="8138160" y="1965960"/>
            <a:ext cx="0" cy="274320"/>
          </a:xfrm>
          <a:prstGeom prst="line">
            <a:avLst/>
          </a:prstGeom>
          <a:noFill/>
          <a:ln w="19050">
            <a:solidFill>
              <a:srgbClr val="1F3A8A"/>
            </a:solidFill>
            <a:prstDash val="solid"/>
            <a:tailEnd type="triangle"/>
          </a:ln>
        </p:spPr>
      </p:sp>
      <p:sp>
        <p:nvSpPr>
          <p:cNvPr id="41" name="Shape 39"/>
          <p:cNvSpPr/>
          <p:nvPr/>
        </p:nvSpPr>
        <p:spPr>
          <a:xfrm>
            <a:off x="6720840" y="2240280"/>
            <a:ext cx="1965960" cy="502920"/>
          </a:xfrm>
          <a:prstGeom prst="roundRect">
            <a:avLst>
              <a:gd name="adj" fmla="val 9091"/>
            </a:avLst>
          </a:prstGeom>
          <a:solidFill>
            <a:srgbClr val="E6F4EA"/>
          </a:solidFill>
          <a:ln w="12700">
            <a:solidFill>
              <a:srgbClr val="2E8B57"/>
            </a:solidFill>
            <a:prstDash val="solid"/>
          </a:ln>
        </p:spPr>
      </p:sp>
      <p:sp>
        <p:nvSpPr>
          <p:cNvPr id="42" name="Text 40"/>
          <p:cNvSpPr txBox="1"/>
          <p:nvPr/>
        </p:nvSpPr>
        <p:spPr>
          <a:xfrm>
            <a:off x="6766560" y="2240280"/>
            <a:ext cx="1874520" cy="502920"/>
          </a:xfrm>
          <a:prstGeom prst="rect">
            <a:avLst/>
          </a:prstGeom>
          <a:noFill/>
          <a:ln/>
        </p:spPr>
        <p:txBody>
          <a:bodyPr wrap="square" lIns="0" tIns="0" rIns="0" bIns="0" rtlCol="0" anchor="ctr"/>
          <a:lstStyle/>
          <a:p>
            <a:pPr algn="ctr" indent="0" marL="0">
              <a:buNone/>
            </a:pPr>
            <a:r>
              <a:rPr lang="en-US" sz="950" b="1" dirty="0">
                <a:solidFill>
                  <a:srgbClr val="1F2937"/>
                </a:solidFill>
                <a:latin typeface="Calibri" pitchFamily="34" charset="0"/>
                <a:ea typeface="Calibri" pitchFamily="34" charset="-122"/>
                <a:cs typeface="Calibri" pitchFamily="34" charset="-120"/>
              </a:rPr>
              <a:t>Jeton d'accès · 60 min · porte le rôle</a:t>
            </a:r>
            <a:endParaRPr lang="en-US" sz="950" dirty="0"/>
          </a:p>
        </p:txBody>
      </p:sp>
      <p:sp>
        <p:nvSpPr>
          <p:cNvPr id="43" name="Text 41"/>
          <p:cNvSpPr txBox="1"/>
          <p:nvPr/>
        </p:nvSpPr>
        <p:spPr>
          <a:xfrm>
            <a:off x="4892040" y="2834640"/>
            <a:ext cx="3794760" cy="502920"/>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Compteurs par identifiant et par jeton (pas par adresse IP) · algorithme de signature figé · graine TOTP dans Secret Manager</a:t>
            </a:r>
            <a:endParaRPr lang="en-US" sz="950" dirty="0"/>
          </a:p>
        </p:txBody>
      </p:sp>
      <p:pic>
        <p:nvPicPr>
          <p:cNvPr id="44" name="Image 0" descr="/home/claude/work/pres/assets/cap_mfa_login.png">    </p:cNvPr>
          <p:cNvPicPr>
            <a:picLocks noChangeAspect="1"/>
          </p:cNvPicPr>
          <p:nvPr/>
        </p:nvPicPr>
        <p:blipFill>
          <a:blip r:embed="rId1"/>
          <a:srcRect l="0" r="0" t="0" b="0"/>
          <a:stretch/>
        </p:blipFill>
        <p:spPr>
          <a:xfrm>
            <a:off x="4892040" y="3383280"/>
            <a:ext cx="1234440" cy="1188720"/>
          </a:xfrm>
          <a:prstGeom prst="rect">
            <a:avLst/>
          </a:prstGeom>
        </p:spPr>
      </p:pic>
      <p:pic>
        <p:nvPicPr>
          <p:cNvPr id="45" name="Image 1" descr="/home/claude/work/pres/assets/cap_mfa_totp.png">    </p:cNvPr>
          <p:cNvPicPr>
            <a:picLocks noChangeAspect="1"/>
          </p:cNvPicPr>
          <p:nvPr/>
        </p:nvPicPr>
        <p:blipFill>
          <a:blip r:embed="rId2"/>
          <a:srcRect l="0" r="0" t="0" b="0"/>
          <a:stretch/>
        </p:blipFill>
        <p:spPr>
          <a:xfrm>
            <a:off x="6263640" y="3383280"/>
            <a:ext cx="1234440" cy="1188720"/>
          </a:xfrm>
          <a:prstGeom prst="rect">
            <a:avLst/>
          </a:prstGeom>
        </p:spPr>
      </p:pic>
      <p:sp>
        <p:nvSpPr>
          <p:cNvPr id="46" name="Text 42"/>
          <p:cNvSpPr txBox="1"/>
          <p:nvPr/>
        </p:nvSpPr>
        <p:spPr>
          <a:xfrm>
            <a:off x="7589520" y="3429000"/>
            <a:ext cx="1097280" cy="1097280"/>
          </a:xfrm>
          <a:prstGeom prst="rect">
            <a:avLst/>
          </a:prstGeom>
          <a:noFill/>
          <a:ln/>
        </p:spPr>
        <p:txBody>
          <a:bodyPr wrap="square" lIns="0" tIns="0" rIns="0" bIns="0" rtlCol="0" anchor="t"/>
          <a:lstStyle/>
          <a:p>
            <a:pPr indent="0" marL="0">
              <a:buNone/>
            </a:pPr>
            <a:r>
              <a:rPr lang="en-US" sz="900" i="1" dirty="0">
                <a:solidFill>
                  <a:srgbClr val="6B7280"/>
                </a:solidFill>
                <a:latin typeface="Calibri" pitchFamily="34" charset="0"/>
                <a:ea typeface="Calibri" pitchFamily="34" charset="-122"/>
                <a:cs typeface="Calibri" pitchFamily="34" charset="-120"/>
              </a:rPr>
              <a:t>Écrans réels du tableau de bord : mot de passe, puis code de vérification</a:t>
            </a:r>
            <a:endParaRPr lang="en-US" sz="900" dirty="0"/>
          </a:p>
        </p:txBody>
      </p:sp>
      <p:sp>
        <p:nvSpPr>
          <p:cNvPr id="47" name="Text 43"/>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48" name="Text 44"/>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CONCEPTION ET TECHNOLOGIES</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Chaîne de détection en flux, bornée à trois minutes</a:t>
            </a:r>
            <a:endParaRPr lang="en-US" sz="2400" dirty="0"/>
          </a:p>
        </p:txBody>
      </p:sp>
      <p:pic>
        <p:nvPicPr>
          <p:cNvPr id="6" name="Image 0" descr="/home/claude/work/pres/assets/chaine.png">    </p:cNvPr>
          <p:cNvPicPr>
            <a:picLocks noChangeAspect="1"/>
          </p:cNvPicPr>
          <p:nvPr/>
        </p:nvPicPr>
        <p:blipFill>
          <a:blip r:embed="rId1"/>
          <a:srcRect l="0" r="0" t="0" b="0"/>
          <a:stretch/>
        </p:blipFill>
        <p:spPr>
          <a:xfrm>
            <a:off x="457200" y="1005840"/>
            <a:ext cx="8229600" cy="1737360"/>
          </a:xfrm>
          <a:prstGeom prst="rect">
            <a:avLst/>
          </a:prstGeom>
        </p:spPr>
      </p:pic>
      <p:sp>
        <p:nvSpPr>
          <p:cNvPr id="7" name="Text 4"/>
          <p:cNvSpPr txBox="1"/>
          <p:nvPr/>
        </p:nvSpPr>
        <p:spPr>
          <a:xfrm>
            <a:off x="457200" y="2834640"/>
            <a:ext cx="4206240" cy="256032"/>
          </a:xfrm>
          <a:prstGeom prst="rect">
            <a:avLst/>
          </a:prstGeom>
          <a:noFill/>
          <a:ln/>
        </p:spPr>
        <p:txBody>
          <a:bodyPr wrap="square" lIns="0" tIns="0" rIns="0" bIns="0" rtlCol="0" anchor="ctr"/>
          <a:lstStyle/>
          <a:p>
            <a:pPr indent="0" marL="0">
              <a:buNone/>
            </a:pPr>
            <a:r>
              <a:rPr lang="en-US" sz="1150" b="1" dirty="0">
                <a:solidFill>
                  <a:srgbClr val="1F3A8A"/>
                </a:solidFill>
                <a:latin typeface="Calibri" pitchFamily="34" charset="0"/>
                <a:ea typeface="Calibri" pitchFamily="34" charset="-122"/>
                <a:cs typeface="Calibri" pitchFamily="34" charset="-120"/>
              </a:rPr>
              <a:t>Sept règles versionnées, cinq tactiques MITRE</a:t>
            </a:r>
            <a:endParaRPr lang="en-US" sz="1150" dirty="0"/>
          </a:p>
        </p:txBody>
      </p:sp>
      <p:sp>
        <p:nvSpPr>
          <p:cNvPr id="8" name="Shape 5"/>
          <p:cNvSpPr/>
          <p:nvPr/>
        </p:nvSpPr>
        <p:spPr>
          <a:xfrm>
            <a:off x="457200" y="3154680"/>
            <a:ext cx="969264" cy="566928"/>
          </a:xfrm>
          <a:prstGeom prst="roundRect">
            <a:avLst>
              <a:gd name="adj" fmla="val 8065"/>
            </a:avLst>
          </a:prstGeom>
          <a:solidFill>
            <a:srgbClr val="FFFFFF"/>
          </a:solidFill>
          <a:ln w="15875">
            <a:solidFill>
              <a:srgbClr val="D98E1F"/>
            </a:solidFill>
            <a:prstDash val="solid"/>
          </a:ln>
        </p:spPr>
      </p:sp>
      <p:sp>
        <p:nvSpPr>
          <p:cNvPr id="9" name="Text 6"/>
          <p:cNvSpPr txBox="1"/>
          <p:nvPr/>
        </p:nvSpPr>
        <p:spPr>
          <a:xfrm>
            <a:off x="512064" y="3154680"/>
            <a:ext cx="877824" cy="566928"/>
          </a:xfrm>
          <a:prstGeom prst="rect">
            <a:avLst/>
          </a:prstGeom>
          <a:noFill/>
          <a:ln/>
        </p:spPr>
        <p:txBody>
          <a:bodyPr wrap="square" lIns="0" tIns="0" rIns="0" bIns="0" rtlCol="0" anchor="ctr"/>
          <a:lstStyle/>
          <a:p>
            <a:pPr indent="0" marL="0">
              <a:buNone/>
            </a:pPr>
            <a:r>
              <a:rPr lang="en-US" sz="900" b="1" dirty="0">
                <a:solidFill>
                  <a:srgbClr val="D98E1F"/>
                </a:solidFill>
                <a:latin typeface="Calibri" pitchFamily="34" charset="0"/>
                <a:ea typeface="Calibri" pitchFamily="34" charset="-122"/>
                <a:cs typeface="Calibri" pitchFamily="34" charset="-120"/>
              </a:rPr>
              <a:t>R1  </a:t>
            </a:r>
            <a:pPr indent="0" marL="0">
              <a:buNone/>
            </a:pPr>
            <a:r>
              <a:rPr lang="en-US" sz="900" dirty="0">
                <a:solidFill>
                  <a:srgbClr val="1F2937"/>
                </a:solidFill>
                <a:latin typeface="Calibri" pitchFamily="34" charset="0"/>
                <a:ea typeface="Calibri" pitchFamily="34" charset="-122"/>
                <a:cs typeface="Calibri" pitchFamily="34" charset="-120"/>
              </a:rPr>
              <a:t>Force brute</a:t>
            </a:r>
            <a:endParaRPr lang="en-US" sz="900" dirty="0"/>
          </a:p>
          <a:p>
            <a:pPr indent="0" marL="0">
              <a:buNone/>
            </a:pPr>
            <a:r>
              <a:rPr lang="en-US" sz="800" dirty="0">
                <a:solidFill>
                  <a:srgbClr val="6B7280"/>
                </a:solidFill>
                <a:latin typeface="Calibri" pitchFamily="34" charset="0"/>
                <a:ea typeface="Calibri" pitchFamily="34" charset="-122"/>
                <a:cs typeface="Calibri" pitchFamily="34" charset="-120"/>
              </a:rPr>
              <a:t>haute</a:t>
            </a:r>
            <a:endParaRPr lang="en-US" sz="900" dirty="0"/>
          </a:p>
        </p:txBody>
      </p:sp>
      <p:sp>
        <p:nvSpPr>
          <p:cNvPr id="10" name="Shape 7"/>
          <p:cNvSpPr/>
          <p:nvPr/>
        </p:nvSpPr>
        <p:spPr>
          <a:xfrm>
            <a:off x="1499616" y="3154680"/>
            <a:ext cx="969264" cy="566928"/>
          </a:xfrm>
          <a:prstGeom prst="roundRect">
            <a:avLst>
              <a:gd name="adj" fmla="val 8065"/>
            </a:avLst>
          </a:prstGeom>
          <a:solidFill>
            <a:srgbClr val="FFFFFF"/>
          </a:solidFill>
          <a:ln w="15875">
            <a:solidFill>
              <a:srgbClr val="3D5BB5"/>
            </a:solidFill>
            <a:prstDash val="solid"/>
          </a:ln>
        </p:spPr>
      </p:sp>
      <p:sp>
        <p:nvSpPr>
          <p:cNvPr id="11" name="Text 8"/>
          <p:cNvSpPr txBox="1"/>
          <p:nvPr/>
        </p:nvSpPr>
        <p:spPr>
          <a:xfrm>
            <a:off x="1554480" y="3154680"/>
            <a:ext cx="877824" cy="566928"/>
          </a:xfrm>
          <a:prstGeom prst="rect">
            <a:avLst/>
          </a:prstGeom>
          <a:noFill/>
          <a:ln/>
        </p:spPr>
        <p:txBody>
          <a:bodyPr wrap="square" lIns="0" tIns="0" rIns="0" bIns="0" rtlCol="0" anchor="ctr"/>
          <a:lstStyle/>
          <a:p>
            <a:pPr indent="0" marL="0">
              <a:buNone/>
            </a:pPr>
            <a:r>
              <a:rPr lang="en-US" sz="900" b="1" dirty="0">
                <a:solidFill>
                  <a:srgbClr val="3D5BB5"/>
                </a:solidFill>
                <a:latin typeface="Calibri" pitchFamily="34" charset="0"/>
                <a:ea typeface="Calibri" pitchFamily="34" charset="-122"/>
                <a:cs typeface="Calibri" pitchFamily="34" charset="-120"/>
              </a:rPr>
              <a:t>R2  </a:t>
            </a:r>
            <a:pPr indent="0" marL="0">
              <a:buNone/>
            </a:pPr>
            <a:r>
              <a:rPr lang="en-US" sz="900" dirty="0">
                <a:solidFill>
                  <a:srgbClr val="1F2937"/>
                </a:solidFill>
                <a:latin typeface="Calibri" pitchFamily="34" charset="0"/>
                <a:ea typeface="Calibri" pitchFamily="34" charset="-122"/>
                <a:cs typeface="Calibri" pitchFamily="34" charset="-120"/>
              </a:rPr>
              <a:t>Pic WAF</a:t>
            </a:r>
            <a:endParaRPr lang="en-US" sz="900" dirty="0"/>
          </a:p>
          <a:p>
            <a:pPr indent="0" marL="0">
              <a:buNone/>
            </a:pPr>
            <a:r>
              <a:rPr lang="en-US" sz="800" dirty="0">
                <a:solidFill>
                  <a:srgbClr val="6B7280"/>
                </a:solidFill>
                <a:latin typeface="Calibri" pitchFamily="34" charset="0"/>
                <a:ea typeface="Calibri" pitchFamily="34" charset="-122"/>
                <a:cs typeface="Calibri" pitchFamily="34" charset="-120"/>
              </a:rPr>
              <a:t>moyenne</a:t>
            </a:r>
            <a:endParaRPr lang="en-US" sz="900" dirty="0"/>
          </a:p>
        </p:txBody>
      </p:sp>
      <p:sp>
        <p:nvSpPr>
          <p:cNvPr id="12" name="Shape 9"/>
          <p:cNvSpPr/>
          <p:nvPr/>
        </p:nvSpPr>
        <p:spPr>
          <a:xfrm>
            <a:off x="2542032" y="3154680"/>
            <a:ext cx="969264" cy="566928"/>
          </a:xfrm>
          <a:prstGeom prst="roundRect">
            <a:avLst>
              <a:gd name="adj" fmla="val 8065"/>
            </a:avLst>
          </a:prstGeom>
          <a:solidFill>
            <a:srgbClr val="FFFFFF"/>
          </a:solidFill>
          <a:ln w="15875">
            <a:solidFill>
              <a:srgbClr val="D98E1F"/>
            </a:solidFill>
            <a:prstDash val="solid"/>
          </a:ln>
        </p:spPr>
      </p:sp>
      <p:sp>
        <p:nvSpPr>
          <p:cNvPr id="13" name="Text 10"/>
          <p:cNvSpPr txBox="1"/>
          <p:nvPr/>
        </p:nvSpPr>
        <p:spPr>
          <a:xfrm>
            <a:off x="2596896" y="3154680"/>
            <a:ext cx="877824" cy="566928"/>
          </a:xfrm>
          <a:prstGeom prst="rect">
            <a:avLst/>
          </a:prstGeom>
          <a:noFill/>
          <a:ln/>
        </p:spPr>
        <p:txBody>
          <a:bodyPr wrap="square" lIns="0" tIns="0" rIns="0" bIns="0" rtlCol="0" anchor="ctr"/>
          <a:lstStyle/>
          <a:p>
            <a:pPr indent="0" marL="0">
              <a:buNone/>
            </a:pPr>
            <a:r>
              <a:rPr lang="en-US" sz="900" b="1" dirty="0">
                <a:solidFill>
                  <a:srgbClr val="D98E1F"/>
                </a:solidFill>
                <a:latin typeface="Calibri" pitchFamily="34" charset="0"/>
                <a:ea typeface="Calibri" pitchFamily="34" charset="-122"/>
                <a:cs typeface="Calibri" pitchFamily="34" charset="-120"/>
              </a:rPr>
              <a:t>R3  </a:t>
            </a:r>
            <a:pPr indent="0" marL="0">
              <a:buNone/>
            </a:pPr>
            <a:r>
              <a:rPr lang="en-US" sz="900" dirty="0">
                <a:solidFill>
                  <a:srgbClr val="1F2937"/>
                </a:solidFill>
                <a:latin typeface="Calibri" pitchFamily="34" charset="0"/>
                <a:ea typeface="Calibri" pitchFamily="34" charset="-122"/>
                <a:cs typeface="Calibri" pitchFamily="34" charset="-120"/>
              </a:rPr>
              <a:t>Traversée de chemin</a:t>
            </a:r>
            <a:endParaRPr lang="en-US" sz="900" dirty="0"/>
          </a:p>
          <a:p>
            <a:pPr indent="0" marL="0">
              <a:buNone/>
            </a:pPr>
            <a:r>
              <a:rPr lang="en-US" sz="800" dirty="0">
                <a:solidFill>
                  <a:srgbClr val="6B7280"/>
                </a:solidFill>
                <a:latin typeface="Calibri" pitchFamily="34" charset="0"/>
                <a:ea typeface="Calibri" pitchFamily="34" charset="-122"/>
                <a:cs typeface="Calibri" pitchFamily="34" charset="-120"/>
              </a:rPr>
              <a:t>haute</a:t>
            </a:r>
            <a:endParaRPr lang="en-US" sz="900" dirty="0"/>
          </a:p>
        </p:txBody>
      </p:sp>
      <p:sp>
        <p:nvSpPr>
          <p:cNvPr id="14" name="Shape 11"/>
          <p:cNvSpPr/>
          <p:nvPr/>
        </p:nvSpPr>
        <p:spPr>
          <a:xfrm>
            <a:off x="3584448" y="3154680"/>
            <a:ext cx="969264" cy="566928"/>
          </a:xfrm>
          <a:prstGeom prst="roundRect">
            <a:avLst>
              <a:gd name="adj" fmla="val 8065"/>
            </a:avLst>
          </a:prstGeom>
          <a:solidFill>
            <a:srgbClr val="FFFFFF"/>
          </a:solidFill>
          <a:ln w="15875">
            <a:solidFill>
              <a:srgbClr val="3D5BB5"/>
            </a:solidFill>
            <a:prstDash val="solid"/>
          </a:ln>
        </p:spPr>
      </p:sp>
      <p:sp>
        <p:nvSpPr>
          <p:cNvPr id="15" name="Text 12"/>
          <p:cNvSpPr txBox="1"/>
          <p:nvPr/>
        </p:nvSpPr>
        <p:spPr>
          <a:xfrm>
            <a:off x="3639312" y="3154680"/>
            <a:ext cx="877824" cy="566928"/>
          </a:xfrm>
          <a:prstGeom prst="rect">
            <a:avLst/>
          </a:prstGeom>
          <a:noFill/>
          <a:ln/>
        </p:spPr>
        <p:txBody>
          <a:bodyPr wrap="square" lIns="0" tIns="0" rIns="0" bIns="0" rtlCol="0" anchor="ctr"/>
          <a:lstStyle/>
          <a:p>
            <a:pPr indent="0" marL="0">
              <a:buNone/>
            </a:pPr>
            <a:r>
              <a:rPr lang="en-US" sz="900" b="1" dirty="0">
                <a:solidFill>
                  <a:srgbClr val="3D5BB5"/>
                </a:solidFill>
                <a:latin typeface="Calibri" pitchFamily="34" charset="0"/>
                <a:ea typeface="Calibri" pitchFamily="34" charset="-122"/>
                <a:cs typeface="Calibri" pitchFamily="34" charset="-120"/>
              </a:rPr>
              <a:t>R4  </a:t>
            </a:r>
            <a:pPr indent="0" marL="0">
              <a:buNone/>
            </a:pPr>
            <a:r>
              <a:rPr lang="en-US" sz="900" dirty="0">
                <a:solidFill>
                  <a:srgbClr val="1F2937"/>
                </a:solidFill>
                <a:latin typeface="Calibri" pitchFamily="34" charset="0"/>
                <a:ea typeface="Calibri" pitchFamily="34" charset="-122"/>
                <a:cs typeface="Calibri" pitchFamily="34" charset="-120"/>
              </a:rPr>
              <a:t>Agent suspect</a:t>
            </a:r>
            <a:endParaRPr lang="en-US" sz="900" dirty="0"/>
          </a:p>
          <a:p>
            <a:pPr indent="0" marL="0">
              <a:buNone/>
            </a:pPr>
            <a:r>
              <a:rPr lang="en-US" sz="800" dirty="0">
                <a:solidFill>
                  <a:srgbClr val="6B7280"/>
                </a:solidFill>
                <a:latin typeface="Calibri" pitchFamily="34" charset="0"/>
                <a:ea typeface="Calibri" pitchFamily="34" charset="-122"/>
                <a:cs typeface="Calibri" pitchFamily="34" charset="-120"/>
              </a:rPr>
              <a:t>moyenne</a:t>
            </a:r>
            <a:endParaRPr lang="en-US" sz="900" dirty="0"/>
          </a:p>
        </p:txBody>
      </p:sp>
      <p:sp>
        <p:nvSpPr>
          <p:cNvPr id="16" name="Shape 13"/>
          <p:cNvSpPr/>
          <p:nvPr/>
        </p:nvSpPr>
        <p:spPr>
          <a:xfrm>
            <a:off x="457200" y="3813048"/>
            <a:ext cx="969264" cy="566928"/>
          </a:xfrm>
          <a:prstGeom prst="roundRect">
            <a:avLst>
              <a:gd name="adj" fmla="val 8065"/>
            </a:avLst>
          </a:prstGeom>
          <a:solidFill>
            <a:srgbClr val="FFFFFF"/>
          </a:solidFill>
          <a:ln w="15875">
            <a:solidFill>
              <a:srgbClr val="6B7280"/>
            </a:solidFill>
            <a:prstDash val="solid"/>
          </a:ln>
        </p:spPr>
      </p:sp>
      <p:sp>
        <p:nvSpPr>
          <p:cNvPr id="17" name="Text 14"/>
          <p:cNvSpPr txBox="1"/>
          <p:nvPr/>
        </p:nvSpPr>
        <p:spPr>
          <a:xfrm>
            <a:off x="512064" y="3813048"/>
            <a:ext cx="877824" cy="566928"/>
          </a:xfrm>
          <a:prstGeom prst="rect">
            <a:avLst/>
          </a:prstGeom>
          <a:noFill/>
          <a:ln/>
        </p:spPr>
        <p:txBody>
          <a:bodyPr wrap="square" lIns="0" tIns="0" rIns="0" bIns="0" rtlCol="0" anchor="ctr"/>
          <a:lstStyle/>
          <a:p>
            <a:pPr indent="0" marL="0">
              <a:buNone/>
            </a:pPr>
            <a:r>
              <a:rPr lang="en-US" sz="900" b="1" dirty="0">
                <a:solidFill>
                  <a:srgbClr val="6B7280"/>
                </a:solidFill>
                <a:latin typeface="Calibri" pitchFamily="34" charset="0"/>
                <a:ea typeface="Calibri" pitchFamily="34" charset="-122"/>
                <a:cs typeface="Calibri" pitchFamily="34" charset="-120"/>
              </a:rPr>
              <a:t>R5  </a:t>
            </a:r>
            <a:pPr indent="0" marL="0">
              <a:buNone/>
            </a:pPr>
            <a:r>
              <a:rPr lang="en-US" sz="900" dirty="0">
                <a:solidFill>
                  <a:srgbClr val="1F2937"/>
                </a:solidFill>
                <a:latin typeface="Calibri" pitchFamily="34" charset="0"/>
                <a:ea typeface="Calibri" pitchFamily="34" charset="-122"/>
                <a:cs typeface="Calibri" pitchFamily="34" charset="-120"/>
              </a:rPr>
              <a:t>Latence anormale</a:t>
            </a:r>
            <a:endParaRPr lang="en-US" sz="900" dirty="0"/>
          </a:p>
          <a:p>
            <a:pPr indent="0" marL="0">
              <a:buNone/>
            </a:pPr>
            <a:r>
              <a:rPr lang="en-US" sz="800" dirty="0">
                <a:solidFill>
                  <a:srgbClr val="6B7280"/>
                </a:solidFill>
                <a:latin typeface="Calibri" pitchFamily="34" charset="0"/>
                <a:ea typeface="Calibri" pitchFamily="34" charset="-122"/>
                <a:cs typeface="Calibri" pitchFamily="34" charset="-120"/>
              </a:rPr>
              <a:t>faible</a:t>
            </a:r>
            <a:endParaRPr lang="en-US" sz="900" dirty="0"/>
          </a:p>
        </p:txBody>
      </p:sp>
      <p:sp>
        <p:nvSpPr>
          <p:cNvPr id="18" name="Shape 15"/>
          <p:cNvSpPr/>
          <p:nvPr/>
        </p:nvSpPr>
        <p:spPr>
          <a:xfrm>
            <a:off x="1499616" y="3813048"/>
            <a:ext cx="969264" cy="566928"/>
          </a:xfrm>
          <a:prstGeom prst="roundRect">
            <a:avLst>
              <a:gd name="adj" fmla="val 8065"/>
            </a:avLst>
          </a:prstGeom>
          <a:solidFill>
            <a:srgbClr val="FFFFFF"/>
          </a:solidFill>
          <a:ln w="15875">
            <a:solidFill>
              <a:srgbClr val="C0392B"/>
            </a:solidFill>
            <a:prstDash val="solid"/>
          </a:ln>
        </p:spPr>
      </p:sp>
      <p:sp>
        <p:nvSpPr>
          <p:cNvPr id="19" name="Text 16"/>
          <p:cNvSpPr txBox="1"/>
          <p:nvPr/>
        </p:nvSpPr>
        <p:spPr>
          <a:xfrm>
            <a:off x="1554480" y="3813048"/>
            <a:ext cx="877824" cy="566928"/>
          </a:xfrm>
          <a:prstGeom prst="rect">
            <a:avLst/>
          </a:prstGeom>
          <a:noFill/>
          <a:ln/>
        </p:spPr>
        <p:txBody>
          <a:bodyPr wrap="square" lIns="0" tIns="0" rIns="0" bIns="0" rtlCol="0" anchor="ctr"/>
          <a:lstStyle/>
          <a:p>
            <a:pPr indent="0" marL="0">
              <a:buNone/>
            </a:pPr>
            <a:r>
              <a:rPr lang="en-US" sz="900" b="1" dirty="0">
                <a:solidFill>
                  <a:srgbClr val="C0392B"/>
                </a:solidFill>
                <a:latin typeface="Calibri" pitchFamily="34" charset="0"/>
                <a:ea typeface="Calibri" pitchFamily="34" charset="-122"/>
                <a:cs typeface="Calibri" pitchFamily="34" charset="-120"/>
              </a:rPr>
              <a:t>R6  </a:t>
            </a:r>
            <a:pPr indent="0" marL="0">
              <a:buNone/>
            </a:pPr>
            <a:r>
              <a:rPr lang="en-US" sz="900" dirty="0">
                <a:solidFill>
                  <a:srgbClr val="1F2937"/>
                </a:solidFill>
                <a:latin typeface="Calibri" pitchFamily="34" charset="0"/>
                <a:ea typeface="Calibri" pitchFamily="34" charset="-122"/>
                <a:cs typeface="Calibri" pitchFamily="34" charset="-120"/>
              </a:rPr>
              <a:t>Injection</a:t>
            </a:r>
            <a:endParaRPr lang="en-US" sz="900" dirty="0"/>
          </a:p>
          <a:p>
            <a:pPr indent="0" marL="0">
              <a:buNone/>
            </a:pPr>
            <a:r>
              <a:rPr lang="en-US" sz="800" dirty="0">
                <a:solidFill>
                  <a:srgbClr val="6B7280"/>
                </a:solidFill>
                <a:latin typeface="Calibri" pitchFamily="34" charset="0"/>
                <a:ea typeface="Calibri" pitchFamily="34" charset="-122"/>
                <a:cs typeface="Calibri" pitchFamily="34" charset="-120"/>
              </a:rPr>
              <a:t>critique</a:t>
            </a:r>
            <a:endParaRPr lang="en-US" sz="900" dirty="0"/>
          </a:p>
        </p:txBody>
      </p:sp>
      <p:sp>
        <p:nvSpPr>
          <p:cNvPr id="20" name="Shape 17"/>
          <p:cNvSpPr/>
          <p:nvPr/>
        </p:nvSpPr>
        <p:spPr>
          <a:xfrm>
            <a:off x="2542032" y="3813048"/>
            <a:ext cx="969264" cy="566928"/>
          </a:xfrm>
          <a:prstGeom prst="roundRect">
            <a:avLst>
              <a:gd name="adj" fmla="val 8065"/>
            </a:avLst>
          </a:prstGeom>
          <a:solidFill>
            <a:srgbClr val="FFFFFF"/>
          </a:solidFill>
          <a:ln w="15875">
            <a:solidFill>
              <a:srgbClr val="D98E1F"/>
            </a:solidFill>
            <a:prstDash val="solid"/>
          </a:ln>
        </p:spPr>
      </p:sp>
      <p:sp>
        <p:nvSpPr>
          <p:cNvPr id="21" name="Text 18"/>
          <p:cNvSpPr txBox="1"/>
          <p:nvPr/>
        </p:nvSpPr>
        <p:spPr>
          <a:xfrm>
            <a:off x="2596896" y="3813048"/>
            <a:ext cx="877824" cy="566928"/>
          </a:xfrm>
          <a:prstGeom prst="rect">
            <a:avLst/>
          </a:prstGeom>
          <a:noFill/>
          <a:ln/>
        </p:spPr>
        <p:txBody>
          <a:bodyPr wrap="square" lIns="0" tIns="0" rIns="0" bIns="0" rtlCol="0" anchor="ctr"/>
          <a:lstStyle/>
          <a:p>
            <a:pPr indent="0" marL="0">
              <a:buNone/>
            </a:pPr>
            <a:r>
              <a:rPr lang="en-US" sz="900" b="1" dirty="0">
                <a:solidFill>
                  <a:srgbClr val="D98E1F"/>
                </a:solidFill>
                <a:latin typeface="Calibri" pitchFamily="34" charset="0"/>
                <a:ea typeface="Calibri" pitchFamily="34" charset="-122"/>
                <a:cs typeface="Calibri" pitchFamily="34" charset="-120"/>
              </a:rPr>
              <a:t>R7  </a:t>
            </a:r>
            <a:pPr indent="0" marL="0">
              <a:buNone/>
            </a:pPr>
            <a:r>
              <a:rPr lang="en-US" sz="900" dirty="0">
                <a:solidFill>
                  <a:srgbClr val="1F2937"/>
                </a:solidFill>
                <a:latin typeface="Calibri" pitchFamily="34" charset="0"/>
                <a:ea typeface="Calibri" pitchFamily="34" charset="-122"/>
                <a:cs typeface="Calibri" pitchFamily="34" charset="-120"/>
              </a:rPr>
              <a:t>Fichier sensible</a:t>
            </a:r>
            <a:endParaRPr lang="en-US" sz="900" dirty="0"/>
          </a:p>
          <a:p>
            <a:pPr indent="0" marL="0">
              <a:buNone/>
            </a:pPr>
            <a:r>
              <a:rPr lang="en-US" sz="800" dirty="0">
                <a:solidFill>
                  <a:srgbClr val="6B7280"/>
                </a:solidFill>
                <a:latin typeface="Calibri" pitchFamily="34" charset="0"/>
                <a:ea typeface="Calibri" pitchFamily="34" charset="-122"/>
                <a:cs typeface="Calibri" pitchFamily="34" charset="-120"/>
              </a:rPr>
              <a:t>haute</a:t>
            </a:r>
            <a:endParaRPr lang="en-US" sz="900" dirty="0"/>
          </a:p>
        </p:txBody>
      </p:sp>
      <p:sp>
        <p:nvSpPr>
          <p:cNvPr id="22" name="Shape 19"/>
          <p:cNvSpPr/>
          <p:nvPr/>
        </p:nvSpPr>
        <p:spPr>
          <a:xfrm>
            <a:off x="4892040" y="2834640"/>
            <a:ext cx="3794760" cy="1691640"/>
          </a:xfrm>
          <a:prstGeom prst="roundRect">
            <a:avLst>
              <a:gd name="adj" fmla="val 3243"/>
            </a:avLst>
          </a:prstGeom>
          <a:solidFill>
            <a:srgbClr val="F3F6FC"/>
          </a:solidFill>
          <a:ln w="9525">
            <a:solidFill>
              <a:srgbClr val="D5DBE8"/>
            </a:solidFill>
            <a:prstDash val="solid"/>
          </a:ln>
        </p:spPr>
      </p:sp>
      <p:sp>
        <p:nvSpPr>
          <p:cNvPr id="23" name="Text 20"/>
          <p:cNvSpPr txBox="1"/>
          <p:nvPr/>
        </p:nvSpPr>
        <p:spPr>
          <a:xfrm>
            <a:off x="5029200" y="2926080"/>
            <a:ext cx="352044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Ce qui fait la détection</a:t>
            </a:r>
            <a:endParaRPr lang="en-US" sz="1300" dirty="0"/>
          </a:p>
        </p:txBody>
      </p:sp>
      <p:sp>
        <p:nvSpPr>
          <p:cNvPr id="24" name="Text 21"/>
          <p:cNvSpPr txBox="1"/>
          <p:nvPr/>
        </p:nvSpPr>
        <p:spPr>
          <a:xfrm>
            <a:off x="5029200" y="3246120"/>
            <a:ext cx="3520440" cy="118872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Déduplication déterministe : identifiant SHA-256 (règle, entité, message, horodatage)</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Enrichissement : encodeur ATT&amp;CK-BERT interne, trois candidats par détection avec leur score</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Corrélation à la lecture : un incident par entité, score pondéré, +15 si deux tactiques, plafond 100</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Trois alertes de plateforme (A1 IAM, A2 dérive, A3 absence de journaux)</a:t>
            </a:r>
            <a:endParaRPr lang="en-US" sz="950" dirty="0"/>
          </a:p>
        </p:txBody>
      </p:sp>
      <p:sp>
        <p:nvSpPr>
          <p:cNvPr id="25" name="Text 22"/>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26" name="Text 23"/>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RÉALISATION DU PROJET PAR SPRINTS</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Vingt-sept semaines, neuf phases, sept jalons</a:t>
            </a:r>
            <a:endParaRPr lang="en-US" sz="2400" dirty="0"/>
          </a:p>
        </p:txBody>
      </p:sp>
      <p:sp>
        <p:nvSpPr>
          <p:cNvPr id="6" name="Shape 4"/>
          <p:cNvSpPr/>
          <p:nvPr/>
        </p:nvSpPr>
        <p:spPr>
          <a:xfrm>
            <a:off x="457200" y="1600200"/>
            <a:ext cx="8229600" cy="0"/>
          </a:xfrm>
          <a:prstGeom prst="line">
            <a:avLst/>
          </a:prstGeom>
          <a:noFill/>
          <a:ln w="25400">
            <a:solidFill>
              <a:srgbClr val="D5DBE8"/>
            </a:solidFill>
            <a:prstDash val="solid"/>
          </a:ln>
        </p:spPr>
      </p:sp>
      <p:sp>
        <p:nvSpPr>
          <p:cNvPr id="7" name="Shape 5"/>
          <p:cNvSpPr/>
          <p:nvPr/>
        </p:nvSpPr>
        <p:spPr>
          <a:xfrm>
            <a:off x="868680" y="1481328"/>
            <a:ext cx="237744" cy="237744"/>
          </a:xfrm>
          <a:prstGeom prst="ellipse">
            <a:avLst/>
          </a:prstGeom>
          <a:solidFill>
            <a:srgbClr val="1F3A8A"/>
          </a:solidFill>
          <a:ln w="19050">
            <a:solidFill>
              <a:srgbClr val="FFFFFF"/>
            </a:solidFill>
            <a:prstDash val="solid"/>
          </a:ln>
        </p:spPr>
      </p:sp>
      <p:sp>
        <p:nvSpPr>
          <p:cNvPr id="8" name="Text 6"/>
          <p:cNvSpPr txBox="1"/>
          <p:nvPr/>
        </p:nvSpPr>
        <p:spPr>
          <a:xfrm>
            <a:off x="457200" y="1051560"/>
            <a:ext cx="1097280" cy="365760"/>
          </a:xfrm>
          <a:prstGeom prst="rect">
            <a:avLst/>
          </a:prstGeom>
          <a:noFill/>
          <a:ln/>
        </p:spPr>
        <p:txBody>
          <a:bodyPr wrap="square" lIns="0" tIns="0" rIns="0" bIns="0" rtlCol="0" anchor="b"/>
          <a:lstStyle/>
          <a:p>
            <a:pPr algn="ctr" indent="0" marL="0">
              <a:buNone/>
            </a:pPr>
            <a:r>
              <a:rPr lang="en-US" sz="900" b="1" dirty="0">
                <a:solidFill>
                  <a:srgbClr val="1F3A8A"/>
                </a:solidFill>
                <a:latin typeface="Calibri" pitchFamily="34" charset="0"/>
                <a:ea typeface="Calibri" pitchFamily="34" charset="-122"/>
                <a:cs typeface="Calibri" pitchFamily="34" charset="-120"/>
              </a:rPr>
              <a:t>S1 · mars</a:t>
            </a:r>
            <a:endParaRPr lang="en-US" sz="900" dirty="0"/>
          </a:p>
        </p:txBody>
      </p:sp>
      <p:sp>
        <p:nvSpPr>
          <p:cNvPr id="9" name="Text 7"/>
          <p:cNvSpPr txBox="1"/>
          <p:nvPr/>
        </p:nvSpPr>
        <p:spPr>
          <a:xfrm>
            <a:off x="457200" y="1828800"/>
            <a:ext cx="1097280" cy="411480"/>
          </a:xfrm>
          <a:prstGeom prst="rect">
            <a:avLst/>
          </a:prstGeom>
          <a:noFill/>
          <a:ln/>
        </p:spPr>
        <p:txBody>
          <a:bodyPr wrap="square" lIns="0" tIns="0" rIns="0" bIns="0" rtlCol="0" anchor="t"/>
          <a:lstStyle/>
          <a:p>
            <a:pPr algn="ctr" indent="0" marL="0">
              <a:buNone/>
            </a:pPr>
            <a:r>
              <a:rPr lang="en-US" sz="950" b="1" dirty="0">
                <a:solidFill>
                  <a:srgbClr val="1F2937"/>
                </a:solidFill>
                <a:latin typeface="Calibri" pitchFamily="34" charset="0"/>
                <a:ea typeface="Calibri" pitchFamily="34" charset="-122"/>
                <a:cs typeface="Calibri" pitchFamily="34" charset="-120"/>
              </a:rPr>
              <a:t>Cadrage et audit</a:t>
            </a:r>
            <a:endParaRPr lang="en-US" sz="950" dirty="0"/>
          </a:p>
        </p:txBody>
      </p:sp>
      <p:sp>
        <p:nvSpPr>
          <p:cNvPr id="10" name="Text 8"/>
          <p:cNvSpPr txBox="1"/>
          <p:nvPr/>
        </p:nvSpPr>
        <p:spPr>
          <a:xfrm>
            <a:off x="457200" y="2240280"/>
            <a:ext cx="1097280" cy="685800"/>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Quatre constats C1–C4</a:t>
            </a:r>
            <a:endParaRPr lang="en-US" sz="850" dirty="0"/>
          </a:p>
        </p:txBody>
      </p:sp>
      <p:sp>
        <p:nvSpPr>
          <p:cNvPr id="11" name="Shape 9"/>
          <p:cNvSpPr/>
          <p:nvPr/>
        </p:nvSpPr>
        <p:spPr>
          <a:xfrm>
            <a:off x="2048256" y="1481328"/>
            <a:ext cx="237744" cy="237744"/>
          </a:xfrm>
          <a:prstGeom prst="ellipse">
            <a:avLst/>
          </a:prstGeom>
          <a:solidFill>
            <a:srgbClr val="1F3A8A"/>
          </a:solidFill>
          <a:ln w="19050">
            <a:solidFill>
              <a:srgbClr val="FFFFFF"/>
            </a:solidFill>
            <a:prstDash val="solid"/>
          </a:ln>
        </p:spPr>
      </p:sp>
      <p:sp>
        <p:nvSpPr>
          <p:cNvPr id="12" name="Text 10"/>
          <p:cNvSpPr txBox="1"/>
          <p:nvPr/>
        </p:nvSpPr>
        <p:spPr>
          <a:xfrm>
            <a:off x="1636776" y="1051560"/>
            <a:ext cx="1097280" cy="365760"/>
          </a:xfrm>
          <a:prstGeom prst="rect">
            <a:avLst/>
          </a:prstGeom>
          <a:noFill/>
          <a:ln/>
        </p:spPr>
        <p:txBody>
          <a:bodyPr wrap="square" lIns="0" tIns="0" rIns="0" bIns="0" rtlCol="0" anchor="b"/>
          <a:lstStyle/>
          <a:p>
            <a:pPr algn="ctr" indent="0" marL="0">
              <a:buNone/>
            </a:pPr>
            <a:r>
              <a:rPr lang="en-US" sz="900" b="1" dirty="0">
                <a:solidFill>
                  <a:srgbClr val="1F3A8A"/>
                </a:solidFill>
                <a:latin typeface="Calibri" pitchFamily="34" charset="0"/>
                <a:ea typeface="Calibri" pitchFamily="34" charset="-122"/>
                <a:cs typeface="Calibri" pitchFamily="34" charset="-120"/>
              </a:rPr>
              <a:t>S2 · avril–mai</a:t>
            </a:r>
            <a:endParaRPr lang="en-US" sz="900" dirty="0"/>
          </a:p>
        </p:txBody>
      </p:sp>
      <p:sp>
        <p:nvSpPr>
          <p:cNvPr id="13" name="Text 11"/>
          <p:cNvSpPr txBox="1"/>
          <p:nvPr/>
        </p:nvSpPr>
        <p:spPr>
          <a:xfrm>
            <a:off x="1636776" y="1828800"/>
            <a:ext cx="1097280" cy="411480"/>
          </a:xfrm>
          <a:prstGeom prst="rect">
            <a:avLst/>
          </a:prstGeom>
          <a:noFill/>
          <a:ln/>
        </p:spPr>
        <p:txBody>
          <a:bodyPr wrap="square" lIns="0" tIns="0" rIns="0" bIns="0" rtlCol="0" anchor="t"/>
          <a:lstStyle/>
          <a:p>
            <a:pPr algn="ctr" indent="0" marL="0">
              <a:buNone/>
            </a:pPr>
            <a:r>
              <a:rPr lang="en-US" sz="950" b="1" dirty="0">
                <a:solidFill>
                  <a:srgbClr val="1F2937"/>
                </a:solidFill>
                <a:latin typeface="Calibri" pitchFamily="34" charset="0"/>
                <a:ea typeface="Calibri" pitchFamily="34" charset="-122"/>
                <a:cs typeface="Calibri" pitchFamily="34" charset="-120"/>
              </a:rPr>
              <a:t>État de l'art, menaces</a:t>
            </a:r>
            <a:endParaRPr lang="en-US" sz="950" dirty="0"/>
          </a:p>
        </p:txBody>
      </p:sp>
      <p:sp>
        <p:nvSpPr>
          <p:cNvPr id="14" name="Text 12"/>
          <p:cNvSpPr txBox="1"/>
          <p:nvPr/>
        </p:nvSpPr>
        <p:spPr>
          <a:xfrm>
            <a:off x="1636776" y="2240280"/>
            <a:ext cx="1097280" cy="685800"/>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Choix justifiés · 12 exigences</a:t>
            </a:r>
            <a:endParaRPr lang="en-US" sz="850" dirty="0"/>
          </a:p>
        </p:txBody>
      </p:sp>
      <p:sp>
        <p:nvSpPr>
          <p:cNvPr id="15" name="Shape 13"/>
          <p:cNvSpPr/>
          <p:nvPr/>
        </p:nvSpPr>
        <p:spPr>
          <a:xfrm>
            <a:off x="3227832" y="1481328"/>
            <a:ext cx="237744" cy="237744"/>
          </a:xfrm>
          <a:prstGeom prst="ellipse">
            <a:avLst/>
          </a:prstGeom>
          <a:solidFill>
            <a:srgbClr val="1F3A8A"/>
          </a:solidFill>
          <a:ln w="19050">
            <a:solidFill>
              <a:srgbClr val="FFFFFF"/>
            </a:solidFill>
            <a:prstDash val="solid"/>
          </a:ln>
        </p:spPr>
      </p:sp>
      <p:sp>
        <p:nvSpPr>
          <p:cNvPr id="16" name="Text 14"/>
          <p:cNvSpPr txBox="1"/>
          <p:nvPr/>
        </p:nvSpPr>
        <p:spPr>
          <a:xfrm>
            <a:off x="2816352" y="1051560"/>
            <a:ext cx="1097280" cy="365760"/>
          </a:xfrm>
          <a:prstGeom prst="rect">
            <a:avLst/>
          </a:prstGeom>
          <a:noFill/>
          <a:ln/>
        </p:spPr>
        <p:txBody>
          <a:bodyPr wrap="square" lIns="0" tIns="0" rIns="0" bIns="0" rtlCol="0" anchor="b"/>
          <a:lstStyle/>
          <a:p>
            <a:pPr algn="ctr" indent="0" marL="0">
              <a:buNone/>
            </a:pPr>
            <a:r>
              <a:rPr lang="en-US" sz="900" b="1" dirty="0">
                <a:solidFill>
                  <a:srgbClr val="1F3A8A"/>
                </a:solidFill>
                <a:latin typeface="Calibri" pitchFamily="34" charset="0"/>
                <a:ea typeface="Calibri" pitchFamily="34" charset="-122"/>
                <a:cs typeface="Calibri" pitchFamily="34" charset="-120"/>
              </a:rPr>
              <a:t>S3 · mai–juin</a:t>
            </a:r>
            <a:endParaRPr lang="en-US" sz="900" dirty="0"/>
          </a:p>
        </p:txBody>
      </p:sp>
      <p:sp>
        <p:nvSpPr>
          <p:cNvPr id="17" name="Text 15"/>
          <p:cNvSpPr txBox="1"/>
          <p:nvPr/>
        </p:nvSpPr>
        <p:spPr>
          <a:xfrm>
            <a:off x="2816352" y="1828800"/>
            <a:ext cx="1097280" cy="411480"/>
          </a:xfrm>
          <a:prstGeom prst="rect">
            <a:avLst/>
          </a:prstGeom>
          <a:noFill/>
          <a:ln/>
        </p:spPr>
        <p:txBody>
          <a:bodyPr wrap="square" lIns="0" tIns="0" rIns="0" bIns="0" rtlCol="0" anchor="t"/>
          <a:lstStyle/>
          <a:p>
            <a:pPr algn="ctr" indent="0" marL="0">
              <a:buNone/>
            </a:pPr>
            <a:r>
              <a:rPr lang="en-US" sz="950" b="1" dirty="0">
                <a:solidFill>
                  <a:srgbClr val="1F2937"/>
                </a:solidFill>
                <a:latin typeface="Calibri" pitchFamily="34" charset="0"/>
                <a:ea typeface="Calibri" pitchFamily="34" charset="-122"/>
                <a:cs typeface="Calibri" pitchFamily="34" charset="-120"/>
              </a:rPr>
              <a:t>Conception</a:t>
            </a:r>
            <a:endParaRPr lang="en-US" sz="950" dirty="0"/>
          </a:p>
        </p:txBody>
      </p:sp>
      <p:sp>
        <p:nvSpPr>
          <p:cNvPr id="18" name="Text 16"/>
          <p:cNvSpPr txBox="1"/>
          <p:nvPr/>
        </p:nvSpPr>
        <p:spPr>
          <a:xfrm>
            <a:off x="2816352" y="2240280"/>
            <a:ext cx="1097280" cy="685800"/>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Architecture · identités · D1–D8</a:t>
            </a:r>
            <a:endParaRPr lang="en-US" sz="850" dirty="0"/>
          </a:p>
        </p:txBody>
      </p:sp>
      <p:sp>
        <p:nvSpPr>
          <p:cNvPr id="19" name="Shape 17"/>
          <p:cNvSpPr/>
          <p:nvPr/>
        </p:nvSpPr>
        <p:spPr>
          <a:xfrm>
            <a:off x="4407408" y="1481328"/>
            <a:ext cx="237744" cy="237744"/>
          </a:xfrm>
          <a:prstGeom prst="ellipse">
            <a:avLst/>
          </a:prstGeom>
          <a:solidFill>
            <a:srgbClr val="1F3A8A"/>
          </a:solidFill>
          <a:ln w="19050">
            <a:solidFill>
              <a:srgbClr val="FFFFFF"/>
            </a:solidFill>
            <a:prstDash val="solid"/>
          </a:ln>
        </p:spPr>
      </p:sp>
      <p:sp>
        <p:nvSpPr>
          <p:cNvPr id="20" name="Text 18"/>
          <p:cNvSpPr txBox="1"/>
          <p:nvPr/>
        </p:nvSpPr>
        <p:spPr>
          <a:xfrm>
            <a:off x="3995928" y="1051560"/>
            <a:ext cx="1097280" cy="365760"/>
          </a:xfrm>
          <a:prstGeom prst="rect">
            <a:avLst/>
          </a:prstGeom>
          <a:noFill/>
          <a:ln/>
        </p:spPr>
        <p:txBody>
          <a:bodyPr wrap="square" lIns="0" tIns="0" rIns="0" bIns="0" rtlCol="0" anchor="b"/>
          <a:lstStyle/>
          <a:p>
            <a:pPr algn="ctr" indent="0" marL="0">
              <a:buNone/>
            </a:pPr>
            <a:r>
              <a:rPr lang="en-US" sz="900" b="1" dirty="0">
                <a:solidFill>
                  <a:srgbClr val="1F3A8A"/>
                </a:solidFill>
                <a:latin typeface="Calibri" pitchFamily="34" charset="0"/>
                <a:ea typeface="Calibri" pitchFamily="34" charset="-122"/>
                <a:cs typeface="Calibri" pitchFamily="34" charset="-120"/>
              </a:rPr>
              <a:t>S4 · juin–juillet</a:t>
            </a:r>
            <a:endParaRPr lang="en-US" sz="900" dirty="0"/>
          </a:p>
        </p:txBody>
      </p:sp>
      <p:sp>
        <p:nvSpPr>
          <p:cNvPr id="21" name="Text 19"/>
          <p:cNvSpPr txBox="1"/>
          <p:nvPr/>
        </p:nvSpPr>
        <p:spPr>
          <a:xfrm>
            <a:off x="3995928" y="1828800"/>
            <a:ext cx="1097280" cy="411480"/>
          </a:xfrm>
          <a:prstGeom prst="rect">
            <a:avLst/>
          </a:prstGeom>
          <a:noFill/>
          <a:ln/>
        </p:spPr>
        <p:txBody>
          <a:bodyPr wrap="square" lIns="0" tIns="0" rIns="0" bIns="0" rtlCol="0" anchor="t"/>
          <a:lstStyle/>
          <a:p>
            <a:pPr algn="ctr" indent="0" marL="0">
              <a:buNone/>
            </a:pPr>
            <a:r>
              <a:rPr lang="en-US" sz="950" b="1" dirty="0">
                <a:solidFill>
                  <a:srgbClr val="1F2937"/>
                </a:solidFill>
                <a:latin typeface="Calibri" pitchFamily="34" charset="0"/>
                <a:ea typeface="Calibri" pitchFamily="34" charset="-122"/>
                <a:cs typeface="Calibri" pitchFamily="34" charset="-120"/>
              </a:rPr>
              <a:t>Infrastructure et CI/CD</a:t>
            </a:r>
            <a:endParaRPr lang="en-US" sz="950" dirty="0"/>
          </a:p>
        </p:txBody>
      </p:sp>
      <p:sp>
        <p:nvSpPr>
          <p:cNvPr id="22" name="Text 20"/>
          <p:cNvSpPr txBox="1"/>
          <p:nvPr/>
        </p:nvSpPr>
        <p:spPr>
          <a:xfrm>
            <a:off x="3995928" y="2240280"/>
            <a:ext cx="1097280" cy="685800"/>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Modules Terraform · 3 environnements · 4 portes</a:t>
            </a:r>
            <a:endParaRPr lang="en-US" sz="850" dirty="0"/>
          </a:p>
        </p:txBody>
      </p:sp>
      <p:sp>
        <p:nvSpPr>
          <p:cNvPr id="23" name="Shape 21"/>
          <p:cNvSpPr/>
          <p:nvPr/>
        </p:nvSpPr>
        <p:spPr>
          <a:xfrm>
            <a:off x="5586984" y="1481328"/>
            <a:ext cx="237744" cy="237744"/>
          </a:xfrm>
          <a:prstGeom prst="ellipse">
            <a:avLst/>
          </a:prstGeom>
          <a:solidFill>
            <a:srgbClr val="1F3A8A"/>
          </a:solidFill>
          <a:ln w="19050">
            <a:solidFill>
              <a:srgbClr val="FFFFFF"/>
            </a:solidFill>
            <a:prstDash val="solid"/>
          </a:ln>
        </p:spPr>
      </p:sp>
      <p:sp>
        <p:nvSpPr>
          <p:cNvPr id="24" name="Text 22"/>
          <p:cNvSpPr txBox="1"/>
          <p:nvPr/>
        </p:nvSpPr>
        <p:spPr>
          <a:xfrm>
            <a:off x="5175504" y="1051560"/>
            <a:ext cx="1097280" cy="365760"/>
          </a:xfrm>
          <a:prstGeom prst="rect">
            <a:avLst/>
          </a:prstGeom>
          <a:noFill/>
          <a:ln/>
        </p:spPr>
        <p:txBody>
          <a:bodyPr wrap="square" lIns="0" tIns="0" rIns="0" bIns="0" rtlCol="0" anchor="b"/>
          <a:lstStyle/>
          <a:p>
            <a:pPr algn="ctr" indent="0" marL="0">
              <a:buNone/>
            </a:pPr>
            <a:r>
              <a:rPr lang="en-US" sz="900" b="1" dirty="0">
                <a:solidFill>
                  <a:srgbClr val="1F3A8A"/>
                </a:solidFill>
                <a:latin typeface="Calibri" pitchFamily="34" charset="0"/>
                <a:ea typeface="Calibri" pitchFamily="34" charset="-122"/>
                <a:cs typeface="Calibri" pitchFamily="34" charset="-120"/>
              </a:rPr>
              <a:t>S5 · juillet–août</a:t>
            </a:r>
            <a:endParaRPr lang="en-US" sz="900" dirty="0"/>
          </a:p>
        </p:txBody>
      </p:sp>
      <p:sp>
        <p:nvSpPr>
          <p:cNvPr id="25" name="Text 23"/>
          <p:cNvSpPr txBox="1"/>
          <p:nvPr/>
        </p:nvSpPr>
        <p:spPr>
          <a:xfrm>
            <a:off x="5175504" y="1828800"/>
            <a:ext cx="1097280" cy="411480"/>
          </a:xfrm>
          <a:prstGeom prst="rect">
            <a:avLst/>
          </a:prstGeom>
          <a:noFill/>
          <a:ln/>
        </p:spPr>
        <p:txBody>
          <a:bodyPr wrap="square" lIns="0" tIns="0" rIns="0" bIns="0" rtlCol="0" anchor="t"/>
          <a:lstStyle/>
          <a:p>
            <a:pPr algn="ctr" indent="0" marL="0">
              <a:buNone/>
            </a:pPr>
            <a:r>
              <a:rPr lang="en-US" sz="950" b="1" dirty="0">
                <a:solidFill>
                  <a:srgbClr val="1F2937"/>
                </a:solidFill>
                <a:latin typeface="Calibri" pitchFamily="34" charset="0"/>
                <a:ea typeface="Calibri" pitchFamily="34" charset="-122"/>
                <a:cs typeface="Calibri" pitchFamily="34" charset="-120"/>
              </a:rPr>
              <a:t>Supervision</a:t>
            </a:r>
            <a:endParaRPr lang="en-US" sz="950" dirty="0"/>
          </a:p>
        </p:txBody>
      </p:sp>
      <p:sp>
        <p:nvSpPr>
          <p:cNvPr id="26" name="Text 24"/>
          <p:cNvSpPr txBox="1"/>
          <p:nvPr/>
        </p:nvSpPr>
        <p:spPr>
          <a:xfrm>
            <a:off x="5175504" y="2240280"/>
            <a:ext cx="1097280" cy="685800"/>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Règles, enrichissement, API, tableau de bord</a:t>
            </a:r>
            <a:endParaRPr lang="en-US" sz="850" dirty="0"/>
          </a:p>
        </p:txBody>
      </p:sp>
      <p:sp>
        <p:nvSpPr>
          <p:cNvPr id="27" name="Shape 25"/>
          <p:cNvSpPr/>
          <p:nvPr/>
        </p:nvSpPr>
        <p:spPr>
          <a:xfrm>
            <a:off x="6766560" y="1481328"/>
            <a:ext cx="237744" cy="237744"/>
          </a:xfrm>
          <a:prstGeom prst="ellipse">
            <a:avLst/>
          </a:prstGeom>
          <a:solidFill>
            <a:srgbClr val="1F3A8A"/>
          </a:solidFill>
          <a:ln w="19050">
            <a:solidFill>
              <a:srgbClr val="FFFFFF"/>
            </a:solidFill>
            <a:prstDash val="solid"/>
          </a:ln>
        </p:spPr>
      </p:sp>
      <p:sp>
        <p:nvSpPr>
          <p:cNvPr id="28" name="Text 26"/>
          <p:cNvSpPr txBox="1"/>
          <p:nvPr/>
        </p:nvSpPr>
        <p:spPr>
          <a:xfrm>
            <a:off x="6355080" y="1051560"/>
            <a:ext cx="1097280" cy="365760"/>
          </a:xfrm>
          <a:prstGeom prst="rect">
            <a:avLst/>
          </a:prstGeom>
          <a:noFill/>
          <a:ln/>
        </p:spPr>
        <p:txBody>
          <a:bodyPr wrap="square" lIns="0" tIns="0" rIns="0" bIns="0" rtlCol="0" anchor="b"/>
          <a:lstStyle/>
          <a:p>
            <a:pPr algn="ctr" indent="0" marL="0">
              <a:buNone/>
            </a:pPr>
            <a:r>
              <a:rPr lang="en-US" sz="900" b="1" dirty="0">
                <a:solidFill>
                  <a:srgbClr val="1F3A8A"/>
                </a:solidFill>
                <a:latin typeface="Calibri" pitchFamily="34" charset="0"/>
                <a:ea typeface="Calibri" pitchFamily="34" charset="-122"/>
                <a:cs typeface="Calibri" pitchFamily="34" charset="-120"/>
              </a:rPr>
              <a:t>S6 · août</a:t>
            </a:r>
            <a:endParaRPr lang="en-US" sz="900" dirty="0"/>
          </a:p>
        </p:txBody>
      </p:sp>
      <p:sp>
        <p:nvSpPr>
          <p:cNvPr id="29" name="Text 27"/>
          <p:cNvSpPr txBox="1"/>
          <p:nvPr/>
        </p:nvSpPr>
        <p:spPr>
          <a:xfrm>
            <a:off x="6355080" y="1828800"/>
            <a:ext cx="1097280" cy="411480"/>
          </a:xfrm>
          <a:prstGeom prst="rect">
            <a:avLst/>
          </a:prstGeom>
          <a:noFill/>
          <a:ln/>
        </p:spPr>
        <p:txBody>
          <a:bodyPr wrap="square" lIns="0" tIns="0" rIns="0" bIns="0" rtlCol="0" anchor="t"/>
          <a:lstStyle/>
          <a:p>
            <a:pPr algn="ctr" indent="0" marL="0">
              <a:buNone/>
            </a:pPr>
            <a:r>
              <a:rPr lang="en-US" sz="950" b="1" dirty="0">
                <a:solidFill>
                  <a:srgbClr val="1F2937"/>
                </a:solidFill>
                <a:latin typeface="Calibri" pitchFamily="34" charset="0"/>
                <a:ea typeface="Calibri" pitchFamily="34" charset="-122"/>
                <a:cs typeface="Calibri" pitchFamily="34" charset="-120"/>
              </a:rPr>
              <a:t>Accueil d'ELSON, tests</a:t>
            </a:r>
            <a:endParaRPr lang="en-US" sz="950" dirty="0"/>
          </a:p>
        </p:txBody>
      </p:sp>
      <p:sp>
        <p:nvSpPr>
          <p:cNvPr id="30" name="Text 28"/>
          <p:cNvSpPr txBox="1"/>
          <p:nvPr/>
        </p:nvSpPr>
        <p:spPr>
          <a:xfrm>
            <a:off x="6355080" y="2240280"/>
            <a:ext cx="1097280" cy="685800"/>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Campagne T1–T12 · corrections</a:t>
            </a:r>
            <a:endParaRPr lang="en-US" sz="850" dirty="0"/>
          </a:p>
        </p:txBody>
      </p:sp>
      <p:sp>
        <p:nvSpPr>
          <p:cNvPr id="31" name="Shape 29"/>
          <p:cNvSpPr/>
          <p:nvPr/>
        </p:nvSpPr>
        <p:spPr>
          <a:xfrm>
            <a:off x="7946136" y="1481328"/>
            <a:ext cx="237744" cy="237744"/>
          </a:xfrm>
          <a:prstGeom prst="ellipse">
            <a:avLst/>
          </a:prstGeom>
          <a:solidFill>
            <a:srgbClr val="2E8B57"/>
          </a:solidFill>
          <a:ln w="19050">
            <a:solidFill>
              <a:srgbClr val="FFFFFF"/>
            </a:solidFill>
            <a:prstDash val="solid"/>
          </a:ln>
        </p:spPr>
      </p:sp>
      <p:sp>
        <p:nvSpPr>
          <p:cNvPr id="32" name="Text 30"/>
          <p:cNvSpPr txBox="1"/>
          <p:nvPr/>
        </p:nvSpPr>
        <p:spPr>
          <a:xfrm>
            <a:off x="7534656" y="1051560"/>
            <a:ext cx="1097280" cy="365760"/>
          </a:xfrm>
          <a:prstGeom prst="rect">
            <a:avLst/>
          </a:prstGeom>
          <a:noFill/>
          <a:ln/>
        </p:spPr>
        <p:txBody>
          <a:bodyPr wrap="square" lIns="0" tIns="0" rIns="0" bIns="0" rtlCol="0" anchor="b"/>
          <a:lstStyle/>
          <a:p>
            <a:pPr algn="ctr" indent="0" marL="0">
              <a:buNone/>
            </a:pPr>
            <a:r>
              <a:rPr lang="en-US" sz="900" b="1" dirty="0">
                <a:solidFill>
                  <a:srgbClr val="1F3A8A"/>
                </a:solidFill>
                <a:latin typeface="Calibri" pitchFamily="34" charset="0"/>
                <a:ea typeface="Calibri" pitchFamily="34" charset="-122"/>
                <a:cs typeface="Calibri" pitchFamily="34" charset="-120"/>
              </a:rPr>
              <a:t>S7 · septembre</a:t>
            </a:r>
            <a:endParaRPr lang="en-US" sz="900" dirty="0"/>
          </a:p>
        </p:txBody>
      </p:sp>
      <p:sp>
        <p:nvSpPr>
          <p:cNvPr id="33" name="Text 31"/>
          <p:cNvSpPr txBox="1"/>
          <p:nvPr/>
        </p:nvSpPr>
        <p:spPr>
          <a:xfrm>
            <a:off x="7534656" y="1828800"/>
            <a:ext cx="1097280" cy="411480"/>
          </a:xfrm>
          <a:prstGeom prst="rect">
            <a:avLst/>
          </a:prstGeom>
          <a:noFill/>
          <a:ln/>
        </p:spPr>
        <p:txBody>
          <a:bodyPr wrap="square" lIns="0" tIns="0" rIns="0" bIns="0" rtlCol="0" anchor="t"/>
          <a:lstStyle/>
          <a:p>
            <a:pPr algn="ctr" indent="0" marL="0">
              <a:buNone/>
            </a:pPr>
            <a:r>
              <a:rPr lang="en-US" sz="950" b="1" dirty="0">
                <a:solidFill>
                  <a:srgbClr val="1F2937"/>
                </a:solidFill>
                <a:latin typeface="Calibri" pitchFamily="34" charset="0"/>
                <a:ea typeface="Calibri" pitchFamily="34" charset="-122"/>
                <a:cs typeface="Calibri" pitchFamily="34" charset="-120"/>
              </a:rPr>
              <a:t>Chaîne en flux, refus</a:t>
            </a:r>
            <a:endParaRPr lang="en-US" sz="950" dirty="0"/>
          </a:p>
        </p:txBody>
      </p:sp>
      <p:sp>
        <p:nvSpPr>
          <p:cNvPr id="34" name="Text 32"/>
          <p:cNvSpPr txBox="1"/>
          <p:nvPr/>
        </p:nvSpPr>
        <p:spPr>
          <a:xfrm>
            <a:off x="7534656" y="2240280"/>
            <a:ext cx="1097280" cy="685800"/>
          </a:xfrm>
          <a:prstGeom prst="rect">
            <a:avLst/>
          </a:prstGeom>
          <a:noFill/>
          <a:ln/>
        </p:spPr>
        <p:txBody>
          <a:bodyPr wrap="square" lIns="0" tIns="0" rIns="0" bIns="0" rtlCol="0" anchor="t"/>
          <a:lstStyle/>
          <a:p>
            <a:pPr algn="ctr" indent="0" marL="0">
              <a:buNone/>
            </a:pPr>
            <a:r>
              <a:rPr lang="en-US" sz="850" dirty="0">
                <a:solidFill>
                  <a:srgbClr val="6B7280"/>
                </a:solidFill>
                <a:latin typeface="Calibri" pitchFamily="34" charset="0"/>
                <a:ea typeface="Calibri" pitchFamily="34" charset="-122"/>
                <a:cs typeface="Calibri" pitchFamily="34" charset="-120"/>
              </a:rPr>
              <a:t>D9 · 5 refus provoqués · scénario du 07/09</a:t>
            </a:r>
            <a:endParaRPr lang="en-US" sz="850" dirty="0"/>
          </a:p>
        </p:txBody>
      </p:sp>
      <p:pic>
        <p:nvPicPr>
          <p:cNvPr id="35" name="Image 0" descr="/home/claude/work/pres/assets/fig5_5_planning.png">    </p:cNvPr>
          <p:cNvPicPr>
            <a:picLocks noChangeAspect="1"/>
          </p:cNvPicPr>
          <p:nvPr/>
        </p:nvPicPr>
        <p:blipFill>
          <a:blip r:embed="rId1"/>
          <a:srcRect l="0" r="0" t="0" b="0"/>
          <a:stretch/>
        </p:blipFill>
        <p:spPr>
          <a:xfrm>
            <a:off x="457200" y="2971800"/>
            <a:ext cx="5120640" cy="1600200"/>
          </a:xfrm>
          <a:prstGeom prst="rect">
            <a:avLst/>
          </a:prstGeom>
        </p:spPr>
      </p:pic>
      <p:sp>
        <p:nvSpPr>
          <p:cNvPr id="36" name="Shape 33"/>
          <p:cNvSpPr/>
          <p:nvPr/>
        </p:nvSpPr>
        <p:spPr>
          <a:xfrm>
            <a:off x="5760720" y="2971800"/>
            <a:ext cx="2926080" cy="1600200"/>
          </a:xfrm>
          <a:prstGeom prst="roundRect">
            <a:avLst>
              <a:gd name="adj" fmla="val 3429"/>
            </a:avLst>
          </a:prstGeom>
          <a:solidFill>
            <a:srgbClr val="F3F6FC"/>
          </a:solidFill>
          <a:ln w="9525">
            <a:solidFill>
              <a:srgbClr val="D5DBE8"/>
            </a:solidFill>
            <a:prstDash val="solid"/>
          </a:ln>
        </p:spPr>
      </p:sp>
      <p:sp>
        <p:nvSpPr>
          <p:cNvPr id="37" name="Text 34"/>
          <p:cNvSpPr txBox="1"/>
          <p:nvPr/>
        </p:nvSpPr>
        <p:spPr>
          <a:xfrm>
            <a:off x="5897880" y="3063240"/>
            <a:ext cx="265176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Jalons</a:t>
            </a:r>
            <a:endParaRPr lang="en-US" sz="1300" dirty="0"/>
          </a:p>
        </p:txBody>
      </p:sp>
      <p:sp>
        <p:nvSpPr>
          <p:cNvPr id="38" name="Text 35"/>
          <p:cNvSpPr txBox="1"/>
          <p:nvPr/>
        </p:nvSpPr>
        <p:spPr>
          <a:xfrm>
            <a:off x="5897880" y="3383280"/>
            <a:ext cx="2651760" cy="109728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17/04 audit figé · 22/05 exigences validées</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19/06 architecture validée</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24/07 recette reconstruite depuis le dépôt (41 min)</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28/08 campagne de tests · 07/09 refus et scénario en flux</a:t>
            </a:r>
            <a:endParaRPr lang="en-US" sz="950" dirty="0"/>
          </a:p>
        </p:txBody>
      </p:sp>
      <p:sp>
        <p:nvSpPr>
          <p:cNvPr id="39" name="Text 36"/>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40" name="Text 37"/>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RÉALISATION — CHAÎNE DEVSECOPS</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Huit étapes, quatre portes bloquantes, cinq refus provoqués</a:t>
            </a:r>
            <a:endParaRPr lang="en-US" sz="2400" dirty="0"/>
          </a:p>
        </p:txBody>
      </p:sp>
      <p:pic>
        <p:nvPicPr>
          <p:cNvPr id="6" name="Image 0" descr="/home/claude/work/pres/assets/livraison.png">    </p:cNvPr>
          <p:cNvPicPr>
            <a:picLocks noChangeAspect="1"/>
          </p:cNvPicPr>
          <p:nvPr/>
        </p:nvPicPr>
        <p:blipFill>
          <a:blip r:embed="rId1"/>
          <a:srcRect l="0" r="0" t="0" b="0"/>
          <a:stretch/>
        </p:blipFill>
        <p:spPr>
          <a:xfrm>
            <a:off x="457200" y="1005840"/>
            <a:ext cx="8229600" cy="1874520"/>
          </a:xfrm>
          <a:prstGeom prst="rect">
            <a:avLst/>
          </a:prstGeom>
        </p:spPr>
      </p:pic>
      <p:sp>
        <p:nvSpPr>
          <p:cNvPr id="7" name="Text 4"/>
          <p:cNvSpPr txBox="1"/>
          <p:nvPr/>
        </p:nvSpPr>
        <p:spPr>
          <a:xfrm>
            <a:off x="457200" y="2971800"/>
            <a:ext cx="4754880" cy="256032"/>
          </a:xfrm>
          <a:prstGeom prst="rect">
            <a:avLst/>
          </a:prstGeom>
          <a:noFill/>
          <a:ln/>
        </p:spPr>
        <p:txBody>
          <a:bodyPr wrap="square" lIns="0" tIns="0" rIns="0" bIns="0" rtlCol="0" anchor="ctr"/>
          <a:lstStyle/>
          <a:p>
            <a:pPr indent="0" marL="0">
              <a:buNone/>
            </a:pPr>
            <a:r>
              <a:rPr lang="en-US" sz="1150" b="1" dirty="0">
                <a:solidFill>
                  <a:srgbClr val="1F3A8A"/>
                </a:solidFill>
                <a:latin typeface="Calibri" pitchFamily="34" charset="0"/>
                <a:ea typeface="Calibri" pitchFamily="34" charset="-122"/>
                <a:cs typeface="Calibri" pitchFamily="34" charset="-120"/>
              </a:rPr>
              <a:t>Cinq refus provoqués le 07/09/2026 — une faille par branche jetable</a:t>
            </a:r>
            <a:endParaRPr lang="en-US" sz="1150" dirty="0"/>
          </a:p>
        </p:txBody>
      </p:sp>
      <p:sp>
        <p:nvSpPr>
          <p:cNvPr id="8" name="Shape 5"/>
          <p:cNvSpPr/>
          <p:nvPr/>
        </p:nvSpPr>
        <p:spPr>
          <a:xfrm>
            <a:off x="457200" y="3273552"/>
            <a:ext cx="1097280" cy="274320"/>
          </a:xfrm>
          <a:prstGeom prst="roundRect">
            <a:avLst>
              <a:gd name="adj" fmla="val 13333"/>
            </a:avLst>
          </a:prstGeom>
          <a:solidFill>
            <a:srgbClr val="FBE9E7"/>
          </a:solidFill>
          <a:ln w="9525">
            <a:solidFill>
              <a:srgbClr val="C0392B"/>
            </a:solidFill>
            <a:prstDash val="solid"/>
          </a:ln>
        </p:spPr>
      </p:sp>
      <p:sp>
        <p:nvSpPr>
          <p:cNvPr id="9" name="Text 6"/>
          <p:cNvSpPr txBox="1"/>
          <p:nvPr/>
        </p:nvSpPr>
        <p:spPr>
          <a:xfrm>
            <a:off x="457200" y="3273552"/>
            <a:ext cx="1097280" cy="274320"/>
          </a:xfrm>
          <a:prstGeom prst="rect">
            <a:avLst/>
          </a:prstGeom>
          <a:noFill/>
          <a:ln/>
        </p:spPr>
        <p:txBody>
          <a:bodyPr wrap="square" lIns="0" tIns="0" rIns="0" bIns="0" rtlCol="0" anchor="ctr"/>
          <a:lstStyle/>
          <a:p>
            <a:pPr algn="ctr" indent="0" marL="0">
              <a:buNone/>
            </a:pPr>
            <a:r>
              <a:rPr lang="en-US" sz="950" b="1" dirty="0">
                <a:solidFill>
                  <a:srgbClr val="C0392B"/>
                </a:solidFill>
                <a:latin typeface="Calibri" pitchFamily="34" charset="0"/>
                <a:ea typeface="Calibri" pitchFamily="34" charset="-122"/>
                <a:cs typeface="Calibri" pitchFamily="34" charset="-120"/>
              </a:rPr>
              <a:t>Gitleaks</a:t>
            </a:r>
            <a:endParaRPr lang="en-US" sz="950" dirty="0"/>
          </a:p>
        </p:txBody>
      </p:sp>
      <p:sp>
        <p:nvSpPr>
          <p:cNvPr id="10" name="Text 7"/>
          <p:cNvSpPr txBox="1"/>
          <p:nvPr/>
        </p:nvSpPr>
        <p:spPr>
          <a:xfrm>
            <a:off x="1645920" y="3273552"/>
            <a:ext cx="3108960" cy="27432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clé injectée → 46 s</a:t>
            </a:r>
            <a:endParaRPr lang="en-US" sz="950" dirty="0"/>
          </a:p>
        </p:txBody>
      </p:sp>
      <p:sp>
        <p:nvSpPr>
          <p:cNvPr id="11" name="Shape 8"/>
          <p:cNvSpPr/>
          <p:nvPr/>
        </p:nvSpPr>
        <p:spPr>
          <a:xfrm>
            <a:off x="457200" y="3602736"/>
            <a:ext cx="1097280" cy="274320"/>
          </a:xfrm>
          <a:prstGeom prst="roundRect">
            <a:avLst>
              <a:gd name="adj" fmla="val 13333"/>
            </a:avLst>
          </a:prstGeom>
          <a:solidFill>
            <a:srgbClr val="FBE9E7"/>
          </a:solidFill>
          <a:ln w="9525">
            <a:solidFill>
              <a:srgbClr val="C0392B"/>
            </a:solidFill>
            <a:prstDash val="solid"/>
          </a:ln>
        </p:spPr>
      </p:sp>
      <p:sp>
        <p:nvSpPr>
          <p:cNvPr id="12" name="Text 9"/>
          <p:cNvSpPr txBox="1"/>
          <p:nvPr/>
        </p:nvSpPr>
        <p:spPr>
          <a:xfrm>
            <a:off x="457200" y="3602736"/>
            <a:ext cx="1097280" cy="274320"/>
          </a:xfrm>
          <a:prstGeom prst="rect">
            <a:avLst/>
          </a:prstGeom>
          <a:noFill/>
          <a:ln/>
        </p:spPr>
        <p:txBody>
          <a:bodyPr wrap="square" lIns="0" tIns="0" rIns="0" bIns="0" rtlCol="0" anchor="ctr"/>
          <a:lstStyle/>
          <a:p>
            <a:pPr algn="ctr" indent="0" marL="0">
              <a:buNone/>
            </a:pPr>
            <a:r>
              <a:rPr lang="en-US" sz="950" b="1" dirty="0">
                <a:solidFill>
                  <a:srgbClr val="C0392B"/>
                </a:solidFill>
                <a:latin typeface="Calibri" pitchFamily="34" charset="0"/>
                <a:ea typeface="Calibri" pitchFamily="34" charset="-122"/>
                <a:cs typeface="Calibri" pitchFamily="34" charset="-120"/>
              </a:rPr>
              <a:t>Semgrep</a:t>
            </a:r>
            <a:endParaRPr lang="en-US" sz="950" dirty="0"/>
          </a:p>
        </p:txBody>
      </p:sp>
      <p:sp>
        <p:nvSpPr>
          <p:cNvPr id="13" name="Text 10"/>
          <p:cNvSpPr txBox="1"/>
          <p:nvPr/>
        </p:nvSpPr>
        <p:spPr>
          <a:xfrm>
            <a:off x="1645920" y="3602736"/>
            <a:ext cx="3108960" cy="27432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eval / shell=True → 37 s</a:t>
            </a:r>
            <a:endParaRPr lang="en-US" sz="950" dirty="0"/>
          </a:p>
        </p:txBody>
      </p:sp>
      <p:sp>
        <p:nvSpPr>
          <p:cNvPr id="14" name="Shape 11"/>
          <p:cNvSpPr/>
          <p:nvPr/>
        </p:nvSpPr>
        <p:spPr>
          <a:xfrm>
            <a:off x="457200" y="3931920"/>
            <a:ext cx="1097280" cy="274320"/>
          </a:xfrm>
          <a:prstGeom prst="roundRect">
            <a:avLst>
              <a:gd name="adj" fmla="val 13333"/>
            </a:avLst>
          </a:prstGeom>
          <a:solidFill>
            <a:srgbClr val="FBE9E7"/>
          </a:solidFill>
          <a:ln w="9525">
            <a:solidFill>
              <a:srgbClr val="C0392B"/>
            </a:solidFill>
            <a:prstDash val="solid"/>
          </a:ln>
        </p:spPr>
      </p:sp>
      <p:sp>
        <p:nvSpPr>
          <p:cNvPr id="15" name="Text 12"/>
          <p:cNvSpPr txBox="1"/>
          <p:nvPr/>
        </p:nvSpPr>
        <p:spPr>
          <a:xfrm>
            <a:off x="457200" y="3931920"/>
            <a:ext cx="1097280" cy="274320"/>
          </a:xfrm>
          <a:prstGeom prst="rect">
            <a:avLst/>
          </a:prstGeom>
          <a:noFill/>
          <a:ln/>
        </p:spPr>
        <p:txBody>
          <a:bodyPr wrap="square" lIns="0" tIns="0" rIns="0" bIns="0" rtlCol="0" anchor="ctr"/>
          <a:lstStyle/>
          <a:p>
            <a:pPr algn="ctr" indent="0" marL="0">
              <a:buNone/>
            </a:pPr>
            <a:r>
              <a:rPr lang="en-US" sz="950" b="1" dirty="0">
                <a:solidFill>
                  <a:srgbClr val="C0392B"/>
                </a:solidFill>
                <a:latin typeface="Calibri" pitchFamily="34" charset="0"/>
                <a:ea typeface="Calibri" pitchFamily="34" charset="-122"/>
                <a:cs typeface="Calibri" pitchFamily="34" charset="-120"/>
              </a:rPr>
              <a:t>pytest · jest</a:t>
            </a:r>
            <a:endParaRPr lang="en-US" sz="950" dirty="0"/>
          </a:p>
        </p:txBody>
      </p:sp>
      <p:sp>
        <p:nvSpPr>
          <p:cNvPr id="16" name="Text 13"/>
          <p:cNvSpPr txBox="1"/>
          <p:nvPr/>
        </p:nvSpPr>
        <p:spPr>
          <a:xfrm>
            <a:off x="1645920" y="3931920"/>
            <a:ext cx="3108960" cy="27432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1 test en échec → 1 min 23 / 1 min 09</a:t>
            </a:r>
            <a:endParaRPr lang="en-US" sz="950" dirty="0"/>
          </a:p>
        </p:txBody>
      </p:sp>
      <p:sp>
        <p:nvSpPr>
          <p:cNvPr id="17" name="Shape 14"/>
          <p:cNvSpPr/>
          <p:nvPr/>
        </p:nvSpPr>
        <p:spPr>
          <a:xfrm>
            <a:off x="457200" y="4261104"/>
            <a:ext cx="1097280" cy="274320"/>
          </a:xfrm>
          <a:prstGeom prst="roundRect">
            <a:avLst>
              <a:gd name="adj" fmla="val 13333"/>
            </a:avLst>
          </a:prstGeom>
          <a:solidFill>
            <a:srgbClr val="FBE9E7"/>
          </a:solidFill>
          <a:ln w="9525">
            <a:solidFill>
              <a:srgbClr val="C0392B"/>
            </a:solidFill>
            <a:prstDash val="solid"/>
          </a:ln>
        </p:spPr>
      </p:sp>
      <p:sp>
        <p:nvSpPr>
          <p:cNvPr id="18" name="Text 15"/>
          <p:cNvSpPr txBox="1"/>
          <p:nvPr/>
        </p:nvSpPr>
        <p:spPr>
          <a:xfrm>
            <a:off x="457200" y="4261104"/>
            <a:ext cx="1097280" cy="274320"/>
          </a:xfrm>
          <a:prstGeom prst="rect">
            <a:avLst/>
          </a:prstGeom>
          <a:noFill/>
          <a:ln/>
        </p:spPr>
        <p:txBody>
          <a:bodyPr wrap="square" lIns="0" tIns="0" rIns="0" bIns="0" rtlCol="0" anchor="ctr"/>
          <a:lstStyle/>
          <a:p>
            <a:pPr algn="ctr" indent="0" marL="0">
              <a:buNone/>
            </a:pPr>
            <a:r>
              <a:rPr lang="en-US" sz="950" b="1" dirty="0">
                <a:solidFill>
                  <a:srgbClr val="C0392B"/>
                </a:solidFill>
                <a:latin typeface="Calibri" pitchFamily="34" charset="0"/>
                <a:ea typeface="Calibri" pitchFamily="34" charset="-122"/>
                <a:cs typeface="Calibri" pitchFamily="34" charset="-120"/>
              </a:rPr>
              <a:t>Trivy</a:t>
            </a:r>
            <a:endParaRPr lang="en-US" sz="950" dirty="0"/>
          </a:p>
        </p:txBody>
      </p:sp>
      <p:sp>
        <p:nvSpPr>
          <p:cNvPr id="19" name="Text 16"/>
          <p:cNvSpPr txBox="1"/>
          <p:nvPr/>
        </p:nvSpPr>
        <p:spPr>
          <a:xfrm>
            <a:off x="1645920" y="4261104"/>
            <a:ext cx="3108960" cy="274320"/>
          </a:xfrm>
          <a:prstGeom prst="rect">
            <a:avLst/>
          </a:prstGeom>
          <a:noFill/>
          <a:ln/>
        </p:spPr>
        <p:txBody>
          <a:bodyPr wrap="square" lIns="0" tIns="0" rIns="0" bIns="0" rtlCol="0" anchor="ctr"/>
          <a:lstStyle/>
          <a:p>
            <a:pPr indent="0" marL="0">
              <a:buNone/>
            </a:pPr>
            <a:r>
              <a:rPr lang="en-US" sz="950" dirty="0">
                <a:solidFill>
                  <a:srgbClr val="1F2937"/>
                </a:solidFill>
                <a:latin typeface="Calibri" pitchFamily="34" charset="0"/>
                <a:ea typeface="Calibri" pitchFamily="34" charset="-122"/>
                <a:cs typeface="Calibri" pitchFamily="34" charset="-120"/>
              </a:rPr>
              <a:t>PyYAML 5.3.1 (CVE critique) → 3 min 06</a:t>
            </a:r>
            <a:endParaRPr lang="en-US" sz="950" dirty="0"/>
          </a:p>
        </p:txBody>
      </p:sp>
      <p:pic>
        <p:nvPicPr>
          <p:cNvPr id="20" name="Image 1" descr="/home/claude/work/pres/assets/cap_gate_trivy.png">    </p:cNvPr>
          <p:cNvPicPr>
            <a:picLocks noChangeAspect="1"/>
          </p:cNvPicPr>
          <p:nvPr/>
        </p:nvPicPr>
        <p:blipFill>
          <a:blip r:embed="rId2"/>
          <a:srcRect l="0" r="0" t="0" b="0"/>
          <a:stretch/>
        </p:blipFill>
        <p:spPr>
          <a:xfrm>
            <a:off x="4983480" y="2971800"/>
            <a:ext cx="3703320" cy="1280160"/>
          </a:xfrm>
          <a:prstGeom prst="rect">
            <a:avLst/>
          </a:prstGeom>
        </p:spPr>
      </p:pic>
      <p:sp>
        <p:nvSpPr>
          <p:cNvPr id="21" name="Text 17"/>
          <p:cNvSpPr txBox="1"/>
          <p:nvPr/>
        </p:nvSpPr>
        <p:spPr>
          <a:xfrm>
            <a:off x="4983480" y="4279392"/>
            <a:ext cx="3703320" cy="256032"/>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Porte 6 fermée : une seule CVE critique corrigeable, aucune image publiée</a:t>
            </a:r>
            <a:endParaRPr lang="en-US" sz="900" dirty="0"/>
          </a:p>
        </p:txBody>
      </p:sp>
      <p:sp>
        <p:nvSpPr>
          <p:cNvPr id="22" name="Text 18"/>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23" name="Text 19"/>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RÉALISATION — SUPERVISION</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MENAL Sentinel : le socle propose, l'analyste décide</a:t>
            </a:r>
            <a:endParaRPr lang="en-US" sz="2400" dirty="0"/>
          </a:p>
        </p:txBody>
      </p:sp>
      <p:pic>
        <p:nvPicPr>
          <p:cNvPr id="6" name="Image 0" descr="/home/claude/work/pres/assets/cap_dash_overview.png">    </p:cNvPr>
          <p:cNvPicPr>
            <a:picLocks noChangeAspect="1"/>
          </p:cNvPicPr>
          <p:nvPr/>
        </p:nvPicPr>
        <p:blipFill>
          <a:blip r:embed="rId1"/>
          <a:srcRect l="0" r="0" t="0" b="0"/>
          <a:stretch/>
        </p:blipFill>
        <p:spPr>
          <a:xfrm>
            <a:off x="457200" y="1005840"/>
            <a:ext cx="4937760" cy="2103120"/>
          </a:xfrm>
          <a:prstGeom prst="rect">
            <a:avLst/>
          </a:prstGeom>
        </p:spPr>
      </p:pic>
      <p:sp>
        <p:nvSpPr>
          <p:cNvPr id="7" name="Text 4"/>
          <p:cNvSpPr txBox="1"/>
          <p:nvPr/>
        </p:nvSpPr>
        <p:spPr>
          <a:xfrm>
            <a:off x="457200" y="3127248"/>
            <a:ext cx="4937760" cy="256032"/>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Vue d'ensemble (recette, 07/09/2026) : trafic, détections, blocages WAF, modèle actif</a:t>
            </a:r>
            <a:endParaRPr lang="en-US" sz="900" dirty="0"/>
          </a:p>
        </p:txBody>
      </p:sp>
      <p:pic>
        <p:nvPicPr>
          <p:cNvPr id="8" name="Image 1" descr="/home/claude/work/pres/assets/cap_dash_incidents.png">    </p:cNvPr>
          <p:cNvPicPr>
            <a:picLocks noChangeAspect="1"/>
          </p:cNvPicPr>
          <p:nvPr/>
        </p:nvPicPr>
        <p:blipFill>
          <a:blip r:embed="rId2"/>
          <a:srcRect l="0" r="0" t="0" b="0"/>
          <a:stretch/>
        </p:blipFill>
        <p:spPr>
          <a:xfrm>
            <a:off x="457200" y="3429000"/>
            <a:ext cx="4937760" cy="685800"/>
          </a:xfrm>
          <a:prstGeom prst="rect">
            <a:avLst/>
          </a:prstGeom>
        </p:spPr>
      </p:pic>
      <p:sp>
        <p:nvSpPr>
          <p:cNvPr id="9" name="Text 5"/>
          <p:cNvSpPr txBox="1"/>
          <p:nvPr/>
        </p:nvSpPr>
        <p:spPr>
          <a:xfrm>
            <a:off x="457200" y="4133088"/>
            <a:ext cx="4937760" cy="256032"/>
          </a:xfrm>
          <a:prstGeom prst="rect">
            <a:avLst/>
          </a:prstGeom>
          <a:noFill/>
          <a:ln/>
        </p:spPr>
        <p:txBody>
          <a:bodyPr wrap="square" lIns="0" tIns="0" rIns="0" bIns="0"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Incidents : 47 détections corrélées en un incident, score 100, verdict « Confirmé »</a:t>
            </a:r>
            <a:endParaRPr lang="en-US" sz="900" dirty="0"/>
          </a:p>
        </p:txBody>
      </p:sp>
      <p:sp>
        <p:nvSpPr>
          <p:cNvPr id="10" name="Text 6"/>
          <p:cNvSpPr txBox="1"/>
          <p:nvPr/>
        </p:nvSpPr>
        <p:spPr>
          <a:xfrm>
            <a:off x="5669280" y="1051560"/>
            <a:ext cx="1463040" cy="502920"/>
          </a:xfrm>
          <a:prstGeom prst="rect">
            <a:avLst/>
          </a:prstGeom>
          <a:noFill/>
          <a:ln/>
        </p:spPr>
        <p:txBody>
          <a:bodyPr wrap="square" lIns="0" tIns="0" rIns="0" bIns="0" rtlCol="0" anchor="ctr"/>
          <a:lstStyle/>
          <a:p>
            <a:pPr algn="ctr" indent="0" marL="0">
              <a:buNone/>
            </a:pPr>
            <a:r>
              <a:rPr lang="en-US" sz="2800" b="1" dirty="0">
                <a:solidFill>
                  <a:srgbClr val="1F3A8A"/>
                </a:solidFill>
                <a:latin typeface="Calibri" pitchFamily="34" charset="0"/>
                <a:ea typeface="Calibri" pitchFamily="34" charset="-122"/>
                <a:cs typeface="Calibri" pitchFamily="34" charset="-120"/>
              </a:rPr>
              <a:t>232 254</a:t>
            </a:r>
            <a:endParaRPr lang="en-US" sz="2800" dirty="0"/>
          </a:p>
        </p:txBody>
      </p:sp>
      <p:sp>
        <p:nvSpPr>
          <p:cNvPr id="11" name="Text 7"/>
          <p:cNvSpPr txBox="1"/>
          <p:nvPr/>
        </p:nvSpPr>
        <p:spPr>
          <a:xfrm>
            <a:off x="5669280" y="1554480"/>
            <a:ext cx="1463040" cy="41148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journaux bruts collectés au 08/09</a:t>
            </a:r>
            <a:endParaRPr lang="en-US" sz="1000" dirty="0"/>
          </a:p>
        </p:txBody>
      </p:sp>
      <p:sp>
        <p:nvSpPr>
          <p:cNvPr id="12" name="Text 8"/>
          <p:cNvSpPr txBox="1"/>
          <p:nvPr/>
        </p:nvSpPr>
        <p:spPr>
          <a:xfrm>
            <a:off x="7223760" y="1051560"/>
            <a:ext cx="1463040" cy="502920"/>
          </a:xfrm>
          <a:prstGeom prst="rect">
            <a:avLst/>
          </a:prstGeom>
          <a:noFill/>
          <a:ln/>
        </p:spPr>
        <p:txBody>
          <a:bodyPr wrap="square" lIns="0" tIns="0" rIns="0" bIns="0" rtlCol="0" anchor="ctr"/>
          <a:lstStyle/>
          <a:p>
            <a:pPr algn="ctr" indent="0" marL="0">
              <a:buNone/>
            </a:pPr>
            <a:r>
              <a:rPr lang="en-US" sz="2800" b="1" dirty="0">
                <a:solidFill>
                  <a:srgbClr val="1F3A8A"/>
                </a:solidFill>
                <a:latin typeface="Calibri" pitchFamily="34" charset="0"/>
                <a:ea typeface="Calibri" pitchFamily="34" charset="-122"/>
                <a:cs typeface="Calibri" pitchFamily="34" charset="-120"/>
              </a:rPr>
              <a:t>284</a:t>
            </a:r>
            <a:endParaRPr lang="en-US" sz="2800" dirty="0"/>
          </a:p>
        </p:txBody>
      </p:sp>
      <p:sp>
        <p:nvSpPr>
          <p:cNvPr id="13" name="Text 9"/>
          <p:cNvSpPr txBox="1"/>
          <p:nvPr/>
        </p:nvSpPr>
        <p:spPr>
          <a:xfrm>
            <a:off x="7223760" y="1554480"/>
            <a:ext cx="1463040" cy="41148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détections · 23 verdicts</a:t>
            </a:r>
            <a:endParaRPr lang="en-US" sz="1000" dirty="0"/>
          </a:p>
        </p:txBody>
      </p:sp>
      <p:sp>
        <p:nvSpPr>
          <p:cNvPr id="14" name="Text 10"/>
          <p:cNvSpPr txBox="1"/>
          <p:nvPr/>
        </p:nvSpPr>
        <p:spPr>
          <a:xfrm>
            <a:off x="5669280" y="2103120"/>
            <a:ext cx="1463040" cy="502920"/>
          </a:xfrm>
          <a:prstGeom prst="rect">
            <a:avLst/>
          </a:prstGeom>
          <a:noFill/>
          <a:ln/>
        </p:spPr>
        <p:txBody>
          <a:bodyPr wrap="square" lIns="0" tIns="0" rIns="0" bIns="0" rtlCol="0" anchor="ctr"/>
          <a:lstStyle/>
          <a:p>
            <a:pPr algn="ctr" indent="0" marL="0">
              <a:buNone/>
            </a:pPr>
            <a:r>
              <a:rPr lang="en-US" sz="2800" b="1" dirty="0">
                <a:solidFill>
                  <a:srgbClr val="1F3A8A"/>
                </a:solidFill>
                <a:latin typeface="Calibri" pitchFamily="34" charset="0"/>
                <a:ea typeface="Calibri" pitchFamily="34" charset="-122"/>
                <a:cs typeface="Calibri" pitchFamily="34" charset="-120"/>
              </a:rPr>
              <a:t>0,88</a:t>
            </a:r>
            <a:endParaRPr lang="en-US" sz="2800" dirty="0"/>
          </a:p>
        </p:txBody>
      </p:sp>
      <p:sp>
        <p:nvSpPr>
          <p:cNvPr id="15" name="Text 11"/>
          <p:cNvSpPr txBox="1"/>
          <p:nvPr/>
        </p:nvSpPr>
        <p:spPr>
          <a:xfrm>
            <a:off x="5669280" y="2606040"/>
            <a:ext cx="1463040" cy="41148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bonne technique parmi 3 candidats (40 alertes)</a:t>
            </a:r>
            <a:endParaRPr lang="en-US" sz="1000" dirty="0"/>
          </a:p>
        </p:txBody>
      </p:sp>
      <p:sp>
        <p:nvSpPr>
          <p:cNvPr id="16" name="Text 12"/>
          <p:cNvSpPr txBox="1"/>
          <p:nvPr/>
        </p:nvSpPr>
        <p:spPr>
          <a:xfrm>
            <a:off x="7223760" y="2103120"/>
            <a:ext cx="1463040" cy="502920"/>
          </a:xfrm>
          <a:prstGeom prst="rect">
            <a:avLst/>
          </a:prstGeom>
          <a:noFill/>
          <a:ln/>
        </p:spPr>
        <p:txBody>
          <a:bodyPr wrap="square" lIns="0" tIns="0" rIns="0" bIns="0" rtlCol="0" anchor="ctr"/>
          <a:lstStyle/>
          <a:p>
            <a:pPr algn="ctr" indent="0" marL="0">
              <a:buNone/>
            </a:pPr>
            <a:r>
              <a:rPr lang="en-US" sz="2800" b="1" dirty="0">
                <a:solidFill>
                  <a:srgbClr val="1F3A8A"/>
                </a:solidFill>
                <a:latin typeface="Calibri" pitchFamily="34" charset="0"/>
                <a:ea typeface="Calibri" pitchFamily="34" charset="-122"/>
                <a:cs typeface="Calibri" pitchFamily="34" charset="-120"/>
              </a:rPr>
              <a:t>10 s</a:t>
            </a:r>
            <a:endParaRPr lang="en-US" sz="2800" dirty="0"/>
          </a:p>
        </p:txBody>
      </p:sp>
      <p:sp>
        <p:nvSpPr>
          <p:cNvPr id="17" name="Text 13"/>
          <p:cNvSpPr txBox="1"/>
          <p:nvPr/>
        </p:nvSpPr>
        <p:spPr>
          <a:xfrm>
            <a:off x="7223760" y="2606040"/>
            <a:ext cx="1463040" cy="411480"/>
          </a:xfrm>
          <a:prstGeom prst="rect">
            <a:avLst/>
          </a:prstGeom>
          <a:noFill/>
          <a:ln/>
        </p:spPr>
        <p:txBody>
          <a:bodyPr wrap="square" lIns="0" tIns="0" rIns="0" bIns="0" rtlCol="0" anchor="t"/>
          <a:lstStyle/>
          <a:p>
            <a:pPr algn="ctr" indent="0" marL="0">
              <a:buNone/>
            </a:pPr>
            <a:r>
              <a:rPr lang="en-US" sz="1000" dirty="0">
                <a:solidFill>
                  <a:srgbClr val="6B7280"/>
                </a:solidFill>
                <a:latin typeface="Calibri" pitchFamily="34" charset="0"/>
                <a:ea typeface="Calibri" pitchFamily="34" charset="-122"/>
                <a:cs typeface="Calibri" pitchFamily="34" charset="-120"/>
              </a:rPr>
              <a:t>rafraîchissement du tableau de bord</a:t>
            </a:r>
            <a:endParaRPr lang="en-US" sz="1000" dirty="0"/>
          </a:p>
        </p:txBody>
      </p:sp>
      <p:sp>
        <p:nvSpPr>
          <p:cNvPr id="18" name="Shape 14"/>
          <p:cNvSpPr/>
          <p:nvPr/>
        </p:nvSpPr>
        <p:spPr>
          <a:xfrm>
            <a:off x="5669280" y="3154680"/>
            <a:ext cx="3017520" cy="1417320"/>
          </a:xfrm>
          <a:prstGeom prst="roundRect">
            <a:avLst>
              <a:gd name="adj" fmla="val 3871"/>
            </a:avLst>
          </a:prstGeom>
          <a:solidFill>
            <a:srgbClr val="F3F6FC"/>
          </a:solidFill>
          <a:ln w="9525">
            <a:solidFill>
              <a:srgbClr val="D5DBE8"/>
            </a:solidFill>
            <a:prstDash val="solid"/>
          </a:ln>
        </p:spPr>
      </p:sp>
      <p:sp>
        <p:nvSpPr>
          <p:cNvPr id="19" name="Text 15"/>
          <p:cNvSpPr txBox="1"/>
          <p:nvPr/>
        </p:nvSpPr>
        <p:spPr>
          <a:xfrm>
            <a:off x="5806440" y="3246120"/>
            <a:ext cx="274320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Ce que voit l'administrateur</a:t>
            </a:r>
            <a:endParaRPr lang="en-US" sz="1300" dirty="0"/>
          </a:p>
        </p:txBody>
      </p:sp>
      <p:sp>
        <p:nvSpPr>
          <p:cNvPr id="20" name="Text 16"/>
          <p:cNvSpPr txBox="1"/>
          <p:nvPr/>
        </p:nvSpPr>
        <p:spPr>
          <a:xfrm>
            <a:off x="5806440" y="3566160"/>
            <a:ext cx="2743200" cy="91440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Détections brutes, incidents corrélés, santé des règles, vulnérabilités de l'image livrée</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Quatre verdicts en ajout seul : la preuve n'est jamais modifiée</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Bandeau d'état honnête : jamais de faux « 0 alerte »</a:t>
            </a:r>
            <a:endParaRPr lang="en-US" sz="950" dirty="0"/>
          </a:p>
        </p:txBody>
      </p:sp>
      <p:sp>
        <p:nvSpPr>
          <p:cNvPr id="21" name="Text 17"/>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22" name="Text 18"/>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RÉALISATION — VALIDATION ET RÉSULTATS</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Douze tests : dix conformes, deux partiels</a:t>
            </a:r>
            <a:endParaRPr lang="en-US" sz="2400" dirty="0"/>
          </a:p>
        </p:txBody>
      </p:sp>
      <p:sp>
        <p:nvSpPr>
          <p:cNvPr id="6" name="Shape 4"/>
          <p:cNvSpPr/>
          <p:nvPr/>
        </p:nvSpPr>
        <p:spPr>
          <a:xfrm>
            <a:off x="457200" y="1051560"/>
            <a:ext cx="1280160" cy="603504"/>
          </a:xfrm>
          <a:prstGeom prst="roundRect">
            <a:avLst>
              <a:gd name="adj" fmla="val 7576"/>
            </a:avLst>
          </a:prstGeom>
          <a:solidFill>
            <a:srgbClr val="E6F4EA"/>
          </a:solidFill>
          <a:ln w="12700">
            <a:solidFill>
              <a:srgbClr val="2E8B57"/>
            </a:solidFill>
            <a:prstDash val="solid"/>
          </a:ln>
        </p:spPr>
      </p:sp>
      <p:sp>
        <p:nvSpPr>
          <p:cNvPr id="7" name="Text 5"/>
          <p:cNvSpPr txBox="1"/>
          <p:nvPr/>
        </p:nvSpPr>
        <p:spPr>
          <a:xfrm>
            <a:off x="530352" y="1051560"/>
            <a:ext cx="1188720" cy="603504"/>
          </a:xfrm>
          <a:prstGeom prst="rect">
            <a:avLst/>
          </a:prstGeom>
          <a:noFill/>
          <a:ln/>
        </p:spPr>
        <p:txBody>
          <a:bodyPr wrap="square" lIns="0" tIns="0" rIns="0" bIns="0" rtlCol="0" anchor="ctr"/>
          <a:lstStyle/>
          <a:p>
            <a:pPr indent="0" marL="0">
              <a:buNone/>
            </a:pPr>
            <a:r>
              <a:rPr lang="en-US" sz="1000" b="1" dirty="0">
                <a:solidFill>
                  <a:srgbClr val="2E8B57"/>
                </a:solidFill>
                <a:latin typeface="Calibri" pitchFamily="34" charset="0"/>
                <a:ea typeface="Calibri" pitchFamily="34" charset="-122"/>
                <a:cs typeface="Calibri" pitchFamily="34" charset="-120"/>
              </a:rPr>
              <a:t>T1 </a:t>
            </a:r>
            <a:pPr indent="0" marL="0">
              <a:buNone/>
            </a:pPr>
            <a:r>
              <a:rPr lang="en-US" sz="1000" dirty="0">
                <a:solidFill>
                  <a:srgbClr val="1F2937"/>
                </a:solidFill>
                <a:latin typeface="Calibri" pitchFamily="34" charset="0"/>
                <a:ea typeface="Calibri" pitchFamily="34" charset="-122"/>
                <a:cs typeface="Calibri" pitchFamily="34" charset="-120"/>
              </a:rPr>
              <a:t>WAF</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conforme</a:t>
            </a:r>
            <a:endParaRPr lang="en-US" sz="1000" dirty="0"/>
          </a:p>
        </p:txBody>
      </p:sp>
      <p:sp>
        <p:nvSpPr>
          <p:cNvPr id="8" name="Shape 6"/>
          <p:cNvSpPr/>
          <p:nvPr/>
        </p:nvSpPr>
        <p:spPr>
          <a:xfrm>
            <a:off x="1828800" y="1051560"/>
            <a:ext cx="1280160" cy="603504"/>
          </a:xfrm>
          <a:prstGeom prst="roundRect">
            <a:avLst>
              <a:gd name="adj" fmla="val 7576"/>
            </a:avLst>
          </a:prstGeom>
          <a:solidFill>
            <a:srgbClr val="E6F4EA"/>
          </a:solidFill>
          <a:ln w="12700">
            <a:solidFill>
              <a:srgbClr val="2E8B57"/>
            </a:solidFill>
            <a:prstDash val="solid"/>
          </a:ln>
        </p:spPr>
      </p:sp>
      <p:sp>
        <p:nvSpPr>
          <p:cNvPr id="9" name="Text 7"/>
          <p:cNvSpPr txBox="1"/>
          <p:nvPr/>
        </p:nvSpPr>
        <p:spPr>
          <a:xfrm>
            <a:off x="1901952" y="1051560"/>
            <a:ext cx="1188720" cy="603504"/>
          </a:xfrm>
          <a:prstGeom prst="rect">
            <a:avLst/>
          </a:prstGeom>
          <a:noFill/>
          <a:ln/>
        </p:spPr>
        <p:txBody>
          <a:bodyPr wrap="square" lIns="0" tIns="0" rIns="0" bIns="0" rtlCol="0" anchor="ctr"/>
          <a:lstStyle/>
          <a:p>
            <a:pPr indent="0" marL="0">
              <a:buNone/>
            </a:pPr>
            <a:r>
              <a:rPr lang="en-US" sz="1000" b="1" dirty="0">
                <a:solidFill>
                  <a:srgbClr val="2E8B57"/>
                </a:solidFill>
                <a:latin typeface="Calibri" pitchFamily="34" charset="0"/>
                <a:ea typeface="Calibri" pitchFamily="34" charset="-122"/>
                <a:cs typeface="Calibri" pitchFamily="34" charset="-120"/>
              </a:rPr>
              <a:t>T2 </a:t>
            </a:r>
            <a:pPr indent="0" marL="0">
              <a:buNone/>
            </a:pPr>
            <a:r>
              <a:rPr lang="en-US" sz="1000" dirty="0">
                <a:solidFill>
                  <a:srgbClr val="1F2937"/>
                </a:solidFill>
                <a:latin typeface="Calibri" pitchFamily="34" charset="0"/>
                <a:ea typeface="Calibri" pitchFamily="34" charset="-122"/>
                <a:cs typeface="Calibri" pitchFamily="34" charset="-120"/>
              </a:rPr>
              <a:t>Débit</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conforme</a:t>
            </a:r>
            <a:endParaRPr lang="en-US" sz="1000" dirty="0"/>
          </a:p>
        </p:txBody>
      </p:sp>
      <p:sp>
        <p:nvSpPr>
          <p:cNvPr id="10" name="Shape 8"/>
          <p:cNvSpPr/>
          <p:nvPr/>
        </p:nvSpPr>
        <p:spPr>
          <a:xfrm>
            <a:off x="3200400" y="1051560"/>
            <a:ext cx="1280160" cy="603504"/>
          </a:xfrm>
          <a:prstGeom prst="roundRect">
            <a:avLst>
              <a:gd name="adj" fmla="val 7576"/>
            </a:avLst>
          </a:prstGeom>
          <a:solidFill>
            <a:srgbClr val="E6F4EA"/>
          </a:solidFill>
          <a:ln w="12700">
            <a:solidFill>
              <a:srgbClr val="2E8B57"/>
            </a:solidFill>
            <a:prstDash val="solid"/>
          </a:ln>
        </p:spPr>
      </p:sp>
      <p:sp>
        <p:nvSpPr>
          <p:cNvPr id="11" name="Text 9"/>
          <p:cNvSpPr txBox="1"/>
          <p:nvPr/>
        </p:nvSpPr>
        <p:spPr>
          <a:xfrm>
            <a:off x="3273552" y="1051560"/>
            <a:ext cx="1188720" cy="603504"/>
          </a:xfrm>
          <a:prstGeom prst="rect">
            <a:avLst/>
          </a:prstGeom>
          <a:noFill/>
          <a:ln/>
        </p:spPr>
        <p:txBody>
          <a:bodyPr wrap="square" lIns="0" tIns="0" rIns="0" bIns="0" rtlCol="0" anchor="ctr"/>
          <a:lstStyle/>
          <a:p>
            <a:pPr indent="0" marL="0">
              <a:buNone/>
            </a:pPr>
            <a:r>
              <a:rPr lang="en-US" sz="1000" b="1" dirty="0">
                <a:solidFill>
                  <a:srgbClr val="2E8B57"/>
                </a:solidFill>
                <a:latin typeface="Calibri" pitchFamily="34" charset="0"/>
                <a:ea typeface="Calibri" pitchFamily="34" charset="-122"/>
                <a:cs typeface="Calibri" pitchFamily="34" charset="-120"/>
              </a:rPr>
              <a:t>T3 </a:t>
            </a:r>
            <a:pPr indent="0" marL="0">
              <a:buNone/>
            </a:pPr>
            <a:r>
              <a:rPr lang="en-US" sz="1000" dirty="0">
                <a:solidFill>
                  <a:srgbClr val="1F2937"/>
                </a:solidFill>
                <a:latin typeface="Calibri" pitchFamily="34" charset="0"/>
                <a:ea typeface="Calibri" pitchFamily="34" charset="-122"/>
                <a:cs typeface="Calibri" pitchFamily="34" charset="-120"/>
              </a:rPr>
              <a:t>Base privée</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conforme</a:t>
            </a:r>
            <a:endParaRPr lang="en-US" sz="1000" dirty="0"/>
          </a:p>
        </p:txBody>
      </p:sp>
      <p:sp>
        <p:nvSpPr>
          <p:cNvPr id="12" name="Shape 10"/>
          <p:cNvSpPr/>
          <p:nvPr/>
        </p:nvSpPr>
        <p:spPr>
          <a:xfrm>
            <a:off x="4572000" y="1051560"/>
            <a:ext cx="1280160" cy="603504"/>
          </a:xfrm>
          <a:prstGeom prst="roundRect">
            <a:avLst>
              <a:gd name="adj" fmla="val 7576"/>
            </a:avLst>
          </a:prstGeom>
          <a:solidFill>
            <a:srgbClr val="E6F4EA"/>
          </a:solidFill>
          <a:ln w="12700">
            <a:solidFill>
              <a:srgbClr val="2E8B57"/>
            </a:solidFill>
            <a:prstDash val="solid"/>
          </a:ln>
        </p:spPr>
      </p:sp>
      <p:sp>
        <p:nvSpPr>
          <p:cNvPr id="13" name="Text 11"/>
          <p:cNvSpPr txBox="1"/>
          <p:nvPr/>
        </p:nvSpPr>
        <p:spPr>
          <a:xfrm>
            <a:off x="4645152" y="1051560"/>
            <a:ext cx="1188720" cy="603504"/>
          </a:xfrm>
          <a:prstGeom prst="rect">
            <a:avLst/>
          </a:prstGeom>
          <a:noFill/>
          <a:ln/>
        </p:spPr>
        <p:txBody>
          <a:bodyPr wrap="square" lIns="0" tIns="0" rIns="0" bIns="0" rtlCol="0" anchor="ctr"/>
          <a:lstStyle/>
          <a:p>
            <a:pPr indent="0" marL="0">
              <a:buNone/>
            </a:pPr>
            <a:r>
              <a:rPr lang="en-US" sz="1000" b="1" dirty="0">
                <a:solidFill>
                  <a:srgbClr val="2E8B57"/>
                </a:solidFill>
                <a:latin typeface="Calibri" pitchFamily="34" charset="0"/>
                <a:ea typeface="Calibri" pitchFamily="34" charset="-122"/>
                <a:cs typeface="Calibri" pitchFamily="34" charset="-120"/>
              </a:rPr>
              <a:t>T4 </a:t>
            </a:r>
            <a:pPr indent="0" marL="0">
              <a:buNone/>
            </a:pPr>
            <a:r>
              <a:rPr lang="en-US" sz="1000" dirty="0">
                <a:solidFill>
                  <a:srgbClr val="1F2937"/>
                </a:solidFill>
                <a:latin typeface="Calibri" pitchFamily="34" charset="0"/>
                <a:ea typeface="Calibri" pitchFamily="34" charset="-122"/>
                <a:cs typeface="Calibri" pitchFamily="34" charset="-120"/>
              </a:rPr>
              <a:t>Identités</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conforme</a:t>
            </a:r>
            <a:endParaRPr lang="en-US" sz="1000" dirty="0"/>
          </a:p>
        </p:txBody>
      </p:sp>
      <p:sp>
        <p:nvSpPr>
          <p:cNvPr id="14" name="Shape 12"/>
          <p:cNvSpPr/>
          <p:nvPr/>
        </p:nvSpPr>
        <p:spPr>
          <a:xfrm>
            <a:off x="5943600" y="1051560"/>
            <a:ext cx="1280160" cy="603504"/>
          </a:xfrm>
          <a:prstGeom prst="roundRect">
            <a:avLst>
              <a:gd name="adj" fmla="val 7576"/>
            </a:avLst>
          </a:prstGeom>
          <a:solidFill>
            <a:srgbClr val="E6F4EA"/>
          </a:solidFill>
          <a:ln w="12700">
            <a:solidFill>
              <a:srgbClr val="2E8B57"/>
            </a:solidFill>
            <a:prstDash val="solid"/>
          </a:ln>
        </p:spPr>
      </p:sp>
      <p:sp>
        <p:nvSpPr>
          <p:cNvPr id="15" name="Text 13"/>
          <p:cNvSpPr txBox="1"/>
          <p:nvPr/>
        </p:nvSpPr>
        <p:spPr>
          <a:xfrm>
            <a:off x="6016752" y="1051560"/>
            <a:ext cx="1188720" cy="603504"/>
          </a:xfrm>
          <a:prstGeom prst="rect">
            <a:avLst/>
          </a:prstGeom>
          <a:noFill/>
          <a:ln/>
        </p:spPr>
        <p:txBody>
          <a:bodyPr wrap="square" lIns="0" tIns="0" rIns="0" bIns="0" rtlCol="0" anchor="ctr"/>
          <a:lstStyle/>
          <a:p>
            <a:pPr indent="0" marL="0">
              <a:buNone/>
            </a:pPr>
            <a:r>
              <a:rPr lang="en-US" sz="1000" b="1" dirty="0">
                <a:solidFill>
                  <a:srgbClr val="2E8B57"/>
                </a:solidFill>
                <a:latin typeface="Calibri" pitchFamily="34" charset="0"/>
                <a:ea typeface="Calibri" pitchFamily="34" charset="-122"/>
                <a:cs typeface="Calibri" pitchFamily="34" charset="-120"/>
              </a:rPr>
              <a:t>T5 </a:t>
            </a:r>
            <a:pPr indent="0" marL="0">
              <a:buNone/>
            </a:pPr>
            <a:r>
              <a:rPr lang="en-US" sz="1000" dirty="0">
                <a:solidFill>
                  <a:srgbClr val="1F2937"/>
                </a:solidFill>
                <a:latin typeface="Calibri" pitchFamily="34" charset="0"/>
                <a:ea typeface="Calibri" pitchFamily="34" charset="-122"/>
                <a:cs typeface="Calibri" pitchFamily="34" charset="-120"/>
              </a:rPr>
              <a:t>Session MFA</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conforme</a:t>
            </a:r>
            <a:endParaRPr lang="en-US" sz="1000" dirty="0"/>
          </a:p>
        </p:txBody>
      </p:sp>
      <p:sp>
        <p:nvSpPr>
          <p:cNvPr id="16" name="Shape 14"/>
          <p:cNvSpPr/>
          <p:nvPr/>
        </p:nvSpPr>
        <p:spPr>
          <a:xfrm>
            <a:off x="7315200" y="1051560"/>
            <a:ext cx="1280160" cy="603504"/>
          </a:xfrm>
          <a:prstGeom prst="roundRect">
            <a:avLst>
              <a:gd name="adj" fmla="val 7576"/>
            </a:avLst>
          </a:prstGeom>
          <a:solidFill>
            <a:srgbClr val="FFF3E0"/>
          </a:solidFill>
          <a:ln w="12700">
            <a:solidFill>
              <a:srgbClr val="D98E1F"/>
            </a:solidFill>
            <a:prstDash val="solid"/>
          </a:ln>
        </p:spPr>
      </p:sp>
      <p:sp>
        <p:nvSpPr>
          <p:cNvPr id="17" name="Text 15"/>
          <p:cNvSpPr txBox="1"/>
          <p:nvPr/>
        </p:nvSpPr>
        <p:spPr>
          <a:xfrm>
            <a:off x="7388352" y="1051560"/>
            <a:ext cx="1188720" cy="603504"/>
          </a:xfrm>
          <a:prstGeom prst="rect">
            <a:avLst/>
          </a:prstGeom>
          <a:noFill/>
          <a:ln/>
        </p:spPr>
        <p:txBody>
          <a:bodyPr wrap="square" lIns="0" tIns="0" rIns="0" bIns="0" rtlCol="0" anchor="ctr"/>
          <a:lstStyle/>
          <a:p>
            <a:pPr indent="0" marL="0">
              <a:buNone/>
            </a:pPr>
            <a:r>
              <a:rPr lang="en-US" sz="1000" b="1" dirty="0">
                <a:solidFill>
                  <a:srgbClr val="D98E1F"/>
                </a:solidFill>
                <a:latin typeface="Calibri" pitchFamily="34" charset="0"/>
                <a:ea typeface="Calibri" pitchFamily="34" charset="-122"/>
                <a:cs typeface="Calibri" pitchFamily="34" charset="-120"/>
              </a:rPr>
              <a:t>T6 </a:t>
            </a:r>
            <a:pPr indent="0" marL="0">
              <a:buNone/>
            </a:pPr>
            <a:r>
              <a:rPr lang="en-US" sz="1000" dirty="0">
                <a:solidFill>
                  <a:srgbClr val="1F2937"/>
                </a:solidFill>
                <a:latin typeface="Calibri" pitchFamily="34" charset="0"/>
                <a:ea typeface="Calibri" pitchFamily="34" charset="-122"/>
                <a:cs typeface="Calibri" pitchFamily="34" charset="-120"/>
              </a:rPr>
              <a:t>Dérive</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partiel</a:t>
            </a:r>
            <a:endParaRPr lang="en-US" sz="1000" dirty="0"/>
          </a:p>
        </p:txBody>
      </p:sp>
      <p:sp>
        <p:nvSpPr>
          <p:cNvPr id="18" name="Shape 16"/>
          <p:cNvSpPr/>
          <p:nvPr/>
        </p:nvSpPr>
        <p:spPr>
          <a:xfrm>
            <a:off x="457200" y="1764792"/>
            <a:ext cx="1280160" cy="603504"/>
          </a:xfrm>
          <a:prstGeom prst="roundRect">
            <a:avLst>
              <a:gd name="adj" fmla="val 7576"/>
            </a:avLst>
          </a:prstGeom>
          <a:solidFill>
            <a:srgbClr val="E6F4EA"/>
          </a:solidFill>
          <a:ln w="12700">
            <a:solidFill>
              <a:srgbClr val="2E8B57"/>
            </a:solidFill>
            <a:prstDash val="solid"/>
          </a:ln>
        </p:spPr>
      </p:sp>
      <p:sp>
        <p:nvSpPr>
          <p:cNvPr id="19" name="Text 17"/>
          <p:cNvSpPr txBox="1"/>
          <p:nvPr/>
        </p:nvSpPr>
        <p:spPr>
          <a:xfrm>
            <a:off x="530352" y="1764792"/>
            <a:ext cx="1188720" cy="603504"/>
          </a:xfrm>
          <a:prstGeom prst="rect">
            <a:avLst/>
          </a:prstGeom>
          <a:noFill/>
          <a:ln/>
        </p:spPr>
        <p:txBody>
          <a:bodyPr wrap="square" lIns="0" tIns="0" rIns="0" bIns="0" rtlCol="0" anchor="ctr"/>
          <a:lstStyle/>
          <a:p>
            <a:pPr indent="0" marL="0">
              <a:buNone/>
            </a:pPr>
            <a:r>
              <a:rPr lang="en-US" sz="1000" b="1" dirty="0">
                <a:solidFill>
                  <a:srgbClr val="2E8B57"/>
                </a:solidFill>
                <a:latin typeface="Calibri" pitchFamily="34" charset="0"/>
                <a:ea typeface="Calibri" pitchFamily="34" charset="-122"/>
                <a:cs typeface="Calibri" pitchFamily="34" charset="-120"/>
              </a:rPr>
              <a:t>T7 </a:t>
            </a:r>
            <a:pPr indent="0" marL="0">
              <a:buNone/>
            </a:pPr>
            <a:r>
              <a:rPr lang="en-US" sz="1000" dirty="0">
                <a:solidFill>
                  <a:srgbClr val="1F2937"/>
                </a:solidFill>
                <a:latin typeface="Calibri" pitchFamily="34" charset="0"/>
                <a:ea typeface="Calibri" pitchFamily="34" charset="-122"/>
                <a:cs typeface="Calibri" pitchFamily="34" charset="-120"/>
              </a:rPr>
              <a:t>État</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conforme</a:t>
            </a:r>
            <a:endParaRPr lang="en-US" sz="1000" dirty="0"/>
          </a:p>
        </p:txBody>
      </p:sp>
      <p:sp>
        <p:nvSpPr>
          <p:cNvPr id="20" name="Shape 18"/>
          <p:cNvSpPr/>
          <p:nvPr/>
        </p:nvSpPr>
        <p:spPr>
          <a:xfrm>
            <a:off x="1828800" y="1764792"/>
            <a:ext cx="1280160" cy="603504"/>
          </a:xfrm>
          <a:prstGeom prst="roundRect">
            <a:avLst>
              <a:gd name="adj" fmla="val 7576"/>
            </a:avLst>
          </a:prstGeom>
          <a:solidFill>
            <a:srgbClr val="E6F4EA"/>
          </a:solidFill>
          <a:ln w="12700">
            <a:solidFill>
              <a:srgbClr val="2E8B57"/>
            </a:solidFill>
            <a:prstDash val="solid"/>
          </a:ln>
        </p:spPr>
      </p:sp>
      <p:sp>
        <p:nvSpPr>
          <p:cNvPr id="21" name="Text 19"/>
          <p:cNvSpPr txBox="1"/>
          <p:nvPr/>
        </p:nvSpPr>
        <p:spPr>
          <a:xfrm>
            <a:off x="1901952" y="1764792"/>
            <a:ext cx="1188720" cy="603504"/>
          </a:xfrm>
          <a:prstGeom prst="rect">
            <a:avLst/>
          </a:prstGeom>
          <a:noFill/>
          <a:ln/>
        </p:spPr>
        <p:txBody>
          <a:bodyPr wrap="square" lIns="0" tIns="0" rIns="0" bIns="0" rtlCol="0" anchor="ctr"/>
          <a:lstStyle/>
          <a:p>
            <a:pPr indent="0" marL="0">
              <a:buNone/>
            </a:pPr>
            <a:r>
              <a:rPr lang="en-US" sz="1000" b="1" dirty="0">
                <a:solidFill>
                  <a:srgbClr val="2E8B57"/>
                </a:solidFill>
                <a:latin typeface="Calibri" pitchFamily="34" charset="0"/>
                <a:ea typeface="Calibri" pitchFamily="34" charset="-122"/>
                <a:cs typeface="Calibri" pitchFamily="34" charset="-120"/>
              </a:rPr>
              <a:t>T8 </a:t>
            </a:r>
            <a:pPr indent="0" marL="0">
              <a:buNone/>
            </a:pPr>
            <a:r>
              <a:rPr lang="en-US" sz="1000" dirty="0">
                <a:solidFill>
                  <a:srgbClr val="1F2937"/>
                </a:solidFill>
                <a:latin typeface="Calibri" pitchFamily="34" charset="0"/>
                <a:ea typeface="Calibri" pitchFamily="34" charset="-122"/>
                <a:cs typeface="Calibri" pitchFamily="34" charset="-120"/>
              </a:rPr>
              <a:t>Secrets</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conforme</a:t>
            </a:r>
            <a:endParaRPr lang="en-US" sz="1000" dirty="0"/>
          </a:p>
        </p:txBody>
      </p:sp>
      <p:sp>
        <p:nvSpPr>
          <p:cNvPr id="22" name="Shape 20"/>
          <p:cNvSpPr/>
          <p:nvPr/>
        </p:nvSpPr>
        <p:spPr>
          <a:xfrm>
            <a:off x="3200400" y="1764792"/>
            <a:ext cx="1280160" cy="603504"/>
          </a:xfrm>
          <a:prstGeom prst="roundRect">
            <a:avLst>
              <a:gd name="adj" fmla="val 7576"/>
            </a:avLst>
          </a:prstGeom>
          <a:solidFill>
            <a:srgbClr val="E6F4EA"/>
          </a:solidFill>
          <a:ln w="12700">
            <a:solidFill>
              <a:srgbClr val="2E8B57"/>
            </a:solidFill>
            <a:prstDash val="solid"/>
          </a:ln>
        </p:spPr>
      </p:sp>
      <p:sp>
        <p:nvSpPr>
          <p:cNvPr id="23" name="Text 21"/>
          <p:cNvSpPr txBox="1"/>
          <p:nvPr/>
        </p:nvSpPr>
        <p:spPr>
          <a:xfrm>
            <a:off x="3273552" y="1764792"/>
            <a:ext cx="1188720" cy="603504"/>
          </a:xfrm>
          <a:prstGeom prst="rect">
            <a:avLst/>
          </a:prstGeom>
          <a:noFill/>
          <a:ln/>
        </p:spPr>
        <p:txBody>
          <a:bodyPr wrap="square" lIns="0" tIns="0" rIns="0" bIns="0" rtlCol="0" anchor="ctr"/>
          <a:lstStyle/>
          <a:p>
            <a:pPr indent="0" marL="0">
              <a:buNone/>
            </a:pPr>
            <a:r>
              <a:rPr lang="en-US" sz="1000" b="1" dirty="0">
                <a:solidFill>
                  <a:srgbClr val="2E8B57"/>
                </a:solidFill>
                <a:latin typeface="Calibri" pitchFamily="34" charset="0"/>
                <a:ea typeface="Calibri" pitchFamily="34" charset="-122"/>
                <a:cs typeface="Calibri" pitchFamily="34" charset="-120"/>
              </a:rPr>
              <a:t>T9 </a:t>
            </a:r>
            <a:pPr indent="0" marL="0">
              <a:buNone/>
            </a:pPr>
            <a:r>
              <a:rPr lang="en-US" sz="1000" dirty="0">
                <a:solidFill>
                  <a:srgbClr val="1F2937"/>
                </a:solidFill>
                <a:latin typeface="Calibri" pitchFamily="34" charset="0"/>
                <a:ea typeface="Calibri" pitchFamily="34" charset="-122"/>
                <a:cs typeface="Calibri" pitchFamily="34" charset="-120"/>
              </a:rPr>
              <a:t>Vulnérabilités</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conforme</a:t>
            </a:r>
            <a:endParaRPr lang="en-US" sz="1000" dirty="0"/>
          </a:p>
        </p:txBody>
      </p:sp>
      <p:sp>
        <p:nvSpPr>
          <p:cNvPr id="24" name="Shape 22"/>
          <p:cNvSpPr/>
          <p:nvPr/>
        </p:nvSpPr>
        <p:spPr>
          <a:xfrm>
            <a:off x="4572000" y="1764792"/>
            <a:ext cx="1280160" cy="603504"/>
          </a:xfrm>
          <a:prstGeom prst="roundRect">
            <a:avLst>
              <a:gd name="adj" fmla="val 7576"/>
            </a:avLst>
          </a:prstGeom>
          <a:solidFill>
            <a:srgbClr val="E6F4EA"/>
          </a:solidFill>
          <a:ln w="12700">
            <a:solidFill>
              <a:srgbClr val="2E8B57"/>
            </a:solidFill>
            <a:prstDash val="solid"/>
          </a:ln>
        </p:spPr>
      </p:sp>
      <p:sp>
        <p:nvSpPr>
          <p:cNvPr id="25" name="Text 23"/>
          <p:cNvSpPr txBox="1"/>
          <p:nvPr/>
        </p:nvSpPr>
        <p:spPr>
          <a:xfrm>
            <a:off x="4645152" y="1764792"/>
            <a:ext cx="1188720" cy="603504"/>
          </a:xfrm>
          <a:prstGeom prst="rect">
            <a:avLst/>
          </a:prstGeom>
          <a:noFill/>
          <a:ln/>
        </p:spPr>
        <p:txBody>
          <a:bodyPr wrap="square" lIns="0" tIns="0" rIns="0" bIns="0" rtlCol="0" anchor="ctr"/>
          <a:lstStyle/>
          <a:p>
            <a:pPr indent="0" marL="0">
              <a:buNone/>
            </a:pPr>
            <a:r>
              <a:rPr lang="en-US" sz="1000" b="1" dirty="0">
                <a:solidFill>
                  <a:srgbClr val="2E8B57"/>
                </a:solidFill>
                <a:latin typeface="Calibri" pitchFamily="34" charset="0"/>
                <a:ea typeface="Calibri" pitchFamily="34" charset="-122"/>
                <a:cs typeface="Calibri" pitchFamily="34" charset="-120"/>
              </a:rPr>
              <a:t>T10 </a:t>
            </a:r>
            <a:pPr indent="0" marL="0">
              <a:buNone/>
            </a:pPr>
            <a:r>
              <a:rPr lang="en-US" sz="1000" dirty="0">
                <a:solidFill>
                  <a:srgbClr val="1F2937"/>
                </a:solidFill>
                <a:latin typeface="Calibri" pitchFamily="34" charset="0"/>
                <a:ea typeface="Calibri" pitchFamily="34" charset="-122"/>
                <a:cs typeface="Calibri" pitchFamily="34" charset="-120"/>
              </a:rPr>
              <a:t>Fédération</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conforme</a:t>
            </a:r>
            <a:endParaRPr lang="en-US" sz="1000" dirty="0"/>
          </a:p>
        </p:txBody>
      </p:sp>
      <p:sp>
        <p:nvSpPr>
          <p:cNvPr id="26" name="Shape 24"/>
          <p:cNvSpPr/>
          <p:nvPr/>
        </p:nvSpPr>
        <p:spPr>
          <a:xfrm>
            <a:off x="5943600" y="1764792"/>
            <a:ext cx="1280160" cy="603504"/>
          </a:xfrm>
          <a:prstGeom prst="roundRect">
            <a:avLst>
              <a:gd name="adj" fmla="val 7576"/>
            </a:avLst>
          </a:prstGeom>
          <a:solidFill>
            <a:srgbClr val="FFF3E0"/>
          </a:solidFill>
          <a:ln w="12700">
            <a:solidFill>
              <a:srgbClr val="D98E1F"/>
            </a:solidFill>
            <a:prstDash val="solid"/>
          </a:ln>
        </p:spPr>
      </p:sp>
      <p:sp>
        <p:nvSpPr>
          <p:cNvPr id="27" name="Text 25"/>
          <p:cNvSpPr txBox="1"/>
          <p:nvPr/>
        </p:nvSpPr>
        <p:spPr>
          <a:xfrm>
            <a:off x="6016752" y="1764792"/>
            <a:ext cx="1188720" cy="603504"/>
          </a:xfrm>
          <a:prstGeom prst="rect">
            <a:avLst/>
          </a:prstGeom>
          <a:noFill/>
          <a:ln/>
        </p:spPr>
        <p:txBody>
          <a:bodyPr wrap="square" lIns="0" tIns="0" rIns="0" bIns="0" rtlCol="0" anchor="ctr"/>
          <a:lstStyle/>
          <a:p>
            <a:pPr indent="0" marL="0">
              <a:buNone/>
            </a:pPr>
            <a:r>
              <a:rPr lang="en-US" sz="1000" b="1" dirty="0">
                <a:solidFill>
                  <a:srgbClr val="D98E1F"/>
                </a:solidFill>
                <a:latin typeface="Calibri" pitchFamily="34" charset="0"/>
                <a:ea typeface="Calibri" pitchFamily="34" charset="-122"/>
                <a:cs typeface="Calibri" pitchFamily="34" charset="-120"/>
              </a:rPr>
              <a:t>T11 </a:t>
            </a:r>
            <a:pPr indent="0" marL="0">
              <a:buNone/>
            </a:pPr>
            <a:r>
              <a:rPr lang="en-US" sz="1000" dirty="0">
                <a:solidFill>
                  <a:srgbClr val="1F2937"/>
                </a:solidFill>
                <a:latin typeface="Calibri" pitchFamily="34" charset="0"/>
                <a:ea typeface="Calibri" pitchFamily="34" charset="-122"/>
                <a:cs typeface="Calibri" pitchFamily="34" charset="-120"/>
              </a:rPr>
              <a:t>Collecte</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partiel</a:t>
            </a:r>
            <a:endParaRPr lang="en-US" sz="1000" dirty="0"/>
          </a:p>
        </p:txBody>
      </p:sp>
      <p:sp>
        <p:nvSpPr>
          <p:cNvPr id="28" name="Shape 26"/>
          <p:cNvSpPr/>
          <p:nvPr/>
        </p:nvSpPr>
        <p:spPr>
          <a:xfrm>
            <a:off x="7315200" y="1764792"/>
            <a:ext cx="1280160" cy="603504"/>
          </a:xfrm>
          <a:prstGeom prst="roundRect">
            <a:avLst>
              <a:gd name="adj" fmla="val 7576"/>
            </a:avLst>
          </a:prstGeom>
          <a:solidFill>
            <a:srgbClr val="E6F4EA"/>
          </a:solidFill>
          <a:ln w="12700">
            <a:solidFill>
              <a:srgbClr val="2E8B57"/>
            </a:solidFill>
            <a:prstDash val="solid"/>
          </a:ln>
        </p:spPr>
      </p:sp>
      <p:sp>
        <p:nvSpPr>
          <p:cNvPr id="29" name="Text 27"/>
          <p:cNvSpPr txBox="1"/>
          <p:nvPr/>
        </p:nvSpPr>
        <p:spPr>
          <a:xfrm>
            <a:off x="7388352" y="1764792"/>
            <a:ext cx="1188720" cy="603504"/>
          </a:xfrm>
          <a:prstGeom prst="rect">
            <a:avLst/>
          </a:prstGeom>
          <a:noFill/>
          <a:ln/>
        </p:spPr>
        <p:txBody>
          <a:bodyPr wrap="square" lIns="0" tIns="0" rIns="0" bIns="0" rtlCol="0" anchor="ctr"/>
          <a:lstStyle/>
          <a:p>
            <a:pPr indent="0" marL="0">
              <a:buNone/>
            </a:pPr>
            <a:r>
              <a:rPr lang="en-US" sz="1000" b="1" dirty="0">
                <a:solidFill>
                  <a:srgbClr val="2E8B57"/>
                </a:solidFill>
                <a:latin typeface="Calibri" pitchFamily="34" charset="0"/>
                <a:ea typeface="Calibri" pitchFamily="34" charset="-122"/>
                <a:cs typeface="Calibri" pitchFamily="34" charset="-120"/>
              </a:rPr>
              <a:t>T12 </a:t>
            </a:r>
            <a:pPr indent="0" marL="0">
              <a:buNone/>
            </a:pPr>
            <a:r>
              <a:rPr lang="en-US" sz="1000" dirty="0">
                <a:solidFill>
                  <a:srgbClr val="1F2937"/>
                </a:solidFill>
                <a:latin typeface="Calibri" pitchFamily="34" charset="0"/>
                <a:ea typeface="Calibri" pitchFamily="34" charset="-122"/>
                <a:cs typeface="Calibri" pitchFamily="34" charset="-120"/>
              </a:rPr>
              <a:t>Preuves</a:t>
            </a:r>
            <a:endParaRPr lang="en-US" sz="1000" dirty="0"/>
          </a:p>
          <a:p>
            <a:pPr indent="0" marL="0">
              <a:buNone/>
            </a:pPr>
            <a:r>
              <a:rPr lang="en-US" sz="850" dirty="0">
                <a:solidFill>
                  <a:srgbClr val="6B7280"/>
                </a:solidFill>
                <a:latin typeface="Calibri" pitchFamily="34" charset="0"/>
                <a:ea typeface="Calibri" pitchFamily="34" charset="-122"/>
                <a:cs typeface="Calibri" pitchFamily="34" charset="-120"/>
              </a:rPr>
              <a:t>conforme</a:t>
            </a:r>
            <a:endParaRPr lang="en-US" sz="1000" dirty="0"/>
          </a:p>
        </p:txBody>
      </p:sp>
      <p:sp>
        <p:nvSpPr>
          <p:cNvPr id="30" name="Text 28"/>
          <p:cNvSpPr txBox="1"/>
          <p:nvPr/>
        </p:nvSpPr>
        <p:spPr>
          <a:xfrm>
            <a:off x="457200" y="2560320"/>
            <a:ext cx="8229600" cy="548640"/>
          </a:xfrm>
          <a:prstGeom prst="rect">
            <a:avLst/>
          </a:prstGeom>
          <a:noFill/>
          <a:ln/>
        </p:spPr>
        <p:txBody>
          <a:bodyPr wrap="square" lIns="0" tIns="0" rIns="0" bIns="0" rtlCol="0" anchor="t"/>
          <a:lstStyle/>
          <a:p>
            <a:pPr indent="0" marL="0">
              <a:buNone/>
            </a:pPr>
            <a:r>
              <a:rPr lang="en-US" sz="950" i="1" dirty="0">
                <a:solidFill>
                  <a:srgbClr val="1F2937"/>
                </a:solidFill>
                <a:latin typeface="Calibri" pitchFamily="34" charset="0"/>
                <a:ea typeface="Calibri" pitchFamily="34" charset="-122"/>
                <a:cs typeface="Calibri" pitchFamily="34" charset="-120"/>
              </a:rPr>
              <a:t>T1 était non conforme le 23/08 (traversée de chemin redirigée) : correctif appliqué, rejoué le 07/09 avec treize refus sur treize. T6 et T11 restent partiels et nommés : une création hors code par l'administrateur n'est pas signalée ; l'alerte d'absence de journaux n'a pas encore été chronométrée dans la chaîne en flux.</a:t>
            </a:r>
            <a:endParaRPr lang="en-US" sz="950" dirty="0"/>
          </a:p>
        </p:txBody>
      </p:sp>
      <p:sp>
        <p:nvSpPr>
          <p:cNvPr id="31" name="Shape 29"/>
          <p:cNvSpPr/>
          <p:nvPr/>
        </p:nvSpPr>
        <p:spPr>
          <a:xfrm>
            <a:off x="457200" y="3200400"/>
            <a:ext cx="2651760" cy="603504"/>
          </a:xfrm>
          <a:prstGeom prst="roundRect">
            <a:avLst>
              <a:gd name="adj" fmla="val 7576"/>
            </a:avLst>
          </a:prstGeom>
          <a:solidFill>
            <a:srgbClr val="F3F6FC"/>
          </a:solidFill>
          <a:ln w="9525">
            <a:solidFill>
              <a:srgbClr val="D5DBE8"/>
            </a:solidFill>
            <a:prstDash val="solid"/>
          </a:ln>
        </p:spPr>
      </p:sp>
      <p:sp>
        <p:nvSpPr>
          <p:cNvPr id="32" name="Text 30"/>
          <p:cNvSpPr txBox="1"/>
          <p:nvPr/>
        </p:nvSpPr>
        <p:spPr>
          <a:xfrm>
            <a:off x="548640" y="3200400"/>
            <a:ext cx="1143000" cy="603504"/>
          </a:xfrm>
          <a:prstGeom prst="rect">
            <a:avLst/>
          </a:prstGeom>
          <a:noFill/>
          <a:ln/>
        </p:spPr>
        <p:txBody>
          <a:bodyPr wrap="square" lIns="0" tIns="0" rIns="0" bIns="0" rtlCol="0" anchor="ctr"/>
          <a:lstStyle/>
          <a:p>
            <a:pPr indent="0" marL="0">
              <a:buNone/>
            </a:pPr>
            <a:r>
              <a:rPr lang="en-US" sz="1500" b="1" dirty="0">
                <a:solidFill>
                  <a:srgbClr val="1F3A8A"/>
                </a:solidFill>
                <a:latin typeface="Calibri" pitchFamily="34" charset="0"/>
                <a:ea typeface="Calibri" pitchFamily="34" charset="-122"/>
                <a:cs typeface="Calibri" pitchFamily="34" charset="-120"/>
              </a:rPr>
              <a:t>2 min 05 s</a:t>
            </a:r>
            <a:endParaRPr lang="en-US" sz="1500" dirty="0"/>
          </a:p>
        </p:txBody>
      </p:sp>
      <p:sp>
        <p:nvSpPr>
          <p:cNvPr id="33" name="Text 31"/>
          <p:cNvSpPr txBox="1"/>
          <p:nvPr/>
        </p:nvSpPr>
        <p:spPr>
          <a:xfrm>
            <a:off x="1737360" y="3200400"/>
            <a:ext cx="1325880" cy="603504"/>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attaque → incident affiché (15 min 05 s avant D9)</a:t>
            </a:r>
            <a:endParaRPr lang="en-US" sz="900" dirty="0"/>
          </a:p>
        </p:txBody>
      </p:sp>
      <p:sp>
        <p:nvSpPr>
          <p:cNvPr id="34" name="Shape 32"/>
          <p:cNvSpPr/>
          <p:nvPr/>
        </p:nvSpPr>
        <p:spPr>
          <a:xfrm>
            <a:off x="3246120" y="3200400"/>
            <a:ext cx="2651760" cy="603504"/>
          </a:xfrm>
          <a:prstGeom prst="roundRect">
            <a:avLst>
              <a:gd name="adj" fmla="val 7576"/>
            </a:avLst>
          </a:prstGeom>
          <a:solidFill>
            <a:srgbClr val="F3F6FC"/>
          </a:solidFill>
          <a:ln w="9525">
            <a:solidFill>
              <a:srgbClr val="D5DBE8"/>
            </a:solidFill>
            <a:prstDash val="solid"/>
          </a:ln>
        </p:spPr>
      </p:sp>
      <p:sp>
        <p:nvSpPr>
          <p:cNvPr id="35" name="Text 33"/>
          <p:cNvSpPr txBox="1"/>
          <p:nvPr/>
        </p:nvSpPr>
        <p:spPr>
          <a:xfrm>
            <a:off x="3337560" y="3200400"/>
            <a:ext cx="1143000" cy="603504"/>
          </a:xfrm>
          <a:prstGeom prst="rect">
            <a:avLst/>
          </a:prstGeom>
          <a:noFill/>
          <a:ln/>
        </p:spPr>
        <p:txBody>
          <a:bodyPr wrap="square" lIns="0" tIns="0" rIns="0" bIns="0" rtlCol="0" anchor="ctr"/>
          <a:lstStyle/>
          <a:p>
            <a:pPr indent="0" marL="0">
              <a:buNone/>
            </a:pPr>
            <a:r>
              <a:rPr lang="en-US" sz="1500" b="1" dirty="0">
                <a:solidFill>
                  <a:srgbClr val="1F3A8A"/>
                </a:solidFill>
                <a:latin typeface="Calibri" pitchFamily="34" charset="0"/>
                <a:ea typeface="Calibri" pitchFamily="34" charset="-122"/>
                <a:cs typeface="Calibri" pitchFamily="34" charset="-120"/>
              </a:rPr>
              <a:t>99,6 %</a:t>
            </a:r>
            <a:endParaRPr lang="en-US" sz="1500" dirty="0"/>
          </a:p>
        </p:txBody>
      </p:sp>
      <p:sp>
        <p:nvSpPr>
          <p:cNvPr id="36" name="Text 34"/>
          <p:cNvSpPr txBox="1"/>
          <p:nvPr/>
        </p:nvSpPr>
        <p:spPr>
          <a:xfrm>
            <a:off x="4526280" y="3200400"/>
            <a:ext cx="1325880" cy="603504"/>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disponibilité sur 30 jours</a:t>
            </a:r>
            <a:endParaRPr lang="en-US" sz="900" dirty="0"/>
          </a:p>
        </p:txBody>
      </p:sp>
      <p:sp>
        <p:nvSpPr>
          <p:cNvPr id="37" name="Shape 35"/>
          <p:cNvSpPr/>
          <p:nvPr/>
        </p:nvSpPr>
        <p:spPr>
          <a:xfrm>
            <a:off x="6035040" y="3200400"/>
            <a:ext cx="2651760" cy="603504"/>
          </a:xfrm>
          <a:prstGeom prst="roundRect">
            <a:avLst>
              <a:gd name="adj" fmla="val 7576"/>
            </a:avLst>
          </a:prstGeom>
          <a:solidFill>
            <a:srgbClr val="F3F6FC"/>
          </a:solidFill>
          <a:ln w="9525">
            <a:solidFill>
              <a:srgbClr val="D5DBE8"/>
            </a:solidFill>
            <a:prstDash val="solid"/>
          </a:ln>
        </p:spPr>
      </p:sp>
      <p:sp>
        <p:nvSpPr>
          <p:cNvPr id="38" name="Text 36"/>
          <p:cNvSpPr txBox="1"/>
          <p:nvPr/>
        </p:nvSpPr>
        <p:spPr>
          <a:xfrm>
            <a:off x="6126480" y="3200400"/>
            <a:ext cx="1143000" cy="603504"/>
          </a:xfrm>
          <a:prstGeom prst="rect">
            <a:avLst/>
          </a:prstGeom>
          <a:noFill/>
          <a:ln/>
        </p:spPr>
        <p:txBody>
          <a:bodyPr wrap="square" lIns="0" tIns="0" rIns="0" bIns="0" rtlCol="0" anchor="ctr"/>
          <a:lstStyle/>
          <a:p>
            <a:pPr indent="0" marL="0">
              <a:buNone/>
            </a:pPr>
            <a:r>
              <a:rPr lang="en-US" sz="1500" b="1" dirty="0">
                <a:solidFill>
                  <a:srgbClr val="1F3A8A"/>
                </a:solidFill>
                <a:latin typeface="Calibri" pitchFamily="34" charset="0"/>
                <a:ea typeface="Calibri" pitchFamily="34" charset="-122"/>
                <a:cs typeface="Calibri" pitchFamily="34" charset="-120"/>
              </a:rPr>
              <a:t>41 min</a:t>
            </a:r>
            <a:endParaRPr lang="en-US" sz="1500" dirty="0"/>
          </a:p>
        </p:txBody>
      </p:sp>
      <p:sp>
        <p:nvSpPr>
          <p:cNvPr id="39" name="Text 37"/>
          <p:cNvSpPr txBox="1"/>
          <p:nvPr/>
        </p:nvSpPr>
        <p:spPr>
          <a:xfrm>
            <a:off x="7315200" y="3200400"/>
            <a:ext cx="1325880" cy="603504"/>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reconstruction complète de la recette</a:t>
            </a:r>
            <a:endParaRPr lang="en-US" sz="900" dirty="0"/>
          </a:p>
        </p:txBody>
      </p:sp>
      <p:sp>
        <p:nvSpPr>
          <p:cNvPr id="40" name="Shape 38"/>
          <p:cNvSpPr/>
          <p:nvPr/>
        </p:nvSpPr>
        <p:spPr>
          <a:xfrm>
            <a:off x="457200" y="3913632"/>
            <a:ext cx="2651760" cy="603504"/>
          </a:xfrm>
          <a:prstGeom prst="roundRect">
            <a:avLst>
              <a:gd name="adj" fmla="val 7576"/>
            </a:avLst>
          </a:prstGeom>
          <a:solidFill>
            <a:srgbClr val="F3F6FC"/>
          </a:solidFill>
          <a:ln w="9525">
            <a:solidFill>
              <a:srgbClr val="D5DBE8"/>
            </a:solidFill>
            <a:prstDash val="solid"/>
          </a:ln>
        </p:spPr>
      </p:sp>
      <p:sp>
        <p:nvSpPr>
          <p:cNvPr id="41" name="Text 39"/>
          <p:cNvSpPr txBox="1"/>
          <p:nvPr/>
        </p:nvSpPr>
        <p:spPr>
          <a:xfrm>
            <a:off x="548640" y="3913632"/>
            <a:ext cx="1143000" cy="603504"/>
          </a:xfrm>
          <a:prstGeom prst="rect">
            <a:avLst/>
          </a:prstGeom>
          <a:noFill/>
          <a:ln/>
        </p:spPr>
        <p:txBody>
          <a:bodyPr wrap="square" lIns="0" tIns="0" rIns="0" bIns="0" rtlCol="0" anchor="ctr"/>
          <a:lstStyle/>
          <a:p>
            <a:pPr indent="0" marL="0">
              <a:buNone/>
            </a:pPr>
            <a:r>
              <a:rPr lang="en-US" sz="1500" b="1" dirty="0">
                <a:solidFill>
                  <a:srgbClr val="1F3A8A"/>
                </a:solidFill>
                <a:latin typeface="Calibri" pitchFamily="34" charset="0"/>
                <a:ea typeface="Calibri" pitchFamily="34" charset="-122"/>
                <a:cs typeface="Calibri" pitchFamily="34" charset="-120"/>
              </a:rPr>
              <a:t>32 min 45 s</a:t>
            </a:r>
            <a:endParaRPr lang="en-US" sz="1500" dirty="0"/>
          </a:p>
        </p:txBody>
      </p:sp>
      <p:sp>
        <p:nvSpPr>
          <p:cNvPr id="42" name="Text 40"/>
          <p:cNvSpPr txBox="1"/>
          <p:nvPr/>
        </p:nvSpPr>
        <p:spPr>
          <a:xfrm>
            <a:off x="1737360" y="3913632"/>
            <a:ext cx="1325880" cy="603504"/>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RTO mesuré · RPO 0</a:t>
            </a:r>
            <a:endParaRPr lang="en-US" sz="900" dirty="0"/>
          </a:p>
        </p:txBody>
      </p:sp>
      <p:sp>
        <p:nvSpPr>
          <p:cNvPr id="43" name="Shape 41"/>
          <p:cNvSpPr/>
          <p:nvPr/>
        </p:nvSpPr>
        <p:spPr>
          <a:xfrm>
            <a:off x="3246120" y="3913632"/>
            <a:ext cx="2651760" cy="603504"/>
          </a:xfrm>
          <a:prstGeom prst="roundRect">
            <a:avLst>
              <a:gd name="adj" fmla="val 7576"/>
            </a:avLst>
          </a:prstGeom>
          <a:solidFill>
            <a:srgbClr val="F3F6FC"/>
          </a:solidFill>
          <a:ln w="9525">
            <a:solidFill>
              <a:srgbClr val="D5DBE8"/>
            </a:solidFill>
            <a:prstDash val="solid"/>
          </a:ln>
        </p:spPr>
      </p:sp>
      <p:sp>
        <p:nvSpPr>
          <p:cNvPr id="44" name="Text 42"/>
          <p:cNvSpPr txBox="1"/>
          <p:nvPr/>
        </p:nvSpPr>
        <p:spPr>
          <a:xfrm>
            <a:off x="3337560" y="3913632"/>
            <a:ext cx="1143000" cy="603504"/>
          </a:xfrm>
          <a:prstGeom prst="rect">
            <a:avLst/>
          </a:prstGeom>
          <a:noFill/>
          <a:ln/>
        </p:spPr>
        <p:txBody>
          <a:bodyPr wrap="square" lIns="0" tIns="0" rIns="0" bIns="0" rtlCol="0" anchor="ctr"/>
          <a:lstStyle/>
          <a:p>
            <a:pPr indent="0" marL="0">
              <a:buNone/>
            </a:pPr>
            <a:r>
              <a:rPr lang="en-US" sz="1500" b="1" dirty="0">
                <a:solidFill>
                  <a:srgbClr val="1F3A8A"/>
                </a:solidFill>
                <a:latin typeface="Calibri" pitchFamily="34" charset="0"/>
                <a:ea typeface="Calibri" pitchFamily="34" charset="-122"/>
                <a:cs typeface="Calibri" pitchFamily="34" charset="-120"/>
              </a:rPr>
              <a:t>11,6 s</a:t>
            </a:r>
            <a:endParaRPr lang="en-US" sz="1500" dirty="0"/>
          </a:p>
        </p:txBody>
      </p:sp>
      <p:sp>
        <p:nvSpPr>
          <p:cNvPr id="45" name="Text 43"/>
          <p:cNvSpPr txBox="1"/>
          <p:nvPr/>
        </p:nvSpPr>
        <p:spPr>
          <a:xfrm>
            <a:off x="4526280" y="3913632"/>
            <a:ext cx="1325880" cy="603504"/>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retour arrière applicatif</a:t>
            </a:r>
            <a:endParaRPr lang="en-US" sz="900" dirty="0"/>
          </a:p>
        </p:txBody>
      </p:sp>
      <p:sp>
        <p:nvSpPr>
          <p:cNvPr id="46" name="Shape 44"/>
          <p:cNvSpPr/>
          <p:nvPr/>
        </p:nvSpPr>
        <p:spPr>
          <a:xfrm>
            <a:off x="6035040" y="3913632"/>
            <a:ext cx="2651760" cy="603504"/>
          </a:xfrm>
          <a:prstGeom prst="roundRect">
            <a:avLst>
              <a:gd name="adj" fmla="val 7576"/>
            </a:avLst>
          </a:prstGeom>
          <a:solidFill>
            <a:srgbClr val="F3F6FC"/>
          </a:solidFill>
          <a:ln w="9525">
            <a:solidFill>
              <a:srgbClr val="D5DBE8"/>
            </a:solidFill>
            <a:prstDash val="solid"/>
          </a:ln>
        </p:spPr>
      </p:sp>
      <p:sp>
        <p:nvSpPr>
          <p:cNvPr id="47" name="Text 45"/>
          <p:cNvSpPr txBox="1"/>
          <p:nvPr/>
        </p:nvSpPr>
        <p:spPr>
          <a:xfrm>
            <a:off x="6126480" y="3913632"/>
            <a:ext cx="1143000" cy="603504"/>
          </a:xfrm>
          <a:prstGeom prst="rect">
            <a:avLst/>
          </a:prstGeom>
          <a:noFill/>
          <a:ln/>
        </p:spPr>
        <p:txBody>
          <a:bodyPr wrap="square" lIns="0" tIns="0" rIns="0" bIns="0" rtlCol="0" anchor="ctr"/>
          <a:lstStyle/>
          <a:p>
            <a:pPr indent="0" marL="0">
              <a:buNone/>
            </a:pPr>
            <a:r>
              <a:rPr lang="en-US" sz="1500" b="1" dirty="0">
                <a:solidFill>
                  <a:srgbClr val="1F3A8A"/>
                </a:solidFill>
                <a:latin typeface="Calibri" pitchFamily="34" charset="0"/>
                <a:ea typeface="Calibri" pitchFamily="34" charset="-122"/>
                <a:cs typeface="Calibri" pitchFamily="34" charset="-120"/>
              </a:rPr>
              <a:t>41 € / mois</a:t>
            </a:r>
            <a:endParaRPr lang="en-US" sz="1500" dirty="0"/>
          </a:p>
        </p:txBody>
      </p:sp>
      <p:sp>
        <p:nvSpPr>
          <p:cNvPr id="48" name="Text 46"/>
          <p:cNvSpPr txBox="1"/>
          <p:nvPr/>
        </p:nvSpPr>
        <p:spPr>
          <a:xfrm>
            <a:off x="7315200" y="3913632"/>
            <a:ext cx="1325880" cy="603504"/>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coût de la recette (3 postes fixes = 88 %)</a:t>
            </a:r>
            <a:endParaRPr lang="en-US" sz="900" dirty="0"/>
          </a:p>
        </p:txBody>
      </p:sp>
      <p:sp>
        <p:nvSpPr>
          <p:cNvPr id="49" name="Text 47"/>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50" name="Text 48"/>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95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DÉMONSTRATION VIDÉO — 5 MINUTES</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Trois scènes enregistrées sur l'environnement de recette</a:t>
            </a:r>
            <a:endParaRPr lang="en-US" sz="2400" dirty="0"/>
          </a:p>
        </p:txBody>
      </p:sp>
      <p:sp>
        <p:nvSpPr>
          <p:cNvPr id="6" name="Shape 4"/>
          <p:cNvSpPr/>
          <p:nvPr/>
        </p:nvSpPr>
        <p:spPr>
          <a:xfrm>
            <a:off x="0" y="0"/>
            <a:ext cx="9144000" cy="987552"/>
          </a:xfrm>
          <a:prstGeom prst="rect">
            <a:avLst/>
          </a:prstGeom>
          <a:solidFill>
            <a:srgbClr val="14295F"/>
          </a:solidFill>
          <a:ln w="12700">
            <a:solidFill>
              <a:srgbClr val="14295F"/>
            </a:solidFill>
            <a:prstDash val="solid"/>
          </a:ln>
        </p:spPr>
      </p:sp>
      <p:sp>
        <p:nvSpPr>
          <p:cNvPr id="7" name="Shape 5"/>
          <p:cNvSpPr/>
          <p:nvPr/>
        </p:nvSpPr>
        <p:spPr>
          <a:xfrm>
            <a:off x="457200" y="292608"/>
            <a:ext cx="457200" cy="384048"/>
          </a:xfrm>
          <a:prstGeom prst="roundRect">
            <a:avLst>
              <a:gd name="adj" fmla="val 19048"/>
            </a:avLst>
          </a:prstGeom>
          <a:solidFill>
            <a:srgbClr val="D98E1F"/>
          </a:solidFill>
          <a:ln w="12700">
            <a:solidFill>
              <a:srgbClr val="D98E1F"/>
            </a:solidFill>
            <a:prstDash val="solid"/>
          </a:ln>
        </p:spPr>
      </p:sp>
      <p:sp>
        <p:nvSpPr>
          <p:cNvPr id="8" name="Text 6"/>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9" name="Text 7"/>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AFC1E8"/>
                </a:solidFill>
                <a:latin typeface="Calibri" pitchFamily="34" charset="0"/>
                <a:ea typeface="Calibri" pitchFamily="34" charset="-122"/>
                <a:cs typeface="Calibri" pitchFamily="34" charset="-120"/>
              </a:rPr>
              <a:t>DÉMONSTRATION VIDÉO — 5 MINUTES</a:t>
            </a:r>
            <a:endParaRPr lang="en-US" sz="950" dirty="0"/>
          </a:p>
        </p:txBody>
      </p:sp>
      <p:sp>
        <p:nvSpPr>
          <p:cNvPr id="10" name="Text 8"/>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Trois scènes enregistrées sur l'environnement de recette</a:t>
            </a:r>
            <a:endParaRPr lang="en-US" sz="2400" dirty="0"/>
          </a:p>
        </p:txBody>
      </p:sp>
      <p:sp>
        <p:nvSpPr>
          <p:cNvPr id="11" name="Shape 9"/>
          <p:cNvSpPr/>
          <p:nvPr/>
        </p:nvSpPr>
        <p:spPr>
          <a:xfrm>
            <a:off x="457200" y="1188720"/>
            <a:ext cx="2651760" cy="2834640"/>
          </a:xfrm>
          <a:prstGeom prst="roundRect">
            <a:avLst>
              <a:gd name="adj" fmla="val 2069"/>
            </a:avLst>
          </a:prstGeom>
          <a:solidFill>
            <a:srgbClr val="1E3A8F"/>
          </a:solidFill>
          <a:ln w="9525">
            <a:solidFill>
              <a:srgbClr val="3D5BB5"/>
            </a:solidFill>
            <a:prstDash val="solid"/>
          </a:ln>
        </p:spPr>
      </p:sp>
      <p:sp>
        <p:nvSpPr>
          <p:cNvPr id="12" name="Text 10"/>
          <p:cNvSpPr txBox="1"/>
          <p:nvPr/>
        </p:nvSpPr>
        <p:spPr>
          <a:xfrm>
            <a:off x="594360" y="1298448"/>
            <a:ext cx="2377440" cy="256032"/>
          </a:xfrm>
          <a:prstGeom prst="rect">
            <a:avLst/>
          </a:prstGeom>
          <a:noFill/>
          <a:ln/>
        </p:spPr>
        <p:txBody>
          <a:bodyPr wrap="square" lIns="0" tIns="0" rIns="0" bIns="0" rtlCol="0" anchor="ctr"/>
          <a:lstStyle/>
          <a:p>
            <a:pPr indent="0" marL="0">
              <a:buNone/>
            </a:pPr>
            <a:r>
              <a:rPr lang="en-US" sz="1000" spc="150" kern="0" dirty="0">
                <a:solidFill>
                  <a:srgbClr val="AFC1E8"/>
                </a:solidFill>
                <a:latin typeface="Calibri" pitchFamily="34" charset="0"/>
                <a:ea typeface="Calibri" pitchFamily="34" charset="-122"/>
                <a:cs typeface="Calibri" pitchFamily="34" charset="-120"/>
              </a:rPr>
              <a:t>Scène 1</a:t>
            </a:r>
            <a:endParaRPr lang="en-US" sz="1000" dirty="0"/>
          </a:p>
        </p:txBody>
      </p:sp>
      <p:sp>
        <p:nvSpPr>
          <p:cNvPr id="13" name="Text 11"/>
          <p:cNvSpPr txBox="1"/>
          <p:nvPr/>
        </p:nvSpPr>
        <p:spPr>
          <a:xfrm>
            <a:off x="594360" y="1554480"/>
            <a:ext cx="2377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Chaîne d'attaque</a:t>
            </a:r>
            <a:endParaRPr lang="en-US" sz="1500" dirty="0"/>
          </a:p>
        </p:txBody>
      </p:sp>
      <p:sp>
        <p:nvSpPr>
          <p:cNvPr id="14" name="Text 12"/>
          <p:cNvSpPr txBox="1"/>
          <p:nvPr/>
        </p:nvSpPr>
        <p:spPr>
          <a:xfrm>
            <a:off x="594360" y="1965960"/>
            <a:ext cx="2377440" cy="128016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Treize charges depuis Kali vers l'API d'ELSON → 403 au bord → détections R6, R3, R2 → incident score 100 → verdict « Confirmé »</a:t>
            </a:r>
            <a:endParaRPr lang="en-US" sz="1050" dirty="0"/>
          </a:p>
        </p:txBody>
      </p:sp>
      <p:sp>
        <p:nvSpPr>
          <p:cNvPr id="15" name="Text 13"/>
          <p:cNvSpPr txBox="1"/>
          <p:nvPr/>
        </p:nvSpPr>
        <p:spPr>
          <a:xfrm>
            <a:off x="594360" y="3291840"/>
            <a:ext cx="2377440" cy="640080"/>
          </a:xfrm>
          <a:prstGeom prst="rect">
            <a:avLst/>
          </a:prstGeom>
          <a:noFill/>
          <a:ln/>
        </p:spPr>
        <p:txBody>
          <a:bodyPr wrap="square" lIns="0" tIns="0" rIns="0" bIns="0" rtlCol="0" anchor="t"/>
          <a:lstStyle/>
          <a:p>
            <a:pPr indent="0" marL="0">
              <a:buNone/>
            </a:pPr>
            <a:r>
              <a:rPr lang="en-US" sz="1000" i="1" dirty="0">
                <a:solidFill>
                  <a:srgbClr val="FBD38D"/>
                </a:solidFill>
                <a:latin typeface="Calibri" pitchFamily="34" charset="0"/>
                <a:ea typeface="Calibri" pitchFamily="34" charset="-122"/>
                <a:cs typeface="Calibri" pitchFamily="34" charset="-120"/>
              </a:rPr>
              <a:t>À observer : l'horodatage entre l'envoi et l'incident affiché</a:t>
            </a:r>
            <a:endParaRPr lang="en-US" sz="1000" dirty="0"/>
          </a:p>
        </p:txBody>
      </p:sp>
      <p:sp>
        <p:nvSpPr>
          <p:cNvPr id="16" name="Shape 14"/>
          <p:cNvSpPr/>
          <p:nvPr/>
        </p:nvSpPr>
        <p:spPr>
          <a:xfrm>
            <a:off x="3246120" y="1188720"/>
            <a:ext cx="2651760" cy="2834640"/>
          </a:xfrm>
          <a:prstGeom prst="roundRect">
            <a:avLst>
              <a:gd name="adj" fmla="val 2069"/>
            </a:avLst>
          </a:prstGeom>
          <a:solidFill>
            <a:srgbClr val="1E3A8F"/>
          </a:solidFill>
          <a:ln w="9525">
            <a:solidFill>
              <a:srgbClr val="3D5BB5"/>
            </a:solidFill>
            <a:prstDash val="solid"/>
          </a:ln>
        </p:spPr>
      </p:sp>
      <p:sp>
        <p:nvSpPr>
          <p:cNvPr id="17" name="Text 15"/>
          <p:cNvSpPr txBox="1"/>
          <p:nvPr/>
        </p:nvSpPr>
        <p:spPr>
          <a:xfrm>
            <a:off x="3383280" y="1298448"/>
            <a:ext cx="2377440" cy="256032"/>
          </a:xfrm>
          <a:prstGeom prst="rect">
            <a:avLst/>
          </a:prstGeom>
          <a:noFill/>
          <a:ln/>
        </p:spPr>
        <p:txBody>
          <a:bodyPr wrap="square" lIns="0" tIns="0" rIns="0" bIns="0" rtlCol="0" anchor="ctr"/>
          <a:lstStyle/>
          <a:p>
            <a:pPr indent="0" marL="0">
              <a:buNone/>
            </a:pPr>
            <a:r>
              <a:rPr lang="en-US" sz="1000" spc="150" kern="0" dirty="0">
                <a:solidFill>
                  <a:srgbClr val="AFC1E8"/>
                </a:solidFill>
                <a:latin typeface="Calibri" pitchFamily="34" charset="0"/>
                <a:ea typeface="Calibri" pitchFamily="34" charset="-122"/>
                <a:cs typeface="Calibri" pitchFamily="34" charset="-120"/>
              </a:rPr>
              <a:t>Scène 2</a:t>
            </a:r>
            <a:endParaRPr lang="en-US" sz="1000" dirty="0"/>
          </a:p>
        </p:txBody>
      </p:sp>
      <p:sp>
        <p:nvSpPr>
          <p:cNvPr id="18" name="Text 16"/>
          <p:cNvSpPr txBox="1"/>
          <p:nvPr/>
        </p:nvSpPr>
        <p:spPr>
          <a:xfrm>
            <a:off x="3383280" y="1554480"/>
            <a:ext cx="2377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Protection Zero Trust</a:t>
            </a:r>
            <a:endParaRPr lang="en-US" sz="1500" dirty="0"/>
          </a:p>
        </p:txBody>
      </p:sp>
      <p:sp>
        <p:nvSpPr>
          <p:cNvPr id="19" name="Text 17"/>
          <p:cNvSpPr txBox="1"/>
          <p:nvPr/>
        </p:nvSpPr>
        <p:spPr>
          <a:xfrm>
            <a:off x="3383280" y="1965960"/>
            <a:ext cx="2377440" cy="128016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Jeton intermédiaire refusé sur une route métier · connexion directe à la base impossible · accès croisé d'une identité refusé</a:t>
            </a:r>
            <a:endParaRPr lang="en-US" sz="1050" dirty="0"/>
          </a:p>
        </p:txBody>
      </p:sp>
      <p:sp>
        <p:nvSpPr>
          <p:cNvPr id="20" name="Text 18"/>
          <p:cNvSpPr txBox="1"/>
          <p:nvPr/>
        </p:nvSpPr>
        <p:spPr>
          <a:xfrm>
            <a:off x="3383280" y="3291840"/>
            <a:ext cx="2377440" cy="640080"/>
          </a:xfrm>
          <a:prstGeom prst="rect">
            <a:avLst/>
          </a:prstGeom>
          <a:noFill/>
          <a:ln/>
        </p:spPr>
        <p:txBody>
          <a:bodyPr wrap="square" lIns="0" tIns="0" rIns="0" bIns="0" rtlCol="0" anchor="t"/>
          <a:lstStyle/>
          <a:p>
            <a:pPr indent="0" marL="0">
              <a:buNone/>
            </a:pPr>
            <a:r>
              <a:rPr lang="en-US" sz="1000" i="1" dirty="0">
                <a:solidFill>
                  <a:srgbClr val="FBD38D"/>
                </a:solidFill>
                <a:latin typeface="Calibri" pitchFamily="34" charset="0"/>
                <a:ea typeface="Calibri" pitchFamily="34" charset="-122"/>
                <a:cs typeface="Calibri" pitchFamily="34" charset="-120"/>
              </a:rPr>
              <a:t>À observer : le refus vient de l'identité, pas du réseau</a:t>
            </a:r>
            <a:endParaRPr lang="en-US" sz="1000" dirty="0"/>
          </a:p>
        </p:txBody>
      </p:sp>
      <p:sp>
        <p:nvSpPr>
          <p:cNvPr id="21" name="Shape 19"/>
          <p:cNvSpPr/>
          <p:nvPr/>
        </p:nvSpPr>
        <p:spPr>
          <a:xfrm>
            <a:off x="6035040" y="1188720"/>
            <a:ext cx="2651760" cy="2834640"/>
          </a:xfrm>
          <a:prstGeom prst="roundRect">
            <a:avLst>
              <a:gd name="adj" fmla="val 2069"/>
            </a:avLst>
          </a:prstGeom>
          <a:solidFill>
            <a:srgbClr val="1E3A8F"/>
          </a:solidFill>
          <a:ln w="9525">
            <a:solidFill>
              <a:srgbClr val="3D5BB5"/>
            </a:solidFill>
            <a:prstDash val="solid"/>
          </a:ln>
        </p:spPr>
      </p:sp>
      <p:sp>
        <p:nvSpPr>
          <p:cNvPr id="22" name="Text 20"/>
          <p:cNvSpPr txBox="1"/>
          <p:nvPr/>
        </p:nvSpPr>
        <p:spPr>
          <a:xfrm>
            <a:off x="6172200" y="1298448"/>
            <a:ext cx="2377440" cy="256032"/>
          </a:xfrm>
          <a:prstGeom prst="rect">
            <a:avLst/>
          </a:prstGeom>
          <a:noFill/>
          <a:ln/>
        </p:spPr>
        <p:txBody>
          <a:bodyPr wrap="square" lIns="0" tIns="0" rIns="0" bIns="0" rtlCol="0" anchor="ctr"/>
          <a:lstStyle/>
          <a:p>
            <a:pPr indent="0" marL="0">
              <a:buNone/>
            </a:pPr>
            <a:r>
              <a:rPr lang="en-US" sz="1000" spc="150" kern="0" dirty="0">
                <a:solidFill>
                  <a:srgbClr val="AFC1E8"/>
                </a:solidFill>
                <a:latin typeface="Calibri" pitchFamily="34" charset="0"/>
                <a:ea typeface="Calibri" pitchFamily="34" charset="-122"/>
                <a:cs typeface="Calibri" pitchFamily="34" charset="-120"/>
              </a:rPr>
              <a:t>Scène 3</a:t>
            </a:r>
            <a:endParaRPr lang="en-US" sz="1000" dirty="0"/>
          </a:p>
        </p:txBody>
      </p:sp>
      <p:sp>
        <p:nvSpPr>
          <p:cNvPr id="23" name="Text 21"/>
          <p:cNvSpPr txBox="1"/>
          <p:nvPr/>
        </p:nvSpPr>
        <p:spPr>
          <a:xfrm>
            <a:off x="6172200" y="1554480"/>
            <a:ext cx="237744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Chaîne DevSecOps</a:t>
            </a:r>
            <a:endParaRPr lang="en-US" sz="1500" dirty="0"/>
          </a:p>
        </p:txBody>
      </p:sp>
      <p:sp>
        <p:nvSpPr>
          <p:cNvPr id="24" name="Text 22"/>
          <p:cNvSpPr txBox="1"/>
          <p:nvPr/>
        </p:nvSpPr>
        <p:spPr>
          <a:xfrm>
            <a:off x="6172200" y="1965960"/>
            <a:ext cx="2377440" cy="128016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Demande de fusion bloquée par une porte (Trivy, CVE critique) → correction → chaîne verte → déploiement par empreinte</a:t>
            </a:r>
            <a:endParaRPr lang="en-US" sz="1050" dirty="0"/>
          </a:p>
        </p:txBody>
      </p:sp>
      <p:sp>
        <p:nvSpPr>
          <p:cNvPr id="25" name="Text 23"/>
          <p:cNvSpPr txBox="1"/>
          <p:nvPr/>
        </p:nvSpPr>
        <p:spPr>
          <a:xfrm>
            <a:off x="6172200" y="3291840"/>
            <a:ext cx="2377440" cy="640080"/>
          </a:xfrm>
          <a:prstGeom prst="rect">
            <a:avLst/>
          </a:prstGeom>
          <a:noFill/>
          <a:ln/>
        </p:spPr>
        <p:txBody>
          <a:bodyPr wrap="square" lIns="0" tIns="0" rIns="0" bIns="0" rtlCol="0" anchor="t"/>
          <a:lstStyle/>
          <a:p>
            <a:pPr indent="0" marL="0">
              <a:buNone/>
            </a:pPr>
            <a:r>
              <a:rPr lang="en-US" sz="1000" i="1" dirty="0">
                <a:solidFill>
                  <a:srgbClr val="FBD38D"/>
                </a:solidFill>
                <a:latin typeface="Calibri" pitchFamily="34" charset="0"/>
                <a:ea typeface="Calibri" pitchFamily="34" charset="-122"/>
                <a:cs typeface="Calibri" pitchFamily="34" charset="-120"/>
              </a:rPr>
              <a:t>À observer : rien n'est publié tant qu'une porte est rouge</a:t>
            </a:r>
            <a:endParaRPr lang="en-US" sz="1000" dirty="0"/>
          </a:p>
        </p:txBody>
      </p:sp>
      <p:sp>
        <p:nvSpPr>
          <p:cNvPr id="26" name="Text 24"/>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000" i="1" dirty="0">
                <a:solidFill>
                  <a:srgbClr val="AFC1E8"/>
                </a:solidFill>
                <a:latin typeface="Calibri" pitchFamily="34" charset="0"/>
                <a:ea typeface="Calibri" pitchFamily="34" charset="-122"/>
                <a:cs typeface="Calibri" pitchFamily="34" charset="-120"/>
              </a:rPr>
              <a:t>La vidéo remplace la démonstration en direct pour garantir le temps de soutenance ; l'environnement reste disponible pour les questions.</a:t>
            </a:r>
            <a:endParaRPr lang="en-US" sz="1000" dirty="0"/>
          </a:p>
        </p:txBody>
      </p:sp>
      <p:sp>
        <p:nvSpPr>
          <p:cNvPr id="27" name="Text 25"/>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AFC1E8"/>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28" name="Text 26"/>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AFC1E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92608"/>
            <a:ext cx="457200" cy="384048"/>
          </a:xfrm>
          <a:prstGeom prst="roundRect">
            <a:avLst>
              <a:gd name="adj" fmla="val 19048"/>
            </a:avLst>
          </a:prstGeom>
          <a:solidFill>
            <a:srgbClr val="1F3A8A"/>
          </a:solidFill>
          <a:ln w="12700">
            <a:solidFill>
              <a:srgbClr val="1F3A8A"/>
            </a:solidFill>
            <a:prstDash val="solid"/>
          </a:ln>
        </p:spPr>
      </p:sp>
      <p:sp>
        <p:nvSpPr>
          <p:cNvPr id="3" name="Text 1"/>
          <p:cNvSpPr txBox="1"/>
          <p:nvPr/>
        </p:nvSpPr>
        <p:spPr>
          <a:xfrm>
            <a:off x="457200" y="292608"/>
            <a:ext cx="457200" cy="38404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11</a:t>
            </a:r>
            <a:endParaRPr lang="en-US" sz="1600" dirty="0"/>
          </a:p>
        </p:txBody>
      </p:sp>
      <p:sp>
        <p:nvSpPr>
          <p:cNvPr id="4" name="Text 2"/>
          <p:cNvSpPr txBox="1"/>
          <p:nvPr/>
        </p:nvSpPr>
        <p:spPr>
          <a:xfrm>
            <a:off x="1005840" y="256032"/>
            <a:ext cx="7680960" cy="219456"/>
          </a:xfrm>
          <a:prstGeom prst="rect">
            <a:avLst/>
          </a:prstGeom>
          <a:noFill/>
          <a:ln/>
        </p:spPr>
        <p:txBody>
          <a:bodyPr wrap="square" lIns="0" tIns="0" rIns="0" bIns="0" rtlCol="0" anchor="ctr"/>
          <a:lstStyle/>
          <a:p>
            <a:pPr indent="0" marL="0">
              <a:buNone/>
            </a:pPr>
            <a:r>
              <a:rPr lang="en-US" sz="950" spc="200" kern="0" dirty="0">
                <a:solidFill>
                  <a:srgbClr val="6B7280"/>
                </a:solidFill>
                <a:latin typeface="Calibri" pitchFamily="34" charset="0"/>
                <a:ea typeface="Calibri" pitchFamily="34" charset="-122"/>
                <a:cs typeface="Calibri" pitchFamily="34" charset="-120"/>
              </a:rPr>
              <a:t>PERSPECTIVES</a:t>
            </a:r>
            <a:endParaRPr lang="en-US" sz="950" dirty="0"/>
          </a:p>
        </p:txBody>
      </p:sp>
      <p:sp>
        <p:nvSpPr>
          <p:cNvPr id="5" name="Text 3"/>
          <p:cNvSpPr txBox="1"/>
          <p:nvPr/>
        </p:nvSpPr>
        <p:spPr>
          <a:xfrm>
            <a:off x="1005840" y="457200"/>
            <a:ext cx="7680960" cy="457200"/>
          </a:xfrm>
          <a:prstGeom prst="rect">
            <a:avLst/>
          </a:prstGeom>
          <a:noFill/>
          <a:ln/>
        </p:spPr>
        <p:txBody>
          <a:bodyPr wrap="square" lIns="0" tIns="0" rIns="0" bIns="0" rtlCol="0" anchor="ctr"/>
          <a:lstStyle/>
          <a:p>
            <a:pPr indent="0" marL="0">
              <a:buNone/>
            </a:pPr>
            <a:r>
              <a:rPr lang="en-US" sz="2400" b="1" dirty="0">
                <a:solidFill>
                  <a:srgbClr val="1F3A8A"/>
                </a:solidFill>
                <a:latin typeface="Calibri" pitchFamily="34" charset="0"/>
                <a:ea typeface="Calibri" pitchFamily="34" charset="-122"/>
                <a:cs typeface="Calibri" pitchFamily="34" charset="-120"/>
              </a:rPr>
              <a:t>Ce qui est démontré, ce qui reste à faire</a:t>
            </a:r>
            <a:endParaRPr lang="en-US" sz="2400" dirty="0"/>
          </a:p>
        </p:txBody>
      </p:sp>
      <p:sp>
        <p:nvSpPr>
          <p:cNvPr id="6" name="Shape 4"/>
          <p:cNvSpPr/>
          <p:nvPr/>
        </p:nvSpPr>
        <p:spPr>
          <a:xfrm>
            <a:off x="457200" y="1051560"/>
            <a:ext cx="3931920" cy="1783080"/>
          </a:xfrm>
          <a:prstGeom prst="roundRect">
            <a:avLst>
              <a:gd name="adj" fmla="val 3077"/>
            </a:avLst>
          </a:prstGeom>
          <a:solidFill>
            <a:srgbClr val="F3F6FC"/>
          </a:solidFill>
          <a:ln w="9525">
            <a:solidFill>
              <a:srgbClr val="D5DBE8"/>
            </a:solidFill>
            <a:prstDash val="solid"/>
          </a:ln>
        </p:spPr>
      </p:sp>
      <p:sp>
        <p:nvSpPr>
          <p:cNvPr id="7" name="Text 5"/>
          <p:cNvSpPr txBox="1"/>
          <p:nvPr/>
        </p:nvSpPr>
        <p:spPr>
          <a:xfrm>
            <a:off x="594360" y="1143000"/>
            <a:ext cx="365760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Ce que le socle démontre aujourd'hui</a:t>
            </a:r>
            <a:endParaRPr lang="en-US" sz="1300" dirty="0"/>
          </a:p>
        </p:txBody>
      </p:sp>
      <p:sp>
        <p:nvSpPr>
          <p:cNvPr id="8" name="Text 6"/>
          <p:cNvSpPr txBox="1"/>
          <p:nvPr/>
        </p:nvSpPr>
        <p:spPr>
          <a:xfrm>
            <a:off x="594360" y="1463040"/>
            <a:ext cx="3657600" cy="1280160"/>
          </a:xfrm>
          <a:prstGeom prst="rect">
            <a:avLst/>
          </a:prstGeom>
          <a:noFill/>
          <a:ln/>
        </p:spPr>
        <p:txBody>
          <a:bodyPr wrap="square" lIns="0" tIns="0" rIns="0" bIns="0" rtlCol="0" anchor="t"/>
          <a:lstStyle/>
          <a:p>
            <a:pPr marL="127000" indent="-1270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Une plateforme Zero Trust et DevSecOps exploitée par une personne pour 41 € par mois</a:t>
            </a:r>
            <a:endParaRPr lang="en-US" sz="1000" dirty="0"/>
          </a:p>
          <a:p>
            <a:pPr marL="127000" indent="-1270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Douze exigences vérifiées par douze tests à preuve datée et hiérarchisée</a:t>
            </a:r>
            <a:endParaRPr lang="en-US" sz="1000" dirty="0"/>
          </a:p>
          <a:p>
            <a:pPr marL="127000" indent="-1270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ELSON servie avec sa base, son identité et ses secrets propres ; la prochaine application s'ajoute par paramétrage</a:t>
            </a:r>
            <a:endParaRPr lang="en-US" sz="1000" dirty="0"/>
          </a:p>
          <a:p>
            <a:pPr marL="127000" indent="-127000">
              <a:spcAft>
                <a:spcPts val="300"/>
              </a:spcAft>
              <a:buSzPct val="100000"/>
              <a:buChar char="•"/>
            </a:pPr>
            <a:r>
              <a:rPr lang="en-US" sz="1000" dirty="0">
                <a:solidFill>
                  <a:srgbClr val="1F2937"/>
                </a:solidFill>
                <a:latin typeface="Calibri" pitchFamily="34" charset="0"/>
                <a:ea typeface="Calibri" pitchFamily="34" charset="-122"/>
                <a:cs typeface="Calibri" pitchFamily="34" charset="-120"/>
              </a:rPr>
              <a:t>Un incident affiché en 2 min 05 s après l'attaque</a:t>
            </a:r>
            <a:endParaRPr lang="en-US" sz="1000" dirty="0"/>
          </a:p>
        </p:txBody>
      </p:sp>
      <p:sp>
        <p:nvSpPr>
          <p:cNvPr id="9" name="Shape 7"/>
          <p:cNvSpPr/>
          <p:nvPr/>
        </p:nvSpPr>
        <p:spPr>
          <a:xfrm>
            <a:off x="457200" y="2971800"/>
            <a:ext cx="3931920" cy="1600200"/>
          </a:xfrm>
          <a:prstGeom prst="roundRect">
            <a:avLst>
              <a:gd name="adj" fmla="val 3429"/>
            </a:avLst>
          </a:prstGeom>
          <a:solidFill>
            <a:srgbClr val="FFFFFF"/>
          </a:solidFill>
          <a:ln w="9525">
            <a:solidFill>
              <a:srgbClr val="D5DBE8"/>
            </a:solidFill>
            <a:prstDash val="solid"/>
          </a:ln>
        </p:spPr>
      </p:sp>
      <p:sp>
        <p:nvSpPr>
          <p:cNvPr id="10" name="Text 8"/>
          <p:cNvSpPr txBox="1"/>
          <p:nvPr/>
        </p:nvSpPr>
        <p:spPr>
          <a:xfrm>
            <a:off x="594360" y="3063240"/>
            <a:ext cx="3657600" cy="292608"/>
          </a:xfrm>
          <a:prstGeom prst="rect">
            <a:avLst/>
          </a:prstGeom>
          <a:noFill/>
          <a:ln/>
        </p:spPr>
        <p:txBody>
          <a:bodyPr wrap="square" lIns="0" tIns="0" rIns="0" bIns="0" rtlCol="0" anchor="ctr"/>
          <a:lstStyle/>
          <a:p>
            <a:pPr indent="0" marL="0">
              <a:buNone/>
            </a:pPr>
            <a:r>
              <a:rPr lang="en-US" sz="1300" b="1" dirty="0">
                <a:solidFill>
                  <a:srgbClr val="1F3A8A"/>
                </a:solidFill>
                <a:latin typeface="Calibri" pitchFamily="34" charset="0"/>
                <a:ea typeface="Calibri" pitchFamily="34" charset="-122"/>
                <a:cs typeface="Calibri" pitchFamily="34" charset="-120"/>
              </a:rPr>
              <a:t>Plan d'amélioration (revue du 08/09)</a:t>
            </a:r>
            <a:endParaRPr lang="en-US" sz="1300" dirty="0"/>
          </a:p>
        </p:txBody>
      </p:sp>
      <p:sp>
        <p:nvSpPr>
          <p:cNvPr id="11" name="Text 9"/>
          <p:cNvSpPr txBox="1"/>
          <p:nvPr/>
        </p:nvSpPr>
        <p:spPr>
          <a:xfrm>
            <a:off x="594360" y="3383280"/>
            <a:ext cx="3657600" cy="1097280"/>
          </a:xfrm>
          <a:prstGeom prst="rect">
            <a:avLst/>
          </a:prstGeom>
          <a:noFill/>
          <a:ln/>
        </p:spPr>
        <p:txBody>
          <a:bodyPr wrap="square" lIns="0" tIns="0" rIns="0" bIns="0" rtlCol="0" anchor="t"/>
          <a:lstStyle/>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Retirer les droits hérités sans usage (rôle Éditeur du compte par défaut, lecture résiduelle du tableau de bord)</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Chronométrer l'alerte d'absence de journaux (clore T11) ; étendre l'alerte de dérive (clore T6)</a:t>
            </a:r>
            <a:endParaRPr lang="en-US" sz="950" dirty="0"/>
          </a:p>
          <a:p>
            <a:pPr marL="127000" indent="-127000">
              <a:spcAft>
                <a:spcPts val="300"/>
              </a:spcAft>
              <a:buSzPct val="100000"/>
              <a:buChar char="•"/>
            </a:pPr>
            <a:r>
              <a:rPr lang="en-US" sz="950" dirty="0">
                <a:solidFill>
                  <a:srgbClr val="1F2937"/>
                </a:solidFill>
                <a:latin typeface="Calibri" pitchFamily="34" charset="0"/>
                <a:ea typeface="Calibri" pitchFamily="34" charset="-122"/>
                <a:cs typeface="Calibri" pitchFamily="34" charset="-120"/>
              </a:rPr>
              <a:t>Lire les journaux de flux du VPC ; signer les images à la publication</a:t>
            </a:r>
            <a:endParaRPr lang="en-US" sz="950" dirty="0"/>
          </a:p>
        </p:txBody>
      </p:sp>
      <p:sp>
        <p:nvSpPr>
          <p:cNvPr id="12" name="Text 10"/>
          <p:cNvSpPr txBox="1"/>
          <p:nvPr/>
        </p:nvSpPr>
        <p:spPr>
          <a:xfrm>
            <a:off x="4663440" y="1051560"/>
            <a:ext cx="4023360" cy="274320"/>
          </a:xfrm>
          <a:prstGeom prst="rect">
            <a:avLst/>
          </a:prstGeom>
          <a:noFill/>
          <a:ln/>
        </p:spPr>
        <p:txBody>
          <a:bodyPr wrap="square" lIns="0" tIns="0" rIns="0" bIns="0" rtlCol="0" anchor="ctr"/>
          <a:lstStyle/>
          <a:p>
            <a:pPr indent="0" marL="0">
              <a:buNone/>
            </a:pPr>
            <a:r>
              <a:rPr lang="en-US" sz="1200" b="1" dirty="0">
                <a:solidFill>
                  <a:srgbClr val="1F3A8A"/>
                </a:solidFill>
                <a:latin typeface="Calibri" pitchFamily="34" charset="0"/>
                <a:ea typeface="Calibri" pitchFamily="34" charset="-122"/>
                <a:cs typeface="Calibri" pitchFamily="34" charset="-120"/>
              </a:rPr>
              <a:t>Trois seuils vers un service commercialisable</a:t>
            </a:r>
            <a:endParaRPr lang="en-US" sz="1200" dirty="0"/>
          </a:p>
        </p:txBody>
      </p:sp>
      <p:sp>
        <p:nvSpPr>
          <p:cNvPr id="13" name="Shape 11"/>
          <p:cNvSpPr/>
          <p:nvPr/>
        </p:nvSpPr>
        <p:spPr>
          <a:xfrm>
            <a:off x="4663440" y="1417320"/>
            <a:ext cx="457200" cy="658368"/>
          </a:xfrm>
          <a:prstGeom prst="roundRect">
            <a:avLst>
              <a:gd name="adj" fmla="val 10000"/>
            </a:avLst>
          </a:prstGeom>
          <a:solidFill>
            <a:srgbClr val="1F3A8A"/>
          </a:solidFill>
          <a:ln w="12700">
            <a:solidFill>
              <a:srgbClr val="1F3A8A"/>
            </a:solidFill>
            <a:prstDash val="solid"/>
          </a:ln>
        </p:spPr>
      </p:sp>
      <p:sp>
        <p:nvSpPr>
          <p:cNvPr id="14" name="Text 12"/>
          <p:cNvSpPr txBox="1"/>
          <p:nvPr/>
        </p:nvSpPr>
        <p:spPr>
          <a:xfrm>
            <a:off x="4663440" y="1417320"/>
            <a:ext cx="457200"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5" name="Text 13"/>
          <p:cNvSpPr txBox="1"/>
          <p:nvPr/>
        </p:nvSpPr>
        <p:spPr>
          <a:xfrm>
            <a:off x="5212080" y="1417320"/>
            <a:ext cx="3474720" cy="658368"/>
          </a:xfrm>
          <a:prstGeom prst="rect">
            <a:avLst/>
          </a:prstGeom>
          <a:noFill/>
          <a:ln/>
        </p:spPr>
        <p:txBody>
          <a:bodyPr wrap="square" lIns="0" tIns="0" rIns="0" bIns="0" rtlCol="0" anchor="ctr"/>
          <a:lstStyle/>
          <a:p>
            <a:pPr indent="0" marL="0">
              <a:buNone/>
            </a:pPr>
            <a:r>
              <a:rPr lang="en-US" sz="1000" b="1" dirty="0">
                <a:solidFill>
                  <a:srgbClr val="1F3A8A"/>
                </a:solidFill>
                <a:latin typeface="Calibri" pitchFamily="34" charset="0"/>
                <a:ea typeface="Calibri" pitchFamily="34" charset="-122"/>
                <a:cs typeface="Calibri" pitchFamily="34" charset="-120"/>
              </a:rPr>
              <a:t>Alerter réellement</a:t>
            </a:r>
            <a:endParaRPr lang="en-US" sz="1000" dirty="0"/>
          </a:p>
          <a:p>
            <a:pPr indent="0" marL="0">
              <a:buNone/>
            </a:pPr>
            <a:r>
              <a:rPr lang="en-US" sz="1000" dirty="0">
                <a:solidFill>
                  <a:srgbClr val="1F2937"/>
                </a:solidFill>
                <a:latin typeface="Calibri" pitchFamily="34" charset="0"/>
                <a:ea typeface="Calibri" pitchFamily="34" charset="-122"/>
                <a:cs typeface="Calibri" pitchFamily="34" charset="-120"/>
              </a:rPr>
              <a:t>notification vers une personne d'astreinte, avec accusé de prise en charge</a:t>
            </a:r>
            <a:endParaRPr lang="en-US" sz="1000" dirty="0"/>
          </a:p>
        </p:txBody>
      </p:sp>
      <p:sp>
        <p:nvSpPr>
          <p:cNvPr id="16" name="Shape 14"/>
          <p:cNvSpPr/>
          <p:nvPr/>
        </p:nvSpPr>
        <p:spPr>
          <a:xfrm>
            <a:off x="4663440" y="2194560"/>
            <a:ext cx="457200" cy="658368"/>
          </a:xfrm>
          <a:prstGeom prst="roundRect">
            <a:avLst>
              <a:gd name="adj" fmla="val 10000"/>
            </a:avLst>
          </a:prstGeom>
          <a:solidFill>
            <a:srgbClr val="1F3A8A"/>
          </a:solidFill>
          <a:ln w="12700">
            <a:solidFill>
              <a:srgbClr val="1F3A8A"/>
            </a:solidFill>
            <a:prstDash val="solid"/>
          </a:ln>
        </p:spPr>
      </p:sp>
      <p:sp>
        <p:nvSpPr>
          <p:cNvPr id="17" name="Text 15"/>
          <p:cNvSpPr txBox="1"/>
          <p:nvPr/>
        </p:nvSpPr>
        <p:spPr>
          <a:xfrm>
            <a:off x="4663440" y="2194560"/>
            <a:ext cx="457200"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8" name="Text 16"/>
          <p:cNvSpPr txBox="1"/>
          <p:nvPr/>
        </p:nvSpPr>
        <p:spPr>
          <a:xfrm>
            <a:off x="5212080" y="2194560"/>
            <a:ext cx="3474720" cy="658368"/>
          </a:xfrm>
          <a:prstGeom prst="rect">
            <a:avLst/>
          </a:prstGeom>
          <a:noFill/>
          <a:ln/>
        </p:spPr>
        <p:txBody>
          <a:bodyPr wrap="square" lIns="0" tIns="0" rIns="0" bIns="0" rtlCol="0" anchor="ctr"/>
          <a:lstStyle/>
          <a:p>
            <a:pPr indent="0" marL="0">
              <a:buNone/>
            </a:pPr>
            <a:r>
              <a:rPr lang="en-US" sz="1000" b="1" dirty="0">
                <a:solidFill>
                  <a:srgbClr val="1F3A8A"/>
                </a:solidFill>
                <a:latin typeface="Calibri" pitchFamily="34" charset="0"/>
                <a:ea typeface="Calibri" pitchFamily="34" charset="-122"/>
                <a:cs typeface="Calibri" pitchFamily="34" charset="-120"/>
              </a:rPr>
              <a:t>S'engager par écrit</a:t>
            </a:r>
            <a:endParaRPr lang="en-US" sz="1000" dirty="0"/>
          </a:p>
          <a:p>
            <a:pPr indent="0" marL="0">
              <a:buNone/>
            </a:pPr>
            <a:r>
              <a:rPr lang="en-US" sz="1000" dirty="0">
                <a:solidFill>
                  <a:srgbClr val="1F2937"/>
                </a:solidFill>
                <a:latin typeface="Calibri" pitchFamily="34" charset="0"/>
                <a:ea typeface="Calibri" pitchFamily="34" charset="-122"/>
                <a:cs typeface="Calibri" pitchFamily="34" charset="-120"/>
              </a:rPr>
              <a:t>disponibilité, procédure d'incident, frontière de responsabilité ; haute disponibilité de la base en production (≈ 55 €)</a:t>
            </a:r>
            <a:endParaRPr lang="en-US" sz="1000" dirty="0"/>
          </a:p>
        </p:txBody>
      </p:sp>
      <p:sp>
        <p:nvSpPr>
          <p:cNvPr id="19" name="Shape 17"/>
          <p:cNvSpPr/>
          <p:nvPr/>
        </p:nvSpPr>
        <p:spPr>
          <a:xfrm>
            <a:off x="4663440" y="2971800"/>
            <a:ext cx="457200" cy="658368"/>
          </a:xfrm>
          <a:prstGeom prst="roundRect">
            <a:avLst>
              <a:gd name="adj" fmla="val 10000"/>
            </a:avLst>
          </a:prstGeom>
          <a:solidFill>
            <a:srgbClr val="1F3A8A"/>
          </a:solidFill>
          <a:ln w="12700">
            <a:solidFill>
              <a:srgbClr val="1F3A8A"/>
            </a:solidFill>
            <a:prstDash val="solid"/>
          </a:ln>
        </p:spPr>
      </p:sp>
      <p:sp>
        <p:nvSpPr>
          <p:cNvPr id="20" name="Text 18"/>
          <p:cNvSpPr txBox="1"/>
          <p:nvPr/>
        </p:nvSpPr>
        <p:spPr>
          <a:xfrm>
            <a:off x="4663440" y="2971800"/>
            <a:ext cx="457200" cy="658368"/>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1" name="Text 19"/>
          <p:cNvSpPr txBox="1"/>
          <p:nvPr/>
        </p:nvSpPr>
        <p:spPr>
          <a:xfrm>
            <a:off x="5212080" y="2971800"/>
            <a:ext cx="3474720" cy="658368"/>
          </a:xfrm>
          <a:prstGeom prst="rect">
            <a:avLst/>
          </a:prstGeom>
          <a:noFill/>
          <a:ln/>
        </p:spPr>
        <p:txBody>
          <a:bodyPr wrap="square" lIns="0" tIns="0" rIns="0" bIns="0" rtlCol="0" anchor="ctr"/>
          <a:lstStyle/>
          <a:p>
            <a:pPr indent="0" marL="0">
              <a:buNone/>
            </a:pPr>
            <a:r>
              <a:rPr lang="en-US" sz="1000" b="1" dirty="0">
                <a:solidFill>
                  <a:srgbClr val="1F3A8A"/>
                </a:solidFill>
                <a:latin typeface="Calibri" pitchFamily="34" charset="0"/>
                <a:ea typeface="Calibri" pitchFamily="34" charset="-122"/>
                <a:cs typeface="Calibri" pitchFamily="34" charset="-120"/>
              </a:rPr>
              <a:t>Cloisonner jusqu'au bout</a:t>
            </a:r>
            <a:endParaRPr lang="en-US" sz="1000" dirty="0"/>
          </a:p>
          <a:p>
            <a:pPr indent="0" marL="0">
              <a:buNone/>
            </a:pPr>
            <a:r>
              <a:rPr lang="en-US" sz="1000" dirty="0">
                <a:solidFill>
                  <a:srgbClr val="1F2937"/>
                </a:solidFill>
                <a:latin typeface="Calibri" pitchFamily="34" charset="0"/>
                <a:ea typeface="Calibri" pitchFamily="34" charset="-122"/>
                <a:cs typeface="Calibri" pitchFamily="34" charset="-120"/>
              </a:rPr>
              <a:t>stockage d'objets par application, rétention verrouillée des journaux d'audit</a:t>
            </a:r>
            <a:endParaRPr lang="en-US" sz="1000" dirty="0"/>
          </a:p>
        </p:txBody>
      </p:sp>
      <p:sp>
        <p:nvSpPr>
          <p:cNvPr id="22" name="Shape 20"/>
          <p:cNvSpPr/>
          <p:nvPr/>
        </p:nvSpPr>
        <p:spPr>
          <a:xfrm>
            <a:off x="4663440" y="3840480"/>
            <a:ext cx="4023360" cy="731520"/>
          </a:xfrm>
          <a:prstGeom prst="roundRect">
            <a:avLst>
              <a:gd name="adj" fmla="val 7500"/>
            </a:avLst>
          </a:prstGeom>
          <a:solidFill>
            <a:srgbClr val="1F3A8A"/>
          </a:solidFill>
          <a:ln w="12700">
            <a:solidFill>
              <a:srgbClr val="1F3A8A"/>
            </a:solidFill>
            <a:prstDash val="solid"/>
          </a:ln>
        </p:spPr>
      </p:sp>
      <p:sp>
        <p:nvSpPr>
          <p:cNvPr id="23" name="Text 21"/>
          <p:cNvSpPr txBox="1"/>
          <p:nvPr/>
        </p:nvSpPr>
        <p:spPr>
          <a:xfrm>
            <a:off x="4800600" y="3840480"/>
            <a:ext cx="3749040" cy="731520"/>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Prochaine preuve à dater : la promotion d'ELSON vers la production, à l'étiquette v1.0.0, par la procédure déjà répétée en recette.</a:t>
            </a:r>
            <a:endParaRPr lang="en-US" sz="1050" dirty="0"/>
          </a:p>
        </p:txBody>
      </p:sp>
      <p:sp>
        <p:nvSpPr>
          <p:cNvPr id="24" name="Text 22"/>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25" name="Text 23"/>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4295F"/>
        </a:solidFill>
      </p:bgPr>
    </p:bg>
    <p:spTree>
      <p:nvGrpSpPr>
        <p:cNvPr id="1" name=""/>
        <p:cNvGrpSpPr/>
        <p:nvPr/>
      </p:nvGrpSpPr>
      <p:grpSpPr>
        <a:xfrm>
          <a:off x="0" y="0"/>
          <a:ext cx="0" cy="0"/>
          <a:chOff x="0" y="0"/>
          <a:chExt cx="0" cy="0"/>
        </a:xfrm>
      </p:grpSpPr>
      <p:sp>
        <p:nvSpPr>
          <p:cNvPr id="2" name="Text 0"/>
          <p:cNvSpPr txBox="1"/>
          <p:nvPr/>
        </p:nvSpPr>
        <p:spPr>
          <a:xfrm>
            <a:off x="457200" y="1463040"/>
            <a:ext cx="8229600"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Merci de votre attention</a:t>
            </a:r>
            <a:endParaRPr lang="en-US" sz="3400" dirty="0"/>
          </a:p>
        </p:txBody>
      </p:sp>
      <p:sp>
        <p:nvSpPr>
          <p:cNvPr id="3" name="Text 1"/>
          <p:cNvSpPr txBox="1"/>
          <p:nvPr/>
        </p:nvSpPr>
        <p:spPr>
          <a:xfrm>
            <a:off x="457200" y="2240280"/>
            <a:ext cx="8229600" cy="457200"/>
          </a:xfrm>
          <a:prstGeom prst="rect">
            <a:avLst/>
          </a:prstGeom>
          <a:noFill/>
          <a:ln/>
        </p:spPr>
        <p:txBody>
          <a:bodyPr wrap="square" lIns="0" tIns="0" rIns="0" bIns="0" rtlCol="0" anchor="ctr"/>
          <a:lstStyle/>
          <a:p>
            <a:pPr indent="0" marL="0">
              <a:buNone/>
            </a:pPr>
            <a:r>
              <a:rPr lang="en-US" sz="1600" i="1" dirty="0">
                <a:solidFill>
                  <a:srgbClr val="DCE6F7"/>
                </a:solidFill>
                <a:latin typeface="Calibri" pitchFamily="34" charset="0"/>
                <a:ea typeface="Calibri" pitchFamily="34" charset="-122"/>
                <a:cs typeface="Calibri" pitchFamily="34" charset="-120"/>
              </a:rPr>
              <a:t>Vos questions sont les bienvenues.</a:t>
            </a:r>
            <a:endParaRPr lang="en-US" sz="1600" dirty="0"/>
          </a:p>
        </p:txBody>
      </p:sp>
      <p:sp>
        <p:nvSpPr>
          <p:cNvPr id="4" name="Shape 2"/>
          <p:cNvSpPr/>
          <p:nvPr/>
        </p:nvSpPr>
        <p:spPr>
          <a:xfrm>
            <a:off x="457200" y="2926080"/>
            <a:ext cx="2011680" cy="0"/>
          </a:xfrm>
          <a:prstGeom prst="line">
            <a:avLst/>
          </a:prstGeom>
          <a:noFill/>
          <a:ln w="12700">
            <a:solidFill>
              <a:srgbClr val="3D5BB5"/>
            </a:solidFill>
            <a:prstDash val="solid"/>
          </a:ln>
        </p:spPr>
      </p:sp>
      <p:sp>
        <p:nvSpPr>
          <p:cNvPr id="5" name="Text 3"/>
          <p:cNvSpPr txBox="1"/>
          <p:nvPr/>
        </p:nvSpPr>
        <p:spPr>
          <a:xfrm>
            <a:off x="457200" y="3063240"/>
            <a:ext cx="8229600" cy="1097280"/>
          </a:xfrm>
          <a:prstGeom prst="rect">
            <a:avLst/>
          </a:prstGeom>
          <a:noFill/>
          <a:ln/>
        </p:spPr>
        <p:txBody>
          <a:bodyPr wrap="square" lIns="0" tIns="0" rIns="0" bIns="0" rtlCol="0" anchor="t"/>
          <a:lstStyle/>
          <a:p>
            <a:pPr indent="0" marL="0">
              <a:spcAft>
                <a:spcPts val="400"/>
              </a:spcAft>
              <a:buNone/>
            </a:pPr>
            <a:r>
              <a:rPr lang="en-US" sz="1150" dirty="0">
                <a:solidFill>
                  <a:srgbClr val="FFFFFF"/>
                </a:solidFill>
                <a:latin typeface="Calibri" pitchFamily="34" charset="0"/>
                <a:ea typeface="Calibri" pitchFamily="34" charset="-122"/>
                <a:cs typeface="Calibri" pitchFamily="34" charset="-120"/>
              </a:rPr>
              <a:t>Dépôt : github.com/Mansour37/menal-zero-trust</a:t>
            </a:r>
            <a:endParaRPr lang="en-US" sz="1150" dirty="0"/>
          </a:p>
          <a:p>
            <a:pPr indent="0" marL="0">
              <a:spcAft>
                <a:spcPts val="400"/>
              </a:spcAft>
              <a:buNone/>
            </a:pPr>
            <a:r>
              <a:rPr lang="en-US" sz="1150" dirty="0">
                <a:solidFill>
                  <a:srgbClr val="FFFFFF"/>
                </a:solidFill>
                <a:latin typeface="Calibri" pitchFamily="34" charset="0"/>
                <a:ea typeface="Calibri" pitchFamily="34" charset="-122"/>
                <a:cs typeface="Calibri" pitchFamily="34" charset="-120"/>
              </a:rPr>
              <a:t>Mémoire : Conception et réalisation d'une architecture cloud sécurisée Zero Trust et DevSecOps — ESPRIT, 2026</a:t>
            </a:r>
            <a:endParaRPr lang="en-US" sz="1150" dirty="0"/>
          </a:p>
        </p:txBody>
      </p:sp>
      <p:sp>
        <p:nvSpPr>
          <p:cNvPr id="6" name="Text 4"/>
          <p:cNvSpPr txBox="1"/>
          <p:nvPr/>
        </p:nvSpPr>
        <p:spPr>
          <a:xfrm>
            <a:off x="457200" y="4773168"/>
            <a:ext cx="6858000" cy="256032"/>
          </a:xfrm>
          <a:prstGeom prst="rect">
            <a:avLst/>
          </a:prstGeom>
          <a:noFill/>
          <a:ln/>
        </p:spPr>
        <p:txBody>
          <a:bodyPr wrap="square" lIns="0" tIns="0" rIns="0" bIns="0" rtlCol="0" anchor="ctr"/>
          <a:lstStyle/>
          <a:p>
            <a:pPr indent="0" marL="0">
              <a:buNone/>
            </a:pPr>
            <a:r>
              <a:rPr lang="en-US" sz="900" dirty="0">
                <a:solidFill>
                  <a:srgbClr val="AFC1E8"/>
                </a:solidFill>
                <a:latin typeface="Calibri" pitchFamily="34" charset="0"/>
                <a:ea typeface="Calibri" pitchFamily="34" charset="-122"/>
                <a:cs typeface="Calibri" pitchFamily="34" charset="-120"/>
              </a:rPr>
              <a:t>Soutenance PFE · ESPRIT 2025-2026 · Habiboullah Mansour · MENAL-SARL</a:t>
            </a:r>
            <a:endParaRPr lang="en-US" sz="900" dirty="0"/>
          </a:p>
        </p:txBody>
      </p:sp>
      <p:sp>
        <p:nvSpPr>
          <p:cNvPr id="7" name="Text 5"/>
          <p:cNvSpPr txBox="1"/>
          <p:nvPr/>
        </p:nvSpPr>
        <p:spPr>
          <a:xfrm>
            <a:off x="8229600" y="4773168"/>
            <a:ext cx="457200" cy="256032"/>
          </a:xfrm>
          <a:prstGeom prst="rect">
            <a:avLst/>
          </a:prstGeom>
          <a:noFill/>
          <a:ln/>
        </p:spPr>
        <p:txBody>
          <a:bodyPr wrap="square" lIns="0" tIns="0" rIns="0" bIns="0" rtlCol="0" anchor="ctr"/>
          <a:lstStyle/>
          <a:p>
            <a:pPr algn="r" indent="0" marL="0">
              <a:buNone/>
            </a:pPr>
            <a:r>
              <a:rPr lang="en-US" sz="900" dirty="0">
                <a:solidFill>
                  <a:srgbClr val="AFC1E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PFE — Architecture cloud sécurisée Zero Trust et DevSecOps (socle MENAL)</dc:title>
  <dc:subject>PptxGenJS Presentation</dc:subject>
  <dc:creator>Habiboullah Mansour</dc:creator>
  <cp:lastModifiedBy>Habiboullah Mansour</cp:lastModifiedBy>
  <cp:revision>1</cp:revision>
  <dcterms:created xsi:type="dcterms:W3CDTF">2026-09-09T03:00:48Z</dcterms:created>
  <dcterms:modified xsi:type="dcterms:W3CDTF">2026-09-09T03:00:48Z</dcterms:modified>
</cp:coreProperties>
</file>